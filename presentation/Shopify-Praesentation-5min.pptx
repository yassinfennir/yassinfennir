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Euro</c:v>
                </c:pt>
              </c:strCache>
            </c:strRef>
          </c:tx>
          <c:spPr>
            <a:solidFill>
              <a:srgbClr val="8A93A5"/>
            </a:solidFill>
            <a:effectLst/>
          </c:spPr>
          <c:invertIfNegative val="0"/>
          <c:dLbls>
            <c:numFmt formatCode="#,##0&quot; €&quot;"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8A93A5"/>
              </a:solidFill>
              <a:effectLst/>
            </c:spPr>
          </c:dPt>
          <c:dPt>
            <c:idx val="1"/>
            <c:invertIfNegative val="0"/>
            <c:bubble3D val="0"/>
            <c:spPr>
              <a:solidFill>
                <a:srgbClr val="D96A62"/>
              </a:solidFill>
              <a:effectLst/>
            </c:spPr>
          </c:dPt>
          <c:dPt>
            <c:idx val="2"/>
            <c:invertIfNegative val="0"/>
            <c:bubble3D val="0"/>
            <c:spPr>
              <a:solidFill>
                <a:srgbClr val="95BF47"/>
              </a:solidFill>
              <a:effectLst/>
            </c:spPr>
          </c:dPt>
          <c:cat>
            <c:multiLvlStrRef>
              <c:f>Sheet1!$A$2:$A$4</c:f>
              <c:multiLvlStrCache>
                <c:ptCount val="3"/>
                <c:lvl>
                  <c:pt idx="0">
                    <c:v>Umsatz</c:v>
                  </c:pt>
                  <c:pt idx="1">
                    <c:v>Kosten</c:v>
                  </c:pt>
                  <c:pt idx="2">
                    <c:v>Gewinn</c:v>
                  </c:pt>
                </c:lvl>
              </c:multiLvlStrCache>
            </c:multiLvlStrRef>
          </c:cat>
          <c:val>
            <c:numRef>
              <c:f>Sheet1!$B$2:$B$4</c:f>
              <c:numCache>
                <c:formatCode>General</c:formatCode>
                <c:ptCount val="3"/>
                <c:pt idx="0">
                  <c:v>1900</c:v>
                </c:pt>
                <c:pt idx="1">
                  <c:v>121</c:v>
                </c:pt>
                <c:pt idx="2">
                  <c:v>1779</c:v>
                </c:pt>
              </c:numCache>
            </c:numRef>
          </c:val>
        </c:ser>
        <c:dLbls>
          <c:numFmt formatCode="#,##0&quot; €&quot;"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7CBD4"/>
                </a:solidFill>
                <a:latin typeface="Arial"/>
              </a:defRPr>
            </a:pPr>
            <a:endParaRPr lang="en-US"/>
          </a:p>
        </c:txPr>
        <c:crossAx val="2094734552"/>
        <c:crosses val="autoZero"/>
        <c:auto val="1"/>
        <c:lblAlgn val="ctr"/>
        <c:noMultiLvlLbl val="1"/>
      </c:catAx>
      <c:valAx>
        <c:axId val="2094734552"/>
        <c:scaling>
          <c:orientation val="minMax"/>
          <c:max val="2000"/>
          <c:min val="0"/>
        </c:scaling>
        <c:delete val="0"/>
        <c:axPos val="l"/>
        <c:majorGridlines>
          <c:spPr>
            <a:ln w="6350" cap="flat">
              <a:solidFill>
                <a:srgbClr val="26293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5F6B"/>
                </a:solidFill>
                <a:latin typeface="Arial"/>
              </a:defRPr>
            </a:pPr>
            <a:endParaRPr lang="en-US"/>
          </a:p>
        </c:txPr>
        <c:crossAx val="2094734554"/>
        <c:crosses val="autoZero"/>
        <c:crossBetween val="between"/>
      </c:valAx>
      <c:spPr>
        <a:solidFill>
          <a:srgbClr val="0D0E12"/>
        </a:solidFill>
        <a:ln>
          <a:noFill/>
        </a:ln>
        <a:effectLst/>
      </c:spPr>
    </c:plotArea>
    <c:plotVisOnly val="1"/>
    <c:dispBlanksAs val="span"/>
  </c:chart>
  <c:spPr>
    <a:solidFill>
      <a:srgbClr val="0D0E12"/>
    </a:solidFill>
    <a:ln w="12700" cap="flat">
      <a:solidFill>
        <a:srgbClr val="0D0E12"/>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YASSIN (0:00–1:00): Guten Tag zusammen! Unser Thema: Shopify – wie man einen Online-Shop baut und mit digitalen Produkten Geld verdient. E-Commerce heisst einfach: Kaufen und Verkaufen über das Internet. Der Vorteil: Dein Shop hat 24/7 geöffnet, erreicht Kunden in über 175 Ländern – und du brauchst kein Ladenlokal und keine Miete. Ein Laptop reicht. Und genau dafür gibt es Shopify – Rayan!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RAYAN (1:00–1:30): Shopify ist ein Baukasten für Online-Shops – ohne Programmieren. Über 3 Millionen Shops laufen darauf, die Händler machten 378 Milliarden Dollar Umsatz in 2025. Marken wie Gymshark und Kylie Cosmetics nutzen 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RAYAN (1:30–2:00): Ein Shop entsteht in 5 Schritten: Konto erstellen, Design wählen, Produkte anlegen, Zahlungen aktivieren, live gehen. Ein Nachmittag reicht – rechts seht ihr, wie die fertige Produktseite aussieht. Was kostet das? Hovadik!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HOVADIK (2:00–3:00): Der Basic-Plan kostet 36 Euro im Monat – das reicht für den Start. Dazu kommen Zahlungsgebühren: 2,9 Prozent plus 30 Cent pro Verkauf – bei 100 Euro also etwa 3 Euro. Spar-Tipps: Jahresabo bis 25 Prozent günstiger, und man kann gratis testen, bevor man zahlt. Für unter 40 Euro bekommt man, wofür man früher ein ganzes Ladenlokal brauchte. Und jetzt: Geld verdienen – Kim!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KIM (3:00–3:30): Das Schlauste sind digitale Produkte: E-Books, Kurse, Vorlagen – ein 157-Milliarden-Dollar-Markt. Kein Lager, kein Versand, fast 100 Prozent Marge: einmal erstellen, unendlich verkaufen. Auf Shopify: gratis App 'Digital Downloads', Datei hochladen, fertig – der Kunde bekommt den Link automatisch per E-Mail.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KIM (3:30–4:00): Rechenbeispiel: E-Book für 19 Euro mal 100 Verkäufe = 1'900 Euro Umsatz. Nach Kosten bleiben rund 1'779 Euro Gewinn pro Monat – mit einem einzigen Produkt. Zu schön um wahr zu sein? Bruno!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BRUNO (4:00–4:45): Ehrlich gesagt: Es gibt auch Nachteile – die Fixkosten laufen jeden Monat, bei jedem Verkauf gehen Gebühren weg, und ohne Marketing auf TikTok oder Instagram kommt niemand in den Shop. Shopify ist ein Werkzeug, kein Geldautomat. Unser Fazit: Erstens – einen Shop starten kann heute jede:r von uns. Zweitens – digitale Produkte sind der Einstieg mit dem kleinsten Risiko. Drittens – der Shop ist der einfache Teil, das Marketing entscheidet.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BRUNO (4:45–5:00): Man braucht kein Ladenlokal mehr – nur eine gute Idee und ein Handy. Danke – habt ihr Fragen?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E12"/>
        </a:solidFill>
      </p:bgPr>
    </p:bg>
    <p:spTree>
      <p:nvGrpSpPr>
        <p:cNvPr id="1" name=""/>
        <p:cNvGrpSpPr/>
        <p:nvPr/>
      </p:nvGrpSpPr>
      <p:grpSpPr>
        <a:xfrm>
          <a:off x="0" y="0"/>
          <a:ext cx="0" cy="0"/>
          <a:chOff x="0" y="0"/>
          <a:chExt cx="0" cy="0"/>
        </a:xfrm>
      </p:grpSpPr>
      <p:sp>
        <p:nvSpPr>
          <p:cNvPr id="2" name="Text 0"/>
          <p:cNvSpPr/>
          <p:nvPr/>
        </p:nvSpPr>
        <p:spPr>
          <a:xfrm>
            <a:off x="5705856" y="960120"/>
            <a:ext cx="777240" cy="777240"/>
          </a:xfrm>
          <a:prstGeom prst="roundRect">
            <a:avLst>
              <a:gd name="adj" fmla="val 18824"/>
            </a:avLst>
          </a:prstGeom>
          <a:solidFill>
            <a:srgbClr val="95BF47"/>
          </a:solidFill>
          <a:ln/>
        </p:spPr>
        <p:txBody>
          <a:bodyPr wrap="square" lIns="0" tIns="0" rIns="0" bIns="0" rtlCol="0" anchor="ctr"/>
          <a:lstStyle/>
          <a:p>
            <a:pPr algn="ctr" indent="0" marL="0">
              <a:buNone/>
            </a:pPr>
            <a:r>
              <a:rPr lang="en-US" sz="3800" b="1" dirty="0">
                <a:solidFill>
                  <a:srgbClr val="0D0E12"/>
                </a:solidFill>
                <a:latin typeface="Arial" pitchFamily="34" charset="0"/>
                <a:ea typeface="Arial" pitchFamily="34" charset="-122"/>
                <a:cs typeface="Arial" pitchFamily="34" charset="-120"/>
              </a:rPr>
              <a:t>S</a:t>
            </a:r>
            <a:endParaRPr lang="en-US" sz="3800" dirty="0"/>
          </a:p>
        </p:txBody>
      </p:sp>
      <p:sp>
        <p:nvSpPr>
          <p:cNvPr id="3" name="Text 1"/>
          <p:cNvSpPr/>
          <p:nvPr/>
        </p:nvSpPr>
        <p:spPr>
          <a:xfrm>
            <a:off x="1984248" y="2011680"/>
            <a:ext cx="8229600" cy="320040"/>
          </a:xfrm>
          <a:prstGeom prst="rect">
            <a:avLst/>
          </a:prstGeom>
          <a:noFill/>
          <a:ln/>
        </p:spPr>
        <p:txBody>
          <a:bodyPr wrap="square" lIns="0" tIns="0" rIns="0" bIns="0" rtlCol="0" anchor="ctr"/>
          <a:lstStyle/>
          <a:p>
            <a:pPr algn="ctr" indent="0" marL="0">
              <a:buNone/>
            </a:pPr>
            <a:r>
              <a:rPr lang="en-US" sz="1200" b="1" spc="400" kern="0" dirty="0">
                <a:solidFill>
                  <a:srgbClr val="95BF47"/>
                </a:solidFill>
                <a:latin typeface="Arial" pitchFamily="34" charset="0"/>
                <a:ea typeface="Arial" pitchFamily="34" charset="-122"/>
                <a:cs typeface="Arial" pitchFamily="34" charset="-120"/>
              </a:rPr>
              <a:t>GRUPPENARBEIT · E-COMMERCE · 2026</a:t>
            </a:r>
            <a:endParaRPr lang="en-US" sz="1200" dirty="0"/>
          </a:p>
        </p:txBody>
      </p:sp>
      <p:sp>
        <p:nvSpPr>
          <p:cNvPr id="4" name="Text 2"/>
          <p:cNvSpPr/>
          <p:nvPr/>
        </p:nvSpPr>
        <p:spPr>
          <a:xfrm>
            <a:off x="1069848" y="2377440"/>
            <a:ext cx="10058400" cy="1417320"/>
          </a:xfrm>
          <a:prstGeom prst="rect">
            <a:avLst/>
          </a:prstGeom>
          <a:noFill/>
          <a:ln/>
        </p:spPr>
        <p:txBody>
          <a:bodyPr wrap="square" lIns="0" tIns="0" rIns="0" bIns="0" rtlCol="0" anchor="ctr"/>
          <a:lstStyle/>
          <a:p>
            <a:pPr algn="ctr" indent="0" marL="0">
              <a:buNone/>
            </a:pPr>
            <a:r>
              <a:rPr lang="en-US" sz="8800" b="1" dirty="0">
                <a:solidFill>
                  <a:srgbClr val="FFFFFF"/>
                </a:solidFill>
                <a:latin typeface="Arial" pitchFamily="34" charset="0"/>
                <a:ea typeface="Arial" pitchFamily="34" charset="-122"/>
                <a:cs typeface="Arial" pitchFamily="34" charset="-120"/>
              </a:rPr>
              <a:t>Shopify</a:t>
            </a:r>
            <a:endParaRPr lang="en-US" sz="8800" dirty="0"/>
          </a:p>
        </p:txBody>
      </p:sp>
      <p:sp>
        <p:nvSpPr>
          <p:cNvPr id="5" name="Text 3"/>
          <p:cNvSpPr/>
          <p:nvPr/>
        </p:nvSpPr>
        <p:spPr>
          <a:xfrm>
            <a:off x="2441448" y="3977640"/>
            <a:ext cx="7315200" cy="868680"/>
          </a:xfrm>
          <a:prstGeom prst="rect">
            <a:avLst/>
          </a:prstGeom>
          <a:noFill/>
          <a:ln/>
        </p:spPr>
        <p:txBody>
          <a:bodyPr wrap="square" lIns="0" tIns="0" rIns="0" bIns="0" rtlCol="0" anchor="ctr"/>
          <a:lstStyle/>
          <a:p>
            <a:pPr algn="ctr" indent="0" marL="0">
              <a:lnSpc>
                <a:spcPct val="125000"/>
              </a:lnSpc>
              <a:buNone/>
            </a:pPr>
            <a:r>
              <a:rPr lang="en-US" sz="1700" dirty="0">
                <a:solidFill>
                  <a:srgbClr val="C7CBD4"/>
                </a:solidFill>
                <a:latin typeface="Arial" pitchFamily="34" charset="0"/>
                <a:ea typeface="Arial" pitchFamily="34" charset="-122"/>
                <a:cs typeface="Arial" pitchFamily="34" charset="-120"/>
              </a:rPr>
              <a:t>Wie man einen eigenen Online-Shop aufbaut –</a:t>
            </a:r>
            <a:endParaRPr lang="en-US" sz="1700" dirty="0"/>
          </a:p>
          <a:p>
            <a:pPr algn="ctr" indent="0" marL="0">
              <a:lnSpc>
                <a:spcPct val="125000"/>
              </a:lnSpc>
              <a:buNone/>
            </a:pPr>
            <a:r>
              <a:rPr lang="en-US" sz="1700" dirty="0">
                <a:solidFill>
                  <a:srgbClr val="C7CBD4"/>
                </a:solidFill>
                <a:latin typeface="Arial" pitchFamily="34" charset="0"/>
                <a:ea typeface="Arial" pitchFamily="34" charset="-122"/>
                <a:cs typeface="Arial" pitchFamily="34" charset="-120"/>
              </a:rPr>
              <a:t>und mit digitalen Produkten Geld verdient.</a:t>
            </a:r>
            <a:endParaRPr lang="en-US" sz="1700" dirty="0"/>
          </a:p>
        </p:txBody>
      </p:sp>
      <p:sp>
        <p:nvSpPr>
          <p:cNvPr id="6" name="Text 4"/>
          <p:cNvSpPr/>
          <p:nvPr/>
        </p:nvSpPr>
        <p:spPr>
          <a:xfrm>
            <a:off x="1984248" y="5623560"/>
            <a:ext cx="8229600" cy="320040"/>
          </a:xfrm>
          <a:prstGeom prst="rect">
            <a:avLst/>
          </a:prstGeom>
          <a:noFill/>
          <a:ln/>
        </p:spPr>
        <p:txBody>
          <a:bodyPr wrap="square" lIns="0" tIns="0" rIns="0" bIns="0" rtlCol="0" anchor="ctr"/>
          <a:lstStyle/>
          <a:p>
            <a:pPr algn="ctr" indent="0" marL="0">
              <a:buNone/>
            </a:pPr>
            <a:r>
              <a:rPr lang="en-US" sz="1200" dirty="0">
                <a:solidFill>
                  <a:srgbClr val="9AA0AC"/>
                </a:solidFill>
                <a:latin typeface="Arial" pitchFamily="34" charset="0"/>
                <a:ea typeface="Arial" pitchFamily="34" charset="-122"/>
                <a:cs typeface="Arial" pitchFamily="34" charset="-120"/>
              </a:rPr>
              <a:t>Yassin  ·  Rayan  ·  Hovadik  ·  Kim  ·  Bruno</a:t>
            </a:r>
            <a:endParaRPr lang="en-US" sz="1200" dirty="0"/>
          </a:p>
        </p:txBody>
      </p:sp>
      <p:sp>
        <p:nvSpPr>
          <p:cNvPr id="7" name="Text 5"/>
          <p:cNvSpPr/>
          <p:nvPr/>
        </p:nvSpPr>
        <p:spPr>
          <a:xfrm>
            <a:off x="1984248" y="5989320"/>
            <a:ext cx="8229600" cy="274320"/>
          </a:xfrm>
          <a:prstGeom prst="rect">
            <a:avLst/>
          </a:prstGeom>
          <a:noFill/>
          <a:ln/>
        </p:spPr>
        <p:txBody>
          <a:bodyPr wrap="square" lIns="0" tIns="0" rIns="0" bIns="0" rtlCol="0" anchor="ctr"/>
          <a:lstStyle/>
          <a:p>
            <a:pPr algn="ctr" indent="0" marL="0">
              <a:buNone/>
            </a:pPr>
            <a:r>
              <a:rPr lang="en-US" sz="1050" dirty="0">
                <a:solidFill>
                  <a:srgbClr val="5A5F6B"/>
                </a:solidFill>
                <a:latin typeface="Arial" pitchFamily="34" charset="0"/>
                <a:ea typeface="Arial" pitchFamily="34" charset="-122"/>
                <a:cs typeface="Arial" pitchFamily="34" charset="-120"/>
              </a:rPr>
              <a:t>Berufsschule · 5 Minuten · Kurzversion</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2" fill="hold">
                      <p:stCondLst>
                        <p:cond delay="indefinite"/>
                        <p:cond evt="onBegin" delay="0">
                          <p:tn val="2"/>
                        </p:cond>
                      </p:stCondLst>
                      <p:childTnLst>
                        <p:par>
                          <p:cTn id="21"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00"/>
                                        <p:tgtEl>
                                          <p:spTgt spid="2"/>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00"/>
                                        <p:tgtEl>
                                          <p:spTgt spid="3"/>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00"/>
                                        <p:tgtEl>
                                          <p:spTgt spid="4"/>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00"/>
                                        <p:tgtEl>
                                          <p:spTgt spid="5"/>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00"/>
                                        <p:tgtEl>
                                          <p:spTgt spid="6"/>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E12"/>
        </a:solidFill>
      </p:bgPr>
    </p:bg>
    <p:spTree>
      <p:nvGrpSpPr>
        <p:cNvPr id="1" name=""/>
        <p:cNvGrpSpPr/>
        <p:nvPr/>
      </p:nvGrpSpPr>
      <p:grpSpPr>
        <a:xfrm>
          <a:off x="0" y="0"/>
          <a:ext cx="0" cy="0"/>
          <a:chOff x="0" y="0"/>
          <a:chExt cx="0" cy="0"/>
        </a:xfrm>
      </p:grpSpPr>
      <p:sp>
        <p:nvSpPr>
          <p:cNvPr id="2" name="chrome-logo"/>
          <p:cNvSpPr/>
          <p:nvPr/>
        </p:nvSpPr>
        <p:spPr>
          <a:xfrm>
            <a:off x="502920" y="329184"/>
            <a:ext cx="274320" cy="274320"/>
          </a:xfrm>
          <a:prstGeom prst="roundRect">
            <a:avLst>
              <a:gd name="adj" fmla="val 16667"/>
            </a:avLst>
          </a:prstGeom>
          <a:solidFill>
            <a:srgbClr val="95BF47"/>
          </a:solidFill>
          <a:ln/>
        </p:spPr>
        <p:txBody>
          <a:bodyPr wrap="square" lIns="0" tIns="0" rIns="0" bIns="0" rtlCol="0" anchor="ctr"/>
          <a:lstStyle/>
          <a:p>
            <a:pPr algn="ctr" indent="0" marL="0">
              <a:buNone/>
            </a:pPr>
            <a:r>
              <a:rPr lang="en-US" sz="1300" b="1" dirty="0">
                <a:solidFill>
                  <a:srgbClr val="0D0E12"/>
                </a:solidFill>
                <a:latin typeface="Arial" pitchFamily="34" charset="0"/>
                <a:ea typeface="Arial" pitchFamily="34" charset="-122"/>
                <a:cs typeface="Arial" pitchFamily="34" charset="-120"/>
              </a:rPr>
              <a:t>S</a:t>
            </a:r>
            <a:endParaRPr lang="en-US" sz="1300" dirty="0"/>
          </a:p>
        </p:txBody>
      </p:sp>
      <p:sp>
        <p:nvSpPr>
          <p:cNvPr id="3" name="chrome-kicker"/>
          <p:cNvSpPr/>
          <p:nvPr/>
        </p:nvSpPr>
        <p:spPr>
          <a:xfrm>
            <a:off x="914400" y="329184"/>
            <a:ext cx="8229600" cy="274320"/>
          </a:xfrm>
          <a:prstGeom prst="rect">
            <a:avLst/>
          </a:prstGeom>
          <a:noFill/>
          <a:ln/>
        </p:spPr>
        <p:txBody>
          <a:bodyPr wrap="square" lIns="0" tIns="0" rIns="0" bIns="0" rtlCol="0" anchor="ctr"/>
          <a:lstStyle/>
          <a:p>
            <a:pPr indent="0" marL="0">
              <a:buNone/>
            </a:pPr>
            <a:r>
              <a:rPr lang="en-US" sz="1050" b="1" spc="300" kern="0" dirty="0">
                <a:solidFill>
                  <a:srgbClr val="95BF47"/>
                </a:solidFill>
                <a:latin typeface="Arial" pitchFamily="34" charset="0"/>
                <a:ea typeface="Arial" pitchFamily="34" charset="-122"/>
                <a:cs typeface="Arial" pitchFamily="34" charset="-120"/>
              </a:rPr>
              <a:t>TEIL 2 · DIE PLATTFORM</a:t>
            </a:r>
            <a:endParaRPr lang="en-US" sz="1050" dirty="0"/>
          </a:p>
        </p:txBody>
      </p:sp>
      <p:sp>
        <p:nvSpPr>
          <p:cNvPr id="4" name="chrome-footer"/>
          <p:cNvSpPr/>
          <p:nvPr/>
        </p:nvSpPr>
        <p:spPr>
          <a:xfrm>
            <a:off x="502920" y="6492240"/>
            <a:ext cx="4572000" cy="237744"/>
          </a:xfrm>
          <a:prstGeom prst="rect">
            <a:avLst/>
          </a:prstGeom>
          <a:noFill/>
          <a:ln/>
        </p:spPr>
        <p:txBody>
          <a:bodyPr wrap="square" lIns="0" tIns="0" rIns="0" bIns="0" rtlCol="0" anchor="ctr"/>
          <a:lstStyle/>
          <a:p>
            <a:pPr indent="0" marL="0">
              <a:buNone/>
            </a:pPr>
            <a:r>
              <a:rPr lang="en-US" sz="850" dirty="0">
                <a:solidFill>
                  <a:srgbClr val="5A5F6B"/>
                </a:solidFill>
                <a:latin typeface="Arial" pitchFamily="34" charset="0"/>
                <a:ea typeface="Arial" pitchFamily="34" charset="-122"/>
                <a:cs typeface="Arial" pitchFamily="34" charset="-120"/>
              </a:rPr>
              <a:t>Shopify · E-Commerce · Gruppenarbeit</a:t>
            </a:r>
            <a:endParaRPr lang="en-US" sz="850" dirty="0"/>
          </a:p>
        </p:txBody>
      </p:sp>
      <p:sp>
        <p:nvSpPr>
          <p:cNvPr id="5" name="chrome-page"/>
          <p:cNvSpPr/>
          <p:nvPr/>
        </p:nvSpPr>
        <p:spPr>
          <a:xfrm>
            <a:off x="11430000" y="6492240"/>
            <a:ext cx="256032" cy="237744"/>
          </a:xfrm>
          <a:prstGeom prst="rect">
            <a:avLst/>
          </a:prstGeom>
          <a:noFill/>
          <a:ln/>
        </p:spPr>
        <p:txBody>
          <a:bodyPr wrap="square" lIns="0" tIns="0" rIns="0" bIns="0" rtlCol="0" anchor="ctr"/>
          <a:lstStyle/>
          <a:p>
            <a:pPr algn="r" indent="0" marL="0">
              <a:buNone/>
            </a:pPr>
            <a:r>
              <a:rPr lang="en-US" sz="850" dirty="0">
                <a:solidFill>
                  <a:srgbClr val="5A5F6B"/>
                </a:solidFill>
                <a:latin typeface="Arial" pitchFamily="34" charset="0"/>
                <a:ea typeface="Arial" pitchFamily="34" charset="-122"/>
                <a:cs typeface="Arial" pitchFamily="34" charset="-120"/>
              </a:rPr>
              <a:t>2</a:t>
            </a:r>
            <a:endParaRPr lang="en-US" sz="850" dirty="0"/>
          </a:p>
        </p:txBody>
      </p:sp>
      <p:sp>
        <p:nvSpPr>
          <p:cNvPr id="6" name="Text 4"/>
          <p:cNvSpPr/>
          <p:nvPr/>
        </p:nvSpPr>
        <p:spPr>
          <a:xfrm>
            <a:off x="502920" y="713232"/>
            <a:ext cx="11155680" cy="566928"/>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Was ist Shopify?</a:t>
            </a:r>
            <a:endParaRPr lang="en-US" sz="3300" dirty="0"/>
          </a:p>
        </p:txBody>
      </p:sp>
      <p:sp>
        <p:nvSpPr>
          <p:cNvPr id="7" name="Text 5"/>
          <p:cNvSpPr/>
          <p:nvPr/>
        </p:nvSpPr>
        <p:spPr>
          <a:xfrm>
            <a:off x="502920" y="1298448"/>
            <a:ext cx="10515600" cy="320040"/>
          </a:xfrm>
          <a:prstGeom prst="rect">
            <a:avLst/>
          </a:prstGeom>
          <a:noFill/>
          <a:ln/>
        </p:spPr>
        <p:txBody>
          <a:bodyPr wrap="square" lIns="0" tIns="0" rIns="0" bIns="0" rtlCol="0" anchor="ctr"/>
          <a:lstStyle/>
          <a:p>
            <a:pPr indent="0" marL="0">
              <a:buNone/>
            </a:pPr>
            <a:r>
              <a:rPr lang="en-US" sz="1350" dirty="0">
                <a:solidFill>
                  <a:srgbClr val="C7CBD4"/>
                </a:solidFill>
                <a:latin typeface="Arial" pitchFamily="34" charset="0"/>
                <a:ea typeface="Arial" pitchFamily="34" charset="-122"/>
                <a:cs typeface="Arial" pitchFamily="34" charset="-120"/>
              </a:rPr>
              <a:t>Der Baukasten für Online-Shops: Shop, Design, Kasse, Zahlungen und Versand – ohne eine Zeile Code.</a:t>
            </a:r>
            <a:endParaRPr lang="en-US" sz="1350" dirty="0"/>
          </a:p>
        </p:txBody>
      </p:sp>
      <p:sp>
        <p:nvSpPr>
          <p:cNvPr id="8" name="Shape 6"/>
          <p:cNvSpPr/>
          <p:nvPr/>
        </p:nvSpPr>
        <p:spPr>
          <a:xfrm>
            <a:off x="502920" y="1828800"/>
            <a:ext cx="5486400" cy="1691640"/>
          </a:xfrm>
          <a:prstGeom prst="roundRect">
            <a:avLst>
              <a:gd name="adj" fmla="val 4865"/>
            </a:avLst>
          </a:prstGeom>
          <a:solidFill>
            <a:srgbClr val="16181F"/>
          </a:solidFill>
          <a:ln w="9525">
            <a:solidFill>
              <a:srgbClr val="262933"/>
            </a:solidFill>
            <a:prstDash val="solid"/>
          </a:ln>
        </p:spPr>
      </p:sp>
      <p:sp>
        <p:nvSpPr>
          <p:cNvPr id="9" name="Text 7"/>
          <p:cNvSpPr/>
          <p:nvPr/>
        </p:nvSpPr>
        <p:spPr>
          <a:xfrm>
            <a:off x="822960" y="2084832"/>
            <a:ext cx="4846320" cy="685800"/>
          </a:xfrm>
          <a:prstGeom prst="rect">
            <a:avLst/>
          </a:prstGeom>
          <a:noFill/>
          <a:ln/>
        </p:spPr>
        <p:txBody>
          <a:bodyPr wrap="square" lIns="0" tIns="0" rIns="0" bIns="0" rtlCol="0" anchor="ctr"/>
          <a:lstStyle/>
          <a:p>
            <a:pPr indent="0" marL="0">
              <a:buNone/>
            </a:pPr>
            <a:r>
              <a:rPr lang="en-US" sz="3600" b="1" dirty="0">
                <a:solidFill>
                  <a:srgbClr val="95BF47"/>
                </a:solidFill>
                <a:latin typeface="Arial" pitchFamily="34" charset="0"/>
                <a:ea typeface="Arial" pitchFamily="34" charset="-122"/>
                <a:cs typeface="Arial" pitchFamily="34" charset="-120"/>
              </a:rPr>
              <a:t>3 Mio.+</a:t>
            </a:r>
            <a:endParaRPr lang="en-US" sz="3600" dirty="0"/>
          </a:p>
        </p:txBody>
      </p:sp>
      <p:sp>
        <p:nvSpPr>
          <p:cNvPr id="10" name="Text 8"/>
          <p:cNvSpPr/>
          <p:nvPr/>
        </p:nvSpPr>
        <p:spPr>
          <a:xfrm>
            <a:off x="822960" y="2834640"/>
            <a:ext cx="4846320" cy="548640"/>
          </a:xfrm>
          <a:prstGeom prst="rect">
            <a:avLst/>
          </a:prstGeom>
          <a:noFill/>
          <a:ln/>
        </p:spPr>
        <p:txBody>
          <a:bodyPr wrap="square" lIns="0" tIns="0" rIns="0" bIns="0" rtlCol="0" anchor="ctr"/>
          <a:lstStyle/>
          <a:p>
            <a:pPr indent="0" marL="0">
              <a:buNone/>
            </a:pPr>
            <a:r>
              <a:rPr lang="en-US" sz="1200" dirty="0">
                <a:solidFill>
                  <a:srgbClr val="9AA0AC"/>
                </a:solidFill>
                <a:latin typeface="Arial" pitchFamily="34" charset="0"/>
                <a:ea typeface="Arial" pitchFamily="34" charset="-122"/>
                <a:cs typeface="Arial" pitchFamily="34" charset="-120"/>
              </a:rPr>
              <a:t>aktive Shops weltweit laufen auf Shopify</a:t>
            </a:r>
            <a:endParaRPr lang="en-US" sz="1200" dirty="0"/>
          </a:p>
        </p:txBody>
      </p:sp>
      <p:sp>
        <p:nvSpPr>
          <p:cNvPr id="11" name="Shape 9"/>
          <p:cNvSpPr/>
          <p:nvPr/>
        </p:nvSpPr>
        <p:spPr>
          <a:xfrm>
            <a:off x="6190488" y="1828800"/>
            <a:ext cx="5486400" cy="1691640"/>
          </a:xfrm>
          <a:prstGeom prst="roundRect">
            <a:avLst>
              <a:gd name="adj" fmla="val 4865"/>
            </a:avLst>
          </a:prstGeom>
          <a:solidFill>
            <a:srgbClr val="16181F"/>
          </a:solidFill>
          <a:ln w="9525">
            <a:solidFill>
              <a:srgbClr val="262933"/>
            </a:solidFill>
            <a:prstDash val="solid"/>
          </a:ln>
        </p:spPr>
      </p:sp>
      <p:sp>
        <p:nvSpPr>
          <p:cNvPr id="12" name="Text 10"/>
          <p:cNvSpPr/>
          <p:nvPr/>
        </p:nvSpPr>
        <p:spPr>
          <a:xfrm>
            <a:off x="6510528" y="2084832"/>
            <a:ext cx="4846320" cy="685800"/>
          </a:xfrm>
          <a:prstGeom prst="rect">
            <a:avLst/>
          </a:prstGeom>
          <a:noFill/>
          <a:ln/>
        </p:spPr>
        <p:txBody>
          <a:bodyPr wrap="square" lIns="0" tIns="0" rIns="0" bIns="0" rtlCol="0" anchor="ctr"/>
          <a:lstStyle/>
          <a:p>
            <a:pPr indent="0" marL="0">
              <a:buNone/>
            </a:pPr>
            <a:r>
              <a:rPr lang="en-US" sz="3600" b="1" dirty="0">
                <a:solidFill>
                  <a:srgbClr val="95BF47"/>
                </a:solidFill>
                <a:latin typeface="Arial" pitchFamily="34" charset="0"/>
                <a:ea typeface="Arial" pitchFamily="34" charset="-122"/>
                <a:cs typeface="Arial" pitchFamily="34" charset="-120"/>
              </a:rPr>
              <a:t>175+</a:t>
            </a:r>
            <a:endParaRPr lang="en-US" sz="3600" dirty="0"/>
          </a:p>
        </p:txBody>
      </p:sp>
      <p:sp>
        <p:nvSpPr>
          <p:cNvPr id="13" name="Text 11"/>
          <p:cNvSpPr/>
          <p:nvPr/>
        </p:nvSpPr>
        <p:spPr>
          <a:xfrm>
            <a:off x="6510528" y="2834640"/>
            <a:ext cx="4846320" cy="548640"/>
          </a:xfrm>
          <a:prstGeom prst="rect">
            <a:avLst/>
          </a:prstGeom>
          <a:noFill/>
          <a:ln/>
        </p:spPr>
        <p:txBody>
          <a:bodyPr wrap="square" lIns="0" tIns="0" rIns="0" bIns="0" rtlCol="0" anchor="ctr"/>
          <a:lstStyle/>
          <a:p>
            <a:pPr indent="0" marL="0">
              <a:buNone/>
            </a:pPr>
            <a:r>
              <a:rPr lang="en-US" sz="1200" dirty="0">
                <a:solidFill>
                  <a:srgbClr val="9AA0AC"/>
                </a:solidFill>
                <a:latin typeface="Arial" pitchFamily="34" charset="0"/>
                <a:ea typeface="Arial" pitchFamily="34" charset="-122"/>
                <a:cs typeface="Arial" pitchFamily="34" charset="-120"/>
              </a:rPr>
              <a:t>Länder – vom Kleinstshop bis zur Weltmarke</a:t>
            </a:r>
            <a:endParaRPr lang="en-US" sz="1200" dirty="0"/>
          </a:p>
        </p:txBody>
      </p:sp>
      <p:sp>
        <p:nvSpPr>
          <p:cNvPr id="14" name="Shape 12"/>
          <p:cNvSpPr/>
          <p:nvPr/>
        </p:nvSpPr>
        <p:spPr>
          <a:xfrm>
            <a:off x="502920" y="3721608"/>
            <a:ext cx="5486400" cy="1691640"/>
          </a:xfrm>
          <a:prstGeom prst="roundRect">
            <a:avLst>
              <a:gd name="adj" fmla="val 4865"/>
            </a:avLst>
          </a:prstGeom>
          <a:solidFill>
            <a:srgbClr val="16181F"/>
          </a:solidFill>
          <a:ln w="9525">
            <a:solidFill>
              <a:srgbClr val="262933"/>
            </a:solidFill>
            <a:prstDash val="solid"/>
          </a:ln>
        </p:spPr>
      </p:sp>
      <p:sp>
        <p:nvSpPr>
          <p:cNvPr id="15" name="Text 13"/>
          <p:cNvSpPr/>
          <p:nvPr/>
        </p:nvSpPr>
        <p:spPr>
          <a:xfrm>
            <a:off x="822960" y="3977640"/>
            <a:ext cx="4846320" cy="685800"/>
          </a:xfrm>
          <a:prstGeom prst="rect">
            <a:avLst/>
          </a:prstGeom>
          <a:noFill/>
          <a:ln/>
        </p:spPr>
        <p:txBody>
          <a:bodyPr wrap="square" lIns="0" tIns="0" rIns="0" bIns="0" rtlCol="0" anchor="ctr"/>
          <a:lstStyle/>
          <a:p>
            <a:pPr indent="0" marL="0">
              <a:buNone/>
            </a:pPr>
            <a:r>
              <a:rPr lang="en-US" sz="3600" b="1" dirty="0">
                <a:solidFill>
                  <a:srgbClr val="95BF47"/>
                </a:solidFill>
                <a:latin typeface="Arial" pitchFamily="34" charset="0"/>
                <a:ea typeface="Arial" pitchFamily="34" charset="-122"/>
                <a:cs typeface="Arial" pitchFamily="34" charset="-120"/>
              </a:rPr>
              <a:t>378 Mrd. $</a:t>
            </a:r>
            <a:endParaRPr lang="en-US" sz="3600" dirty="0"/>
          </a:p>
        </p:txBody>
      </p:sp>
      <p:sp>
        <p:nvSpPr>
          <p:cNvPr id="16" name="Text 14"/>
          <p:cNvSpPr/>
          <p:nvPr/>
        </p:nvSpPr>
        <p:spPr>
          <a:xfrm>
            <a:off x="822960" y="4727448"/>
            <a:ext cx="4846320" cy="548640"/>
          </a:xfrm>
          <a:prstGeom prst="rect">
            <a:avLst/>
          </a:prstGeom>
          <a:noFill/>
          <a:ln/>
        </p:spPr>
        <p:txBody>
          <a:bodyPr wrap="square" lIns="0" tIns="0" rIns="0" bIns="0" rtlCol="0" anchor="ctr"/>
          <a:lstStyle/>
          <a:p>
            <a:pPr indent="0" marL="0">
              <a:buNone/>
            </a:pPr>
            <a:r>
              <a:rPr lang="en-US" sz="1200" dirty="0">
                <a:solidFill>
                  <a:srgbClr val="9AA0AC"/>
                </a:solidFill>
                <a:latin typeface="Arial" pitchFamily="34" charset="0"/>
                <a:ea typeface="Arial" pitchFamily="34" charset="-122"/>
                <a:cs typeface="Arial" pitchFamily="34" charset="-120"/>
              </a:rPr>
              <a:t>Umsatz machten die Shopify-Händler im Jahr 2025</a:t>
            </a:r>
            <a:endParaRPr lang="en-US" sz="1200" dirty="0"/>
          </a:p>
        </p:txBody>
      </p:sp>
      <p:sp>
        <p:nvSpPr>
          <p:cNvPr id="17" name="Shape 15"/>
          <p:cNvSpPr/>
          <p:nvPr/>
        </p:nvSpPr>
        <p:spPr>
          <a:xfrm>
            <a:off x="6190488" y="3721608"/>
            <a:ext cx="5486400" cy="1691640"/>
          </a:xfrm>
          <a:prstGeom prst="roundRect">
            <a:avLst>
              <a:gd name="adj" fmla="val 4865"/>
            </a:avLst>
          </a:prstGeom>
          <a:solidFill>
            <a:srgbClr val="16181F"/>
          </a:solidFill>
          <a:ln w="9525">
            <a:solidFill>
              <a:srgbClr val="262933"/>
            </a:solidFill>
            <a:prstDash val="solid"/>
          </a:ln>
        </p:spPr>
      </p:sp>
      <p:sp>
        <p:nvSpPr>
          <p:cNvPr id="18" name="Text 16"/>
          <p:cNvSpPr/>
          <p:nvPr/>
        </p:nvSpPr>
        <p:spPr>
          <a:xfrm>
            <a:off x="6510528" y="3977640"/>
            <a:ext cx="4846320" cy="685800"/>
          </a:xfrm>
          <a:prstGeom prst="rect">
            <a:avLst/>
          </a:prstGeom>
          <a:noFill/>
          <a:ln/>
        </p:spPr>
        <p:txBody>
          <a:bodyPr wrap="square" lIns="0" tIns="0" rIns="0" bIns="0" rtlCol="0" anchor="ctr"/>
          <a:lstStyle/>
          <a:p>
            <a:pPr indent="0" marL="0">
              <a:buNone/>
            </a:pPr>
            <a:r>
              <a:rPr lang="en-US" sz="3600" b="1" dirty="0">
                <a:solidFill>
                  <a:srgbClr val="95BF47"/>
                </a:solidFill>
                <a:latin typeface="Arial" pitchFamily="34" charset="0"/>
                <a:ea typeface="Arial" pitchFamily="34" charset="-122"/>
                <a:cs typeface="Arial" pitchFamily="34" charset="-120"/>
              </a:rPr>
              <a:t>~46 %</a:t>
            </a:r>
            <a:endParaRPr lang="en-US" sz="3600" dirty="0"/>
          </a:p>
        </p:txBody>
      </p:sp>
      <p:sp>
        <p:nvSpPr>
          <p:cNvPr id="19" name="Text 17"/>
          <p:cNvSpPr/>
          <p:nvPr/>
        </p:nvSpPr>
        <p:spPr>
          <a:xfrm>
            <a:off x="6510528" y="4727448"/>
            <a:ext cx="4846320" cy="548640"/>
          </a:xfrm>
          <a:prstGeom prst="rect">
            <a:avLst/>
          </a:prstGeom>
          <a:noFill/>
          <a:ln/>
        </p:spPr>
        <p:txBody>
          <a:bodyPr wrap="square" lIns="0" tIns="0" rIns="0" bIns="0" rtlCol="0" anchor="ctr"/>
          <a:lstStyle/>
          <a:p>
            <a:pPr indent="0" marL="0">
              <a:buNone/>
            </a:pPr>
            <a:r>
              <a:rPr lang="en-US" sz="1200" dirty="0">
                <a:solidFill>
                  <a:srgbClr val="9AA0AC"/>
                </a:solidFill>
                <a:latin typeface="Arial" pitchFamily="34" charset="0"/>
                <a:ea typeface="Arial" pitchFamily="34" charset="-122"/>
                <a:cs typeface="Arial" pitchFamily="34" charset="-120"/>
              </a:rPr>
              <a:t>Marktanteil unter allen Shop-Systemen weltweit</a:t>
            </a:r>
            <a:endParaRPr lang="en-US" sz="1200" dirty="0"/>
          </a:p>
        </p:txBody>
      </p:sp>
      <p:sp>
        <p:nvSpPr>
          <p:cNvPr id="20" name="Text 18"/>
          <p:cNvSpPr/>
          <p:nvPr/>
        </p:nvSpPr>
        <p:spPr>
          <a:xfrm>
            <a:off x="502920" y="5715000"/>
            <a:ext cx="11183112" cy="365760"/>
          </a:xfrm>
          <a:prstGeom prst="rect">
            <a:avLst/>
          </a:prstGeom>
          <a:noFill/>
          <a:ln/>
        </p:spPr>
        <p:txBody>
          <a:bodyPr wrap="square" lIns="0" tIns="0" rIns="0" bIns="0" rtlCol="0" anchor="ctr"/>
          <a:lstStyle/>
          <a:p>
            <a:pPr algn="ctr" indent="0" marL="0">
              <a:buNone/>
            </a:pPr>
            <a:r>
              <a:rPr lang="en-US" sz="1200" i="1" dirty="0">
                <a:solidFill>
                  <a:srgbClr val="9AA0AC"/>
                </a:solidFill>
                <a:latin typeface="Arial" pitchFamily="34" charset="0"/>
                <a:ea typeface="Arial" pitchFamily="34" charset="-122"/>
                <a:cs typeface="Arial" pitchFamily="34" charset="-120"/>
              </a:rPr>
              <a:t>Bekannt aus:  Gymshark  ·  Kylie Cosmetics  ·  Allbirds  ·  Snocks  —  alle laufen auf Shopify.</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9" fill="hold">
                      <p:stCondLst>
                        <p:cond delay="indefinite"/>
                        <p:cond evt="onBegin" delay="0">
                          <p:tn val="2"/>
                        </p:cond>
                      </p:stCondLst>
                      <p:childTnLst>
                        <p:par>
                          <p:cTn id="48"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E12"/>
        </a:solidFill>
      </p:bgPr>
    </p:bg>
    <p:spTree>
      <p:nvGrpSpPr>
        <p:cNvPr id="1" name=""/>
        <p:cNvGrpSpPr/>
        <p:nvPr/>
      </p:nvGrpSpPr>
      <p:grpSpPr>
        <a:xfrm>
          <a:off x="0" y="0"/>
          <a:ext cx="0" cy="0"/>
          <a:chOff x="0" y="0"/>
          <a:chExt cx="0" cy="0"/>
        </a:xfrm>
      </p:grpSpPr>
      <p:sp>
        <p:nvSpPr>
          <p:cNvPr id="2" name="chrome-logo"/>
          <p:cNvSpPr/>
          <p:nvPr/>
        </p:nvSpPr>
        <p:spPr>
          <a:xfrm>
            <a:off x="502920" y="329184"/>
            <a:ext cx="274320" cy="274320"/>
          </a:xfrm>
          <a:prstGeom prst="roundRect">
            <a:avLst>
              <a:gd name="adj" fmla="val 16667"/>
            </a:avLst>
          </a:prstGeom>
          <a:solidFill>
            <a:srgbClr val="95BF47"/>
          </a:solidFill>
          <a:ln/>
        </p:spPr>
        <p:txBody>
          <a:bodyPr wrap="square" lIns="0" tIns="0" rIns="0" bIns="0" rtlCol="0" anchor="ctr"/>
          <a:lstStyle/>
          <a:p>
            <a:pPr algn="ctr" indent="0" marL="0">
              <a:buNone/>
            </a:pPr>
            <a:r>
              <a:rPr lang="en-US" sz="1300" b="1" dirty="0">
                <a:solidFill>
                  <a:srgbClr val="0D0E12"/>
                </a:solidFill>
                <a:latin typeface="Arial" pitchFamily="34" charset="0"/>
                <a:ea typeface="Arial" pitchFamily="34" charset="-122"/>
                <a:cs typeface="Arial" pitchFamily="34" charset="-120"/>
              </a:rPr>
              <a:t>S</a:t>
            </a:r>
            <a:endParaRPr lang="en-US" sz="1300" dirty="0"/>
          </a:p>
        </p:txBody>
      </p:sp>
      <p:sp>
        <p:nvSpPr>
          <p:cNvPr id="3" name="chrome-kicker"/>
          <p:cNvSpPr/>
          <p:nvPr/>
        </p:nvSpPr>
        <p:spPr>
          <a:xfrm>
            <a:off x="914400" y="329184"/>
            <a:ext cx="8229600" cy="274320"/>
          </a:xfrm>
          <a:prstGeom prst="rect">
            <a:avLst/>
          </a:prstGeom>
          <a:noFill/>
          <a:ln/>
        </p:spPr>
        <p:txBody>
          <a:bodyPr wrap="square" lIns="0" tIns="0" rIns="0" bIns="0" rtlCol="0" anchor="ctr"/>
          <a:lstStyle/>
          <a:p>
            <a:pPr indent="0" marL="0">
              <a:buNone/>
            </a:pPr>
            <a:r>
              <a:rPr lang="en-US" sz="1050" b="1" spc="300" kern="0" dirty="0">
                <a:solidFill>
                  <a:srgbClr val="95BF47"/>
                </a:solidFill>
                <a:latin typeface="Arial" pitchFamily="34" charset="0"/>
                <a:ea typeface="Arial" pitchFamily="34" charset="-122"/>
                <a:cs typeface="Arial" pitchFamily="34" charset="-120"/>
              </a:rPr>
              <a:t>TEIL 2 · SO GEHT'S</a:t>
            </a:r>
            <a:endParaRPr lang="en-US" sz="1050" dirty="0"/>
          </a:p>
        </p:txBody>
      </p:sp>
      <p:sp>
        <p:nvSpPr>
          <p:cNvPr id="4" name="chrome-footer"/>
          <p:cNvSpPr/>
          <p:nvPr/>
        </p:nvSpPr>
        <p:spPr>
          <a:xfrm>
            <a:off x="502920" y="6492240"/>
            <a:ext cx="4572000" cy="237744"/>
          </a:xfrm>
          <a:prstGeom prst="rect">
            <a:avLst/>
          </a:prstGeom>
          <a:noFill/>
          <a:ln/>
        </p:spPr>
        <p:txBody>
          <a:bodyPr wrap="square" lIns="0" tIns="0" rIns="0" bIns="0" rtlCol="0" anchor="ctr"/>
          <a:lstStyle/>
          <a:p>
            <a:pPr indent="0" marL="0">
              <a:buNone/>
            </a:pPr>
            <a:r>
              <a:rPr lang="en-US" sz="850" dirty="0">
                <a:solidFill>
                  <a:srgbClr val="5A5F6B"/>
                </a:solidFill>
                <a:latin typeface="Arial" pitchFamily="34" charset="0"/>
                <a:ea typeface="Arial" pitchFamily="34" charset="-122"/>
                <a:cs typeface="Arial" pitchFamily="34" charset="-120"/>
              </a:rPr>
              <a:t>Shopify · E-Commerce · Gruppenarbeit</a:t>
            </a:r>
            <a:endParaRPr lang="en-US" sz="850" dirty="0"/>
          </a:p>
        </p:txBody>
      </p:sp>
      <p:sp>
        <p:nvSpPr>
          <p:cNvPr id="5" name="chrome-page"/>
          <p:cNvSpPr/>
          <p:nvPr/>
        </p:nvSpPr>
        <p:spPr>
          <a:xfrm>
            <a:off x="11430000" y="6492240"/>
            <a:ext cx="256032" cy="237744"/>
          </a:xfrm>
          <a:prstGeom prst="rect">
            <a:avLst/>
          </a:prstGeom>
          <a:noFill/>
          <a:ln/>
        </p:spPr>
        <p:txBody>
          <a:bodyPr wrap="square" lIns="0" tIns="0" rIns="0" bIns="0" rtlCol="0" anchor="ctr"/>
          <a:lstStyle/>
          <a:p>
            <a:pPr algn="r" indent="0" marL="0">
              <a:buNone/>
            </a:pPr>
            <a:r>
              <a:rPr lang="en-US" sz="850" dirty="0">
                <a:solidFill>
                  <a:srgbClr val="5A5F6B"/>
                </a:solidFill>
                <a:latin typeface="Arial" pitchFamily="34" charset="0"/>
                <a:ea typeface="Arial" pitchFamily="34" charset="-122"/>
                <a:cs typeface="Arial" pitchFamily="34" charset="-120"/>
              </a:rPr>
              <a:t>3</a:t>
            </a:r>
            <a:endParaRPr lang="en-US" sz="850" dirty="0"/>
          </a:p>
        </p:txBody>
      </p:sp>
      <p:sp>
        <p:nvSpPr>
          <p:cNvPr id="6" name="Text 4"/>
          <p:cNvSpPr/>
          <p:nvPr/>
        </p:nvSpPr>
        <p:spPr>
          <a:xfrm>
            <a:off x="502920" y="713232"/>
            <a:ext cx="11155680" cy="566928"/>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In 5 Schritten zum eigenen Shop</a:t>
            </a:r>
            <a:endParaRPr lang="en-US" sz="3300" dirty="0"/>
          </a:p>
        </p:txBody>
      </p:sp>
      <p:sp>
        <p:nvSpPr>
          <p:cNvPr id="7" name="Text 5"/>
          <p:cNvSpPr/>
          <p:nvPr/>
        </p:nvSpPr>
        <p:spPr>
          <a:xfrm>
            <a:off x="502920" y="1737360"/>
            <a:ext cx="329184" cy="329184"/>
          </a:xfrm>
          <a:prstGeom prst="ellipse">
            <a:avLst/>
          </a:prstGeom>
          <a:solidFill>
            <a:srgbClr val="95BF47"/>
          </a:solidFill>
          <a:ln/>
        </p:spPr>
        <p:txBody>
          <a:bodyPr wrap="square" lIns="0" tIns="0" rIns="0" bIns="0" rtlCol="0" anchor="ctr"/>
          <a:lstStyle/>
          <a:p>
            <a:pPr algn="ctr" indent="0" marL="0">
              <a:buNone/>
            </a:pPr>
            <a:r>
              <a:rPr lang="en-US" sz="1200" b="1" dirty="0">
                <a:solidFill>
                  <a:srgbClr val="0D0E12"/>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1024128" y="1691640"/>
            <a:ext cx="5394960" cy="86868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Konto erstellen</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Gratis-Test starten – eine E-Mail-Adresse genügt.</a:t>
            </a:r>
            <a:endParaRPr lang="en-US" sz="1350" dirty="0"/>
          </a:p>
        </p:txBody>
      </p:sp>
      <p:sp>
        <p:nvSpPr>
          <p:cNvPr id="9" name="Text 7"/>
          <p:cNvSpPr/>
          <p:nvPr/>
        </p:nvSpPr>
        <p:spPr>
          <a:xfrm>
            <a:off x="502920" y="2633472"/>
            <a:ext cx="329184" cy="329184"/>
          </a:xfrm>
          <a:prstGeom prst="ellipse">
            <a:avLst/>
          </a:prstGeom>
          <a:solidFill>
            <a:srgbClr val="95BF47"/>
          </a:solidFill>
          <a:ln/>
        </p:spPr>
        <p:txBody>
          <a:bodyPr wrap="square" lIns="0" tIns="0" rIns="0" bIns="0" rtlCol="0" anchor="ctr"/>
          <a:lstStyle/>
          <a:p>
            <a:pPr algn="ctr" indent="0" marL="0">
              <a:buNone/>
            </a:pPr>
            <a:r>
              <a:rPr lang="en-US" sz="1200" b="1" dirty="0">
                <a:solidFill>
                  <a:srgbClr val="0D0E12"/>
                </a:solidFill>
                <a:latin typeface="Arial" pitchFamily="34" charset="0"/>
                <a:ea typeface="Arial" pitchFamily="34" charset="-122"/>
                <a:cs typeface="Arial" pitchFamily="34" charset="-120"/>
              </a:rPr>
              <a:t>2</a:t>
            </a:r>
            <a:endParaRPr lang="en-US" sz="1200" dirty="0"/>
          </a:p>
        </p:txBody>
      </p:sp>
      <p:sp>
        <p:nvSpPr>
          <p:cNvPr id="10" name="Text 8"/>
          <p:cNvSpPr/>
          <p:nvPr/>
        </p:nvSpPr>
        <p:spPr>
          <a:xfrm>
            <a:off x="1024128" y="2587752"/>
            <a:ext cx="5394960" cy="86868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Design wählen</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Fertiges Theme aussuchen, Farben und Logo anpassen.</a:t>
            </a:r>
            <a:endParaRPr lang="en-US" sz="1350" dirty="0"/>
          </a:p>
        </p:txBody>
      </p:sp>
      <p:sp>
        <p:nvSpPr>
          <p:cNvPr id="11" name="Text 9"/>
          <p:cNvSpPr/>
          <p:nvPr/>
        </p:nvSpPr>
        <p:spPr>
          <a:xfrm>
            <a:off x="502920" y="3529584"/>
            <a:ext cx="329184" cy="329184"/>
          </a:xfrm>
          <a:prstGeom prst="ellipse">
            <a:avLst/>
          </a:prstGeom>
          <a:solidFill>
            <a:srgbClr val="95BF47"/>
          </a:solidFill>
          <a:ln/>
        </p:spPr>
        <p:txBody>
          <a:bodyPr wrap="square" lIns="0" tIns="0" rIns="0" bIns="0" rtlCol="0" anchor="ctr"/>
          <a:lstStyle/>
          <a:p>
            <a:pPr algn="ctr" indent="0" marL="0">
              <a:buNone/>
            </a:pPr>
            <a:r>
              <a:rPr lang="en-US" sz="1200" b="1" dirty="0">
                <a:solidFill>
                  <a:srgbClr val="0D0E12"/>
                </a:solidFill>
                <a:latin typeface="Arial" pitchFamily="34" charset="0"/>
                <a:ea typeface="Arial" pitchFamily="34" charset="-122"/>
                <a:cs typeface="Arial" pitchFamily="34" charset="-120"/>
              </a:rPr>
              <a:t>3</a:t>
            </a:r>
            <a:endParaRPr lang="en-US" sz="1200" dirty="0"/>
          </a:p>
        </p:txBody>
      </p:sp>
      <p:sp>
        <p:nvSpPr>
          <p:cNvPr id="12" name="Text 10"/>
          <p:cNvSpPr/>
          <p:nvPr/>
        </p:nvSpPr>
        <p:spPr>
          <a:xfrm>
            <a:off x="1024128" y="3483864"/>
            <a:ext cx="5394960" cy="86868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Produkte anlegen</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Fotos hochladen, Beschreibung schreiben, Preis festlegen.</a:t>
            </a:r>
            <a:endParaRPr lang="en-US" sz="1350" dirty="0"/>
          </a:p>
        </p:txBody>
      </p:sp>
      <p:sp>
        <p:nvSpPr>
          <p:cNvPr id="13" name="Text 11"/>
          <p:cNvSpPr/>
          <p:nvPr/>
        </p:nvSpPr>
        <p:spPr>
          <a:xfrm>
            <a:off x="502920" y="4425696"/>
            <a:ext cx="329184" cy="329184"/>
          </a:xfrm>
          <a:prstGeom prst="ellipse">
            <a:avLst/>
          </a:prstGeom>
          <a:solidFill>
            <a:srgbClr val="95BF47"/>
          </a:solidFill>
          <a:ln/>
        </p:spPr>
        <p:txBody>
          <a:bodyPr wrap="square" lIns="0" tIns="0" rIns="0" bIns="0" rtlCol="0" anchor="ctr"/>
          <a:lstStyle/>
          <a:p>
            <a:pPr algn="ctr" indent="0" marL="0">
              <a:buNone/>
            </a:pPr>
            <a:r>
              <a:rPr lang="en-US" sz="1200" b="1" dirty="0">
                <a:solidFill>
                  <a:srgbClr val="0D0E12"/>
                </a:solidFill>
                <a:latin typeface="Arial" pitchFamily="34" charset="0"/>
                <a:ea typeface="Arial" pitchFamily="34" charset="-122"/>
                <a:cs typeface="Arial" pitchFamily="34" charset="-120"/>
              </a:rPr>
              <a:t>4</a:t>
            </a:r>
            <a:endParaRPr lang="en-US" sz="1200" dirty="0"/>
          </a:p>
        </p:txBody>
      </p:sp>
      <p:sp>
        <p:nvSpPr>
          <p:cNvPr id="14" name="Text 12"/>
          <p:cNvSpPr/>
          <p:nvPr/>
        </p:nvSpPr>
        <p:spPr>
          <a:xfrm>
            <a:off x="1024128" y="4379976"/>
            <a:ext cx="5394960" cy="86868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Zahlungen aktivieren</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Karte, PayPal, Apple Pay – 1 Klick mit Shopify Payments.</a:t>
            </a:r>
            <a:endParaRPr lang="en-US" sz="1350" dirty="0"/>
          </a:p>
        </p:txBody>
      </p:sp>
      <p:sp>
        <p:nvSpPr>
          <p:cNvPr id="15" name="Text 13"/>
          <p:cNvSpPr/>
          <p:nvPr/>
        </p:nvSpPr>
        <p:spPr>
          <a:xfrm>
            <a:off x="502920" y="5321808"/>
            <a:ext cx="329184" cy="329184"/>
          </a:xfrm>
          <a:prstGeom prst="ellipse">
            <a:avLst/>
          </a:prstGeom>
          <a:solidFill>
            <a:srgbClr val="95BF47"/>
          </a:solidFill>
          <a:ln/>
        </p:spPr>
        <p:txBody>
          <a:bodyPr wrap="square" lIns="0" tIns="0" rIns="0" bIns="0" rtlCol="0" anchor="ctr"/>
          <a:lstStyle/>
          <a:p>
            <a:pPr algn="ctr" indent="0" marL="0">
              <a:buNone/>
            </a:pPr>
            <a:r>
              <a:rPr lang="en-US" sz="1200" b="1" dirty="0">
                <a:solidFill>
                  <a:srgbClr val="0D0E12"/>
                </a:solidFill>
                <a:latin typeface="Arial" pitchFamily="34" charset="0"/>
                <a:ea typeface="Arial" pitchFamily="34" charset="-122"/>
                <a:cs typeface="Arial" pitchFamily="34" charset="-120"/>
              </a:rPr>
              <a:t>5</a:t>
            </a:r>
            <a:endParaRPr lang="en-US" sz="1200" dirty="0"/>
          </a:p>
        </p:txBody>
      </p:sp>
      <p:sp>
        <p:nvSpPr>
          <p:cNvPr id="16" name="Text 14"/>
          <p:cNvSpPr/>
          <p:nvPr/>
        </p:nvSpPr>
        <p:spPr>
          <a:xfrm>
            <a:off x="1024128" y="5276088"/>
            <a:ext cx="5394960" cy="86868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Domain verbinden &amp; live gehen</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Zum Beispiel www.meinshop.ch – fertig!</a:t>
            </a:r>
            <a:endParaRPr lang="en-US" sz="1350" dirty="0"/>
          </a:p>
        </p:txBody>
      </p:sp>
      <p:sp>
        <p:nvSpPr>
          <p:cNvPr id="17" name="Shape 15"/>
          <p:cNvSpPr/>
          <p:nvPr/>
        </p:nvSpPr>
        <p:spPr>
          <a:xfrm>
            <a:off x="6812280" y="1645920"/>
            <a:ext cx="4892040" cy="4572000"/>
          </a:xfrm>
          <a:prstGeom prst="roundRect">
            <a:avLst>
              <a:gd name="adj" fmla="val 1800"/>
            </a:avLst>
          </a:prstGeom>
          <a:solidFill>
            <a:srgbClr val="16181F"/>
          </a:solidFill>
          <a:ln w="12700">
            <a:solidFill>
              <a:srgbClr val="262933"/>
            </a:solidFill>
            <a:prstDash val="solid"/>
          </a:ln>
        </p:spPr>
      </p:sp>
      <p:sp>
        <p:nvSpPr>
          <p:cNvPr id="18" name="Shape 16"/>
          <p:cNvSpPr/>
          <p:nvPr/>
        </p:nvSpPr>
        <p:spPr>
          <a:xfrm>
            <a:off x="6976872" y="1810512"/>
            <a:ext cx="4562856" cy="365760"/>
          </a:xfrm>
          <a:prstGeom prst="roundRect">
            <a:avLst>
              <a:gd name="adj" fmla="val 15000"/>
            </a:avLst>
          </a:prstGeom>
          <a:solidFill>
            <a:srgbClr val="1F222B"/>
          </a:solidFill>
          <a:ln/>
        </p:spPr>
      </p:sp>
      <p:sp>
        <p:nvSpPr>
          <p:cNvPr id="19" name="Shape 17"/>
          <p:cNvSpPr/>
          <p:nvPr/>
        </p:nvSpPr>
        <p:spPr>
          <a:xfrm>
            <a:off x="7123176" y="1938528"/>
            <a:ext cx="109728" cy="109728"/>
          </a:xfrm>
          <a:prstGeom prst="ellipse">
            <a:avLst/>
          </a:prstGeom>
          <a:solidFill>
            <a:srgbClr val="3A3E49"/>
          </a:solidFill>
          <a:ln/>
        </p:spPr>
      </p:sp>
      <p:sp>
        <p:nvSpPr>
          <p:cNvPr id="20" name="Shape 18"/>
          <p:cNvSpPr/>
          <p:nvPr/>
        </p:nvSpPr>
        <p:spPr>
          <a:xfrm>
            <a:off x="7306056" y="1938528"/>
            <a:ext cx="109728" cy="109728"/>
          </a:xfrm>
          <a:prstGeom prst="ellipse">
            <a:avLst/>
          </a:prstGeom>
          <a:solidFill>
            <a:srgbClr val="3A3E49"/>
          </a:solidFill>
          <a:ln/>
        </p:spPr>
      </p:sp>
      <p:sp>
        <p:nvSpPr>
          <p:cNvPr id="21" name="Shape 19"/>
          <p:cNvSpPr/>
          <p:nvPr/>
        </p:nvSpPr>
        <p:spPr>
          <a:xfrm>
            <a:off x="7488936" y="1938528"/>
            <a:ext cx="109728" cy="109728"/>
          </a:xfrm>
          <a:prstGeom prst="ellipse">
            <a:avLst/>
          </a:prstGeom>
          <a:solidFill>
            <a:srgbClr val="3A3E49"/>
          </a:solidFill>
          <a:ln/>
        </p:spPr>
      </p:sp>
      <p:sp>
        <p:nvSpPr>
          <p:cNvPr id="22" name="Text 20"/>
          <p:cNvSpPr/>
          <p:nvPr/>
        </p:nvSpPr>
        <p:spPr>
          <a:xfrm>
            <a:off x="7909560" y="1810512"/>
            <a:ext cx="3063240" cy="365760"/>
          </a:xfrm>
          <a:prstGeom prst="rect">
            <a:avLst/>
          </a:prstGeom>
          <a:noFill/>
          <a:ln/>
        </p:spPr>
        <p:txBody>
          <a:bodyPr wrap="square" lIns="0" tIns="0" rIns="0" bIns="0" rtlCol="0" anchor="ctr"/>
          <a:lstStyle/>
          <a:p>
            <a:pPr algn="ctr" indent="0" marL="0">
              <a:buNone/>
            </a:pPr>
            <a:r>
              <a:rPr lang="en-US" sz="950" dirty="0">
                <a:solidFill>
                  <a:srgbClr val="9AA0AC"/>
                </a:solidFill>
                <a:latin typeface="Arial" pitchFamily="34" charset="0"/>
                <a:ea typeface="Arial" pitchFamily="34" charset="-122"/>
                <a:cs typeface="Arial" pitchFamily="34" charset="-120"/>
              </a:rPr>
              <a:t>meinshop.ch</a:t>
            </a:r>
            <a:endParaRPr lang="en-US" sz="950" dirty="0"/>
          </a:p>
        </p:txBody>
      </p:sp>
      <p:sp>
        <p:nvSpPr>
          <p:cNvPr id="23" name="Shape 21"/>
          <p:cNvSpPr/>
          <p:nvPr/>
        </p:nvSpPr>
        <p:spPr>
          <a:xfrm>
            <a:off x="7132320" y="2377440"/>
            <a:ext cx="4251960" cy="1828800"/>
          </a:xfrm>
          <a:prstGeom prst="roundRect">
            <a:avLst>
              <a:gd name="adj" fmla="val 4000"/>
            </a:avLst>
          </a:prstGeom>
          <a:solidFill>
            <a:srgbClr val="222733"/>
          </a:solidFill>
          <a:ln/>
        </p:spPr>
      </p:sp>
      <p:sp>
        <p:nvSpPr>
          <p:cNvPr id="24" name="Text 22"/>
          <p:cNvSpPr/>
          <p:nvPr/>
        </p:nvSpPr>
        <p:spPr>
          <a:xfrm>
            <a:off x="8956548" y="2971800"/>
            <a:ext cx="603504" cy="603504"/>
          </a:xfrm>
          <a:prstGeom prst="roundRect">
            <a:avLst>
              <a:gd name="adj" fmla="val 18182"/>
            </a:avLst>
          </a:prstGeom>
          <a:solidFill>
            <a:srgbClr val="95BF47"/>
          </a:solidFill>
          <a:ln/>
        </p:spPr>
        <p:txBody>
          <a:bodyPr wrap="square" lIns="0" tIns="0" rIns="0" bIns="0" rtlCol="0" anchor="ctr"/>
          <a:lstStyle/>
          <a:p>
            <a:pPr algn="ctr" indent="0" marL="0">
              <a:buNone/>
            </a:pPr>
            <a:r>
              <a:rPr lang="en-US" sz="2800" b="1" dirty="0">
                <a:solidFill>
                  <a:srgbClr val="0D0E12"/>
                </a:solidFill>
                <a:latin typeface="Arial" pitchFamily="34" charset="0"/>
                <a:ea typeface="Arial" pitchFamily="34" charset="-122"/>
                <a:cs typeface="Arial" pitchFamily="34" charset="-120"/>
              </a:rPr>
              <a:t>S</a:t>
            </a:r>
            <a:endParaRPr lang="en-US" sz="2800" dirty="0"/>
          </a:p>
        </p:txBody>
      </p:sp>
      <p:sp>
        <p:nvSpPr>
          <p:cNvPr id="25" name="Text 23"/>
          <p:cNvSpPr/>
          <p:nvPr/>
        </p:nvSpPr>
        <p:spPr>
          <a:xfrm>
            <a:off x="7132320" y="4343400"/>
            <a:ext cx="425196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Prüfungs-Guide (E-Book)</a:t>
            </a:r>
            <a:endParaRPr lang="en-US" sz="1400" dirty="0"/>
          </a:p>
        </p:txBody>
      </p:sp>
      <p:sp>
        <p:nvSpPr>
          <p:cNvPr id="26" name="Text 24"/>
          <p:cNvSpPr/>
          <p:nvPr/>
        </p:nvSpPr>
        <p:spPr>
          <a:xfrm>
            <a:off x="7132320" y="4663440"/>
            <a:ext cx="4251960" cy="274320"/>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PDF · 45 Seiten · Sofort-Download</a:t>
            </a:r>
            <a:endParaRPr lang="en-US" sz="1050" dirty="0"/>
          </a:p>
        </p:txBody>
      </p:sp>
      <p:sp>
        <p:nvSpPr>
          <p:cNvPr id="27" name="Text 25"/>
          <p:cNvSpPr/>
          <p:nvPr/>
        </p:nvSpPr>
        <p:spPr>
          <a:xfrm>
            <a:off x="7132320" y="5010912"/>
            <a:ext cx="1828800" cy="365760"/>
          </a:xfrm>
          <a:prstGeom prst="rect">
            <a:avLst/>
          </a:prstGeom>
          <a:noFill/>
          <a:ln/>
        </p:spPr>
        <p:txBody>
          <a:bodyPr wrap="square" lIns="0" tIns="0" rIns="0" bIns="0" rtlCol="0" anchor="ctr"/>
          <a:lstStyle/>
          <a:p>
            <a:pPr indent="0" marL="0">
              <a:buNone/>
            </a:pPr>
            <a:r>
              <a:rPr lang="en-US" sz="1700" b="1" dirty="0">
                <a:solidFill>
                  <a:srgbClr val="95BF47"/>
                </a:solidFill>
                <a:latin typeface="Arial" pitchFamily="34" charset="0"/>
                <a:ea typeface="Arial" pitchFamily="34" charset="-122"/>
                <a:cs typeface="Arial" pitchFamily="34" charset="-120"/>
              </a:rPr>
              <a:t>19.00 €</a:t>
            </a:r>
            <a:endParaRPr lang="en-US" sz="1700" dirty="0"/>
          </a:p>
        </p:txBody>
      </p:sp>
      <p:sp>
        <p:nvSpPr>
          <p:cNvPr id="28" name="Text 26"/>
          <p:cNvSpPr/>
          <p:nvPr/>
        </p:nvSpPr>
        <p:spPr>
          <a:xfrm>
            <a:off x="7132320" y="5486400"/>
            <a:ext cx="4251960" cy="475488"/>
          </a:xfrm>
          <a:prstGeom prst="roundRect">
            <a:avLst>
              <a:gd name="adj" fmla="val 15385"/>
            </a:avLst>
          </a:prstGeom>
          <a:solidFill>
            <a:srgbClr val="95BF47"/>
          </a:solidFill>
          <a:ln/>
        </p:spPr>
        <p:txBody>
          <a:bodyPr wrap="square" lIns="0" tIns="0" rIns="0" bIns="0" rtlCol="0" anchor="ctr"/>
          <a:lstStyle/>
          <a:p>
            <a:pPr algn="ctr" indent="0" marL="0">
              <a:buNone/>
            </a:pPr>
            <a:r>
              <a:rPr lang="en-US" sz="1300" b="1" dirty="0">
                <a:solidFill>
                  <a:srgbClr val="0D0E12"/>
                </a:solidFill>
                <a:latin typeface="Arial" pitchFamily="34" charset="0"/>
                <a:ea typeface="Arial" pitchFamily="34" charset="-122"/>
                <a:cs typeface="Arial" pitchFamily="34" charset="-120"/>
              </a:rPr>
              <a:t>Jetzt kaufen</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3" fill="hold">
                      <p:stCondLst>
                        <p:cond delay="indefinite"/>
                        <p:cond evt="onBegin" delay="0">
                          <p:tn val="2"/>
                        </p:cond>
                      </p:stCondLst>
                      <p:childTnLst>
                        <p:par>
                          <p:cTn id="72"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afterEffect">
                                  <p:stCondLst>
                                    <p:cond delay="247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grpId="0" nodeType="afterEffect">
                                  <p:stCondLst>
                                    <p:cond delay="260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afterEffect">
                                  <p:stCondLst>
                                    <p:cond delay="273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grpId="0" nodeType="afterEffect">
                                  <p:stCondLst>
                                    <p:cond delay="286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E12"/>
        </a:solidFill>
      </p:bgPr>
    </p:bg>
    <p:spTree>
      <p:nvGrpSpPr>
        <p:cNvPr id="1" name=""/>
        <p:cNvGrpSpPr/>
        <p:nvPr/>
      </p:nvGrpSpPr>
      <p:grpSpPr>
        <a:xfrm>
          <a:off x="0" y="0"/>
          <a:ext cx="0" cy="0"/>
          <a:chOff x="0" y="0"/>
          <a:chExt cx="0" cy="0"/>
        </a:xfrm>
      </p:grpSpPr>
      <p:sp>
        <p:nvSpPr>
          <p:cNvPr id="2" name="chrome-logo"/>
          <p:cNvSpPr/>
          <p:nvPr/>
        </p:nvSpPr>
        <p:spPr>
          <a:xfrm>
            <a:off x="502920" y="329184"/>
            <a:ext cx="274320" cy="274320"/>
          </a:xfrm>
          <a:prstGeom prst="roundRect">
            <a:avLst>
              <a:gd name="adj" fmla="val 16667"/>
            </a:avLst>
          </a:prstGeom>
          <a:solidFill>
            <a:srgbClr val="95BF47"/>
          </a:solidFill>
          <a:ln/>
        </p:spPr>
        <p:txBody>
          <a:bodyPr wrap="square" lIns="0" tIns="0" rIns="0" bIns="0" rtlCol="0" anchor="ctr"/>
          <a:lstStyle/>
          <a:p>
            <a:pPr algn="ctr" indent="0" marL="0">
              <a:buNone/>
            </a:pPr>
            <a:r>
              <a:rPr lang="en-US" sz="1300" b="1" dirty="0">
                <a:solidFill>
                  <a:srgbClr val="0D0E12"/>
                </a:solidFill>
                <a:latin typeface="Arial" pitchFamily="34" charset="0"/>
                <a:ea typeface="Arial" pitchFamily="34" charset="-122"/>
                <a:cs typeface="Arial" pitchFamily="34" charset="-120"/>
              </a:rPr>
              <a:t>S</a:t>
            </a:r>
            <a:endParaRPr lang="en-US" sz="1300" dirty="0"/>
          </a:p>
        </p:txBody>
      </p:sp>
      <p:sp>
        <p:nvSpPr>
          <p:cNvPr id="3" name="chrome-kicker"/>
          <p:cNvSpPr/>
          <p:nvPr/>
        </p:nvSpPr>
        <p:spPr>
          <a:xfrm>
            <a:off x="914400" y="329184"/>
            <a:ext cx="8229600" cy="274320"/>
          </a:xfrm>
          <a:prstGeom prst="rect">
            <a:avLst/>
          </a:prstGeom>
          <a:noFill/>
          <a:ln/>
        </p:spPr>
        <p:txBody>
          <a:bodyPr wrap="square" lIns="0" tIns="0" rIns="0" bIns="0" rtlCol="0" anchor="ctr"/>
          <a:lstStyle/>
          <a:p>
            <a:pPr indent="0" marL="0">
              <a:buNone/>
            </a:pPr>
            <a:r>
              <a:rPr lang="en-US" sz="1050" b="1" spc="300" kern="0" dirty="0">
                <a:solidFill>
                  <a:srgbClr val="95BF47"/>
                </a:solidFill>
                <a:latin typeface="Arial" pitchFamily="34" charset="0"/>
                <a:ea typeface="Arial" pitchFamily="34" charset="-122"/>
                <a:cs typeface="Arial" pitchFamily="34" charset="-120"/>
              </a:rPr>
              <a:t>TEIL 3 · KOSTEN</a:t>
            </a:r>
            <a:endParaRPr lang="en-US" sz="1050" dirty="0"/>
          </a:p>
        </p:txBody>
      </p:sp>
      <p:sp>
        <p:nvSpPr>
          <p:cNvPr id="4" name="chrome-footer"/>
          <p:cNvSpPr/>
          <p:nvPr/>
        </p:nvSpPr>
        <p:spPr>
          <a:xfrm>
            <a:off x="502920" y="6492240"/>
            <a:ext cx="4572000" cy="237744"/>
          </a:xfrm>
          <a:prstGeom prst="rect">
            <a:avLst/>
          </a:prstGeom>
          <a:noFill/>
          <a:ln/>
        </p:spPr>
        <p:txBody>
          <a:bodyPr wrap="square" lIns="0" tIns="0" rIns="0" bIns="0" rtlCol="0" anchor="ctr"/>
          <a:lstStyle/>
          <a:p>
            <a:pPr indent="0" marL="0">
              <a:buNone/>
            </a:pPr>
            <a:r>
              <a:rPr lang="en-US" sz="850" dirty="0">
                <a:solidFill>
                  <a:srgbClr val="5A5F6B"/>
                </a:solidFill>
                <a:latin typeface="Arial" pitchFamily="34" charset="0"/>
                <a:ea typeface="Arial" pitchFamily="34" charset="-122"/>
                <a:cs typeface="Arial" pitchFamily="34" charset="-120"/>
              </a:rPr>
              <a:t>Shopify · E-Commerce · Gruppenarbeit</a:t>
            </a:r>
            <a:endParaRPr lang="en-US" sz="850" dirty="0"/>
          </a:p>
        </p:txBody>
      </p:sp>
      <p:sp>
        <p:nvSpPr>
          <p:cNvPr id="5" name="chrome-page"/>
          <p:cNvSpPr/>
          <p:nvPr/>
        </p:nvSpPr>
        <p:spPr>
          <a:xfrm>
            <a:off x="11430000" y="6492240"/>
            <a:ext cx="256032" cy="237744"/>
          </a:xfrm>
          <a:prstGeom prst="rect">
            <a:avLst/>
          </a:prstGeom>
          <a:noFill/>
          <a:ln/>
        </p:spPr>
        <p:txBody>
          <a:bodyPr wrap="square" lIns="0" tIns="0" rIns="0" bIns="0" rtlCol="0" anchor="ctr"/>
          <a:lstStyle/>
          <a:p>
            <a:pPr algn="r" indent="0" marL="0">
              <a:buNone/>
            </a:pPr>
            <a:r>
              <a:rPr lang="en-US" sz="850" dirty="0">
                <a:solidFill>
                  <a:srgbClr val="5A5F6B"/>
                </a:solidFill>
                <a:latin typeface="Arial" pitchFamily="34" charset="0"/>
                <a:ea typeface="Arial" pitchFamily="34" charset="-122"/>
                <a:cs typeface="Arial" pitchFamily="34" charset="-120"/>
              </a:rPr>
              <a:t>4</a:t>
            </a:r>
            <a:endParaRPr lang="en-US" sz="850" dirty="0"/>
          </a:p>
        </p:txBody>
      </p:sp>
      <p:sp>
        <p:nvSpPr>
          <p:cNvPr id="6" name="Text 4"/>
          <p:cNvSpPr/>
          <p:nvPr/>
        </p:nvSpPr>
        <p:spPr>
          <a:xfrm>
            <a:off x="502920" y="713232"/>
            <a:ext cx="11155680" cy="566928"/>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Was kostet Shopify?</a:t>
            </a:r>
            <a:endParaRPr lang="en-US" sz="3300" dirty="0"/>
          </a:p>
        </p:txBody>
      </p:sp>
      <p:sp>
        <p:nvSpPr>
          <p:cNvPr id="7" name="Shape 5"/>
          <p:cNvSpPr/>
          <p:nvPr/>
        </p:nvSpPr>
        <p:spPr>
          <a:xfrm>
            <a:off x="502920" y="1783080"/>
            <a:ext cx="3602736" cy="3246120"/>
          </a:xfrm>
          <a:prstGeom prst="roundRect">
            <a:avLst>
              <a:gd name="adj" fmla="val 2535"/>
            </a:avLst>
          </a:prstGeom>
          <a:solidFill>
            <a:srgbClr val="16181F"/>
          </a:solidFill>
          <a:ln w="19050">
            <a:solidFill>
              <a:srgbClr val="95BF47"/>
            </a:solidFill>
            <a:prstDash val="solid"/>
          </a:ln>
        </p:spPr>
      </p:sp>
      <p:sp>
        <p:nvSpPr>
          <p:cNvPr id="8" name="Text 6"/>
          <p:cNvSpPr/>
          <p:nvPr/>
        </p:nvSpPr>
        <p:spPr>
          <a:xfrm>
            <a:off x="777240" y="1984248"/>
            <a:ext cx="3054096" cy="228600"/>
          </a:xfrm>
          <a:prstGeom prst="rect">
            <a:avLst/>
          </a:prstGeom>
          <a:noFill/>
          <a:ln/>
        </p:spPr>
        <p:txBody>
          <a:bodyPr wrap="square" lIns="0" tIns="0" rIns="0" bIns="0" rtlCol="0" anchor="ctr"/>
          <a:lstStyle/>
          <a:p>
            <a:pPr indent="0" marL="0">
              <a:buNone/>
            </a:pPr>
            <a:r>
              <a:rPr lang="en-US" sz="900" b="1" spc="200" kern="0" dirty="0">
                <a:solidFill>
                  <a:srgbClr val="95BF47"/>
                </a:solidFill>
                <a:latin typeface="Arial" pitchFamily="34" charset="0"/>
                <a:ea typeface="Arial" pitchFamily="34" charset="-122"/>
                <a:cs typeface="Arial" pitchFamily="34" charset="-120"/>
              </a:rPr>
              <a:t>UNSERE EMPFEHLUNG</a:t>
            </a:r>
            <a:endParaRPr lang="en-US" sz="900" dirty="0"/>
          </a:p>
        </p:txBody>
      </p:sp>
      <p:sp>
        <p:nvSpPr>
          <p:cNvPr id="9" name="Text 7"/>
          <p:cNvSpPr/>
          <p:nvPr/>
        </p:nvSpPr>
        <p:spPr>
          <a:xfrm>
            <a:off x="777240" y="2240280"/>
            <a:ext cx="3054096"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Basic</a:t>
            </a:r>
            <a:endParaRPr lang="en-US" sz="1600" dirty="0"/>
          </a:p>
        </p:txBody>
      </p:sp>
      <p:sp>
        <p:nvSpPr>
          <p:cNvPr id="10" name="Text 8"/>
          <p:cNvSpPr/>
          <p:nvPr/>
        </p:nvSpPr>
        <p:spPr>
          <a:xfrm>
            <a:off x="777240" y="2651760"/>
            <a:ext cx="3054096" cy="640080"/>
          </a:xfrm>
          <a:prstGeom prst="rect">
            <a:avLst/>
          </a:prstGeom>
          <a:noFill/>
          <a:ln/>
        </p:spPr>
        <p:txBody>
          <a:bodyPr wrap="square" lIns="0" tIns="0" rIns="0" bIns="0" rtlCol="0" anchor="ctr"/>
          <a:lstStyle/>
          <a:p>
            <a:pPr indent="0" marL="0">
              <a:buNone/>
            </a:pPr>
            <a:r>
              <a:rPr lang="en-US" sz="3400" b="1" dirty="0">
                <a:solidFill>
                  <a:srgbClr val="95BF47"/>
                </a:solidFill>
                <a:latin typeface="Arial" pitchFamily="34" charset="0"/>
                <a:ea typeface="Arial" pitchFamily="34" charset="-122"/>
                <a:cs typeface="Arial" pitchFamily="34" charset="-120"/>
              </a:rPr>
              <a:t>36 €</a:t>
            </a:r>
            <a:pPr indent="0" marL="0">
              <a:buNone/>
            </a:pPr>
            <a:r>
              <a:rPr lang="en-US" sz="1100" dirty="0">
                <a:solidFill>
                  <a:srgbClr val="9AA0AC"/>
                </a:solidFill>
                <a:latin typeface="Arial" pitchFamily="34" charset="0"/>
                <a:ea typeface="Arial" pitchFamily="34" charset="-122"/>
                <a:cs typeface="Arial" pitchFamily="34" charset="-120"/>
              </a:rPr>
              <a:t>  / Monat</a:t>
            </a:r>
            <a:endParaRPr lang="en-US" sz="3400" dirty="0"/>
          </a:p>
        </p:txBody>
      </p:sp>
      <p:sp>
        <p:nvSpPr>
          <p:cNvPr id="11" name="Shape 9"/>
          <p:cNvSpPr/>
          <p:nvPr/>
        </p:nvSpPr>
        <p:spPr>
          <a:xfrm>
            <a:off x="777240" y="3474720"/>
            <a:ext cx="3054096" cy="0"/>
          </a:xfrm>
          <a:prstGeom prst="line">
            <a:avLst/>
          </a:prstGeom>
          <a:noFill/>
          <a:ln w="9525">
            <a:solidFill>
              <a:srgbClr val="262933"/>
            </a:solidFill>
            <a:prstDash val="solid"/>
          </a:ln>
        </p:spPr>
      </p:sp>
      <p:sp>
        <p:nvSpPr>
          <p:cNvPr id="12" name="Text 10"/>
          <p:cNvSpPr/>
          <p:nvPr/>
        </p:nvSpPr>
        <p:spPr>
          <a:xfrm>
            <a:off x="777240" y="3611880"/>
            <a:ext cx="3054096" cy="420624"/>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Der richtige Plan für den Start</a:t>
            </a:r>
            <a:endParaRPr lang="en-US" sz="1050" dirty="0"/>
          </a:p>
        </p:txBody>
      </p:sp>
      <p:sp>
        <p:nvSpPr>
          <p:cNvPr id="13" name="Text 11"/>
          <p:cNvSpPr/>
          <p:nvPr/>
        </p:nvSpPr>
        <p:spPr>
          <a:xfrm>
            <a:off x="777240" y="4050792"/>
            <a:ext cx="3054096" cy="420624"/>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Zahlungsgebühr: 2,9 % + 0,30 €</a:t>
            </a:r>
            <a:endParaRPr lang="en-US" sz="1050" dirty="0"/>
          </a:p>
        </p:txBody>
      </p:sp>
      <p:sp>
        <p:nvSpPr>
          <p:cNvPr id="14" name="Text 12"/>
          <p:cNvSpPr/>
          <p:nvPr/>
        </p:nvSpPr>
        <p:spPr>
          <a:xfrm>
            <a:off x="777240" y="4489704"/>
            <a:ext cx="3054096" cy="420624"/>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Alles Wichtige ist dabei</a:t>
            </a:r>
            <a:endParaRPr lang="en-US" sz="1050" dirty="0"/>
          </a:p>
        </p:txBody>
      </p:sp>
      <p:sp>
        <p:nvSpPr>
          <p:cNvPr id="15" name="Shape 13"/>
          <p:cNvSpPr/>
          <p:nvPr/>
        </p:nvSpPr>
        <p:spPr>
          <a:xfrm>
            <a:off x="4293108" y="1783080"/>
            <a:ext cx="3602736" cy="3246120"/>
          </a:xfrm>
          <a:prstGeom prst="roundRect">
            <a:avLst>
              <a:gd name="adj" fmla="val 2535"/>
            </a:avLst>
          </a:prstGeom>
          <a:solidFill>
            <a:srgbClr val="16181F"/>
          </a:solidFill>
          <a:ln w="9525">
            <a:solidFill>
              <a:srgbClr val="262933"/>
            </a:solidFill>
            <a:prstDash val="solid"/>
          </a:ln>
        </p:spPr>
      </p:sp>
      <p:sp>
        <p:nvSpPr>
          <p:cNvPr id="16" name="Text 14"/>
          <p:cNvSpPr/>
          <p:nvPr/>
        </p:nvSpPr>
        <p:spPr>
          <a:xfrm>
            <a:off x="4567428" y="2240280"/>
            <a:ext cx="3054096"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Grow</a:t>
            </a:r>
            <a:endParaRPr lang="en-US" sz="1600" dirty="0"/>
          </a:p>
        </p:txBody>
      </p:sp>
      <p:sp>
        <p:nvSpPr>
          <p:cNvPr id="17" name="Text 15"/>
          <p:cNvSpPr/>
          <p:nvPr/>
        </p:nvSpPr>
        <p:spPr>
          <a:xfrm>
            <a:off x="4567428" y="2651760"/>
            <a:ext cx="3054096" cy="640080"/>
          </a:xfrm>
          <a:prstGeom prst="rect">
            <a:avLst/>
          </a:prstGeom>
          <a:noFill/>
          <a:ln/>
        </p:spPr>
        <p:txBody>
          <a:bodyPr wrap="square" lIns="0" tIns="0" rIns="0" bIns="0" rtlCol="0" anchor="ctr"/>
          <a:lstStyle/>
          <a:p>
            <a:pPr indent="0" marL="0">
              <a:buNone/>
            </a:pPr>
            <a:r>
              <a:rPr lang="en-US" sz="3400" b="1" dirty="0">
                <a:solidFill>
                  <a:srgbClr val="C7CBD4"/>
                </a:solidFill>
                <a:latin typeface="Arial" pitchFamily="34" charset="0"/>
                <a:ea typeface="Arial" pitchFamily="34" charset="-122"/>
                <a:cs typeface="Arial" pitchFamily="34" charset="-120"/>
              </a:rPr>
              <a:t>105 €</a:t>
            </a:r>
            <a:pPr indent="0" marL="0">
              <a:buNone/>
            </a:pPr>
            <a:r>
              <a:rPr lang="en-US" sz="1100" dirty="0">
                <a:solidFill>
                  <a:srgbClr val="9AA0AC"/>
                </a:solidFill>
                <a:latin typeface="Arial" pitchFamily="34" charset="0"/>
                <a:ea typeface="Arial" pitchFamily="34" charset="-122"/>
                <a:cs typeface="Arial" pitchFamily="34" charset="-120"/>
              </a:rPr>
              <a:t>  / Monat</a:t>
            </a:r>
            <a:endParaRPr lang="en-US" sz="3400" dirty="0"/>
          </a:p>
        </p:txBody>
      </p:sp>
      <p:sp>
        <p:nvSpPr>
          <p:cNvPr id="18" name="Shape 16"/>
          <p:cNvSpPr/>
          <p:nvPr/>
        </p:nvSpPr>
        <p:spPr>
          <a:xfrm>
            <a:off x="4567428" y="3474720"/>
            <a:ext cx="3054096" cy="0"/>
          </a:xfrm>
          <a:prstGeom prst="line">
            <a:avLst/>
          </a:prstGeom>
          <a:noFill/>
          <a:ln w="9525">
            <a:solidFill>
              <a:srgbClr val="262933"/>
            </a:solidFill>
            <a:prstDash val="solid"/>
          </a:ln>
        </p:spPr>
      </p:sp>
      <p:sp>
        <p:nvSpPr>
          <p:cNvPr id="19" name="Text 17"/>
          <p:cNvSpPr/>
          <p:nvPr/>
        </p:nvSpPr>
        <p:spPr>
          <a:xfrm>
            <a:off x="4567428" y="3611880"/>
            <a:ext cx="3054096" cy="420624"/>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Lohnt sich ab ca. 10'000 € Umsatz/Monat</a:t>
            </a:r>
            <a:endParaRPr lang="en-US" sz="1050" dirty="0"/>
          </a:p>
        </p:txBody>
      </p:sp>
      <p:sp>
        <p:nvSpPr>
          <p:cNvPr id="20" name="Text 18"/>
          <p:cNvSpPr/>
          <p:nvPr/>
        </p:nvSpPr>
        <p:spPr>
          <a:xfrm>
            <a:off x="4567428" y="4050792"/>
            <a:ext cx="3054096" cy="420624"/>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Zahlungsgebühr: 2,7 % + 0,30 €</a:t>
            </a:r>
            <a:endParaRPr lang="en-US" sz="1050" dirty="0"/>
          </a:p>
        </p:txBody>
      </p:sp>
      <p:sp>
        <p:nvSpPr>
          <p:cNvPr id="21" name="Text 19"/>
          <p:cNvSpPr/>
          <p:nvPr/>
        </p:nvSpPr>
        <p:spPr>
          <a:xfrm>
            <a:off x="4567428" y="4489704"/>
            <a:ext cx="3054096" cy="420624"/>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Mehr Mitarbeiter-Konten &amp; Berichte</a:t>
            </a:r>
            <a:endParaRPr lang="en-US" sz="1050" dirty="0"/>
          </a:p>
        </p:txBody>
      </p:sp>
      <p:sp>
        <p:nvSpPr>
          <p:cNvPr id="22" name="Shape 20"/>
          <p:cNvSpPr/>
          <p:nvPr/>
        </p:nvSpPr>
        <p:spPr>
          <a:xfrm>
            <a:off x="8083296" y="1783080"/>
            <a:ext cx="3602736" cy="3246120"/>
          </a:xfrm>
          <a:prstGeom prst="roundRect">
            <a:avLst>
              <a:gd name="adj" fmla="val 2535"/>
            </a:avLst>
          </a:prstGeom>
          <a:solidFill>
            <a:srgbClr val="16181F"/>
          </a:solidFill>
          <a:ln w="9525">
            <a:solidFill>
              <a:srgbClr val="262933"/>
            </a:solidFill>
            <a:prstDash val="solid"/>
          </a:ln>
        </p:spPr>
      </p:sp>
      <p:sp>
        <p:nvSpPr>
          <p:cNvPr id="23" name="Text 21"/>
          <p:cNvSpPr/>
          <p:nvPr/>
        </p:nvSpPr>
        <p:spPr>
          <a:xfrm>
            <a:off x="8357616" y="2240280"/>
            <a:ext cx="3054096"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Advanced</a:t>
            </a:r>
            <a:endParaRPr lang="en-US" sz="1600" dirty="0"/>
          </a:p>
        </p:txBody>
      </p:sp>
      <p:sp>
        <p:nvSpPr>
          <p:cNvPr id="24" name="Text 22"/>
          <p:cNvSpPr/>
          <p:nvPr/>
        </p:nvSpPr>
        <p:spPr>
          <a:xfrm>
            <a:off x="8357616" y="2651760"/>
            <a:ext cx="3054096" cy="640080"/>
          </a:xfrm>
          <a:prstGeom prst="rect">
            <a:avLst/>
          </a:prstGeom>
          <a:noFill/>
          <a:ln/>
        </p:spPr>
        <p:txBody>
          <a:bodyPr wrap="square" lIns="0" tIns="0" rIns="0" bIns="0" rtlCol="0" anchor="ctr"/>
          <a:lstStyle/>
          <a:p>
            <a:pPr indent="0" marL="0">
              <a:buNone/>
            </a:pPr>
            <a:r>
              <a:rPr lang="en-US" sz="3400" b="1" dirty="0">
                <a:solidFill>
                  <a:srgbClr val="C7CBD4"/>
                </a:solidFill>
                <a:latin typeface="Arial" pitchFamily="34" charset="0"/>
                <a:ea typeface="Arial" pitchFamily="34" charset="-122"/>
                <a:cs typeface="Arial" pitchFamily="34" charset="-120"/>
              </a:rPr>
              <a:t>384 €</a:t>
            </a:r>
            <a:pPr indent="0" marL="0">
              <a:buNone/>
            </a:pPr>
            <a:r>
              <a:rPr lang="en-US" sz="1100" dirty="0">
                <a:solidFill>
                  <a:srgbClr val="9AA0AC"/>
                </a:solidFill>
                <a:latin typeface="Arial" pitchFamily="34" charset="0"/>
                <a:ea typeface="Arial" pitchFamily="34" charset="-122"/>
                <a:cs typeface="Arial" pitchFamily="34" charset="-120"/>
              </a:rPr>
              <a:t>  / Monat</a:t>
            </a:r>
            <a:endParaRPr lang="en-US" sz="3400" dirty="0"/>
          </a:p>
        </p:txBody>
      </p:sp>
      <p:sp>
        <p:nvSpPr>
          <p:cNvPr id="25" name="Shape 23"/>
          <p:cNvSpPr/>
          <p:nvPr/>
        </p:nvSpPr>
        <p:spPr>
          <a:xfrm>
            <a:off x="8357616" y="3474720"/>
            <a:ext cx="3054096" cy="0"/>
          </a:xfrm>
          <a:prstGeom prst="line">
            <a:avLst/>
          </a:prstGeom>
          <a:noFill/>
          <a:ln w="9525">
            <a:solidFill>
              <a:srgbClr val="262933"/>
            </a:solidFill>
            <a:prstDash val="solid"/>
          </a:ln>
        </p:spPr>
      </p:sp>
      <p:sp>
        <p:nvSpPr>
          <p:cNvPr id="26" name="Text 24"/>
          <p:cNvSpPr/>
          <p:nvPr/>
        </p:nvSpPr>
        <p:spPr>
          <a:xfrm>
            <a:off x="8357616" y="3611880"/>
            <a:ext cx="3054096" cy="420624"/>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Für grosse Shops ab ca. 50'000 €/Monat</a:t>
            </a:r>
            <a:endParaRPr lang="en-US" sz="1050" dirty="0"/>
          </a:p>
        </p:txBody>
      </p:sp>
      <p:sp>
        <p:nvSpPr>
          <p:cNvPr id="27" name="Text 25"/>
          <p:cNvSpPr/>
          <p:nvPr/>
        </p:nvSpPr>
        <p:spPr>
          <a:xfrm>
            <a:off x="8357616" y="4050792"/>
            <a:ext cx="3054096" cy="420624"/>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Zahlungsgebühr: 2,5 % + 0,30 €</a:t>
            </a:r>
            <a:endParaRPr lang="en-US" sz="1050" dirty="0"/>
          </a:p>
        </p:txBody>
      </p:sp>
      <p:sp>
        <p:nvSpPr>
          <p:cNvPr id="28" name="Text 26"/>
          <p:cNvSpPr/>
          <p:nvPr/>
        </p:nvSpPr>
        <p:spPr>
          <a:xfrm>
            <a:off x="8357616" y="4489704"/>
            <a:ext cx="3054096" cy="420624"/>
          </a:xfrm>
          <a:prstGeom prst="rect">
            <a:avLst/>
          </a:prstGeom>
          <a:noFill/>
          <a:ln/>
        </p:spPr>
        <p:txBody>
          <a:bodyPr wrap="square" lIns="0" tIns="0" rIns="0" bIns="0" rtlCol="0" anchor="ctr"/>
          <a:lstStyle/>
          <a:p>
            <a:pPr indent="0" marL="0">
              <a:buNone/>
            </a:pPr>
            <a:r>
              <a:rPr lang="en-US" sz="1050" dirty="0">
                <a:solidFill>
                  <a:srgbClr val="9AA0AC"/>
                </a:solidFill>
                <a:latin typeface="Arial" pitchFamily="34" charset="0"/>
                <a:ea typeface="Arial" pitchFamily="34" charset="-122"/>
                <a:cs typeface="Arial" pitchFamily="34" charset="-120"/>
              </a:rPr>
              <a:t>Tiefste Gebühren, alle Funktionen</a:t>
            </a:r>
            <a:endParaRPr lang="en-US" sz="1050" dirty="0"/>
          </a:p>
        </p:txBody>
      </p:sp>
      <p:sp>
        <p:nvSpPr>
          <p:cNvPr id="29" name="Text 27"/>
          <p:cNvSpPr/>
          <p:nvPr/>
        </p:nvSpPr>
        <p:spPr>
          <a:xfrm>
            <a:off x="502920" y="5349240"/>
            <a:ext cx="11183112" cy="54864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Gut zu wissen:  </a:t>
            </a:r>
            <a:pPr indent="0" marL="0">
              <a:buNone/>
            </a:pPr>
            <a:r>
              <a:rPr lang="en-US" sz="1150" dirty="0">
                <a:solidFill>
                  <a:srgbClr val="9AA0AC"/>
                </a:solidFill>
                <a:latin typeface="Arial" pitchFamily="34" charset="0"/>
                <a:ea typeface="Arial" pitchFamily="34" charset="-122"/>
                <a:cs typeface="Arial" pitchFamily="34" charset="-120"/>
              </a:rPr>
              <a:t>Jahresabo bis 25 % günstiger · eigene Domain ca. 15 €/Jahr · Gratis-Testphase zum Ausprobieren, bevor man etwas bezahlt.</a:t>
            </a:r>
            <a:endParaRPr lang="en-US" sz="11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6" fill="hold">
                      <p:stCondLst>
                        <p:cond delay="indefinite"/>
                        <p:cond evt="onBegin" delay="0">
                          <p:tn val="2"/>
                        </p:cond>
                      </p:stCondLst>
                      <p:childTnLst>
                        <p:par>
                          <p:cTn id="7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afterEffect">
                                  <p:stCondLst>
                                    <p:cond delay="247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grpId="0" nodeType="afterEffect">
                                  <p:stCondLst>
                                    <p:cond delay="260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afterEffect">
                                  <p:stCondLst>
                                    <p:cond delay="273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grpId="0" nodeType="afterEffect">
                                  <p:stCondLst>
                                    <p:cond delay="286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afterEffect">
                                  <p:stCondLst>
                                    <p:cond delay="299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E12"/>
        </a:solidFill>
      </p:bgPr>
    </p:bg>
    <p:spTree>
      <p:nvGrpSpPr>
        <p:cNvPr id="1" name=""/>
        <p:cNvGrpSpPr/>
        <p:nvPr/>
      </p:nvGrpSpPr>
      <p:grpSpPr>
        <a:xfrm>
          <a:off x="0" y="0"/>
          <a:ext cx="0" cy="0"/>
          <a:chOff x="0" y="0"/>
          <a:chExt cx="0" cy="0"/>
        </a:xfrm>
      </p:grpSpPr>
      <p:sp>
        <p:nvSpPr>
          <p:cNvPr id="2" name="chrome-logo"/>
          <p:cNvSpPr/>
          <p:nvPr/>
        </p:nvSpPr>
        <p:spPr>
          <a:xfrm>
            <a:off x="502920" y="329184"/>
            <a:ext cx="274320" cy="274320"/>
          </a:xfrm>
          <a:prstGeom prst="roundRect">
            <a:avLst>
              <a:gd name="adj" fmla="val 16667"/>
            </a:avLst>
          </a:prstGeom>
          <a:solidFill>
            <a:srgbClr val="95BF47"/>
          </a:solidFill>
          <a:ln/>
        </p:spPr>
        <p:txBody>
          <a:bodyPr wrap="square" lIns="0" tIns="0" rIns="0" bIns="0" rtlCol="0" anchor="ctr"/>
          <a:lstStyle/>
          <a:p>
            <a:pPr algn="ctr" indent="0" marL="0">
              <a:buNone/>
            </a:pPr>
            <a:r>
              <a:rPr lang="en-US" sz="1300" b="1" dirty="0">
                <a:solidFill>
                  <a:srgbClr val="0D0E12"/>
                </a:solidFill>
                <a:latin typeface="Arial" pitchFamily="34" charset="0"/>
                <a:ea typeface="Arial" pitchFamily="34" charset="-122"/>
                <a:cs typeface="Arial" pitchFamily="34" charset="-120"/>
              </a:rPr>
              <a:t>S</a:t>
            </a:r>
            <a:endParaRPr lang="en-US" sz="1300" dirty="0"/>
          </a:p>
        </p:txBody>
      </p:sp>
      <p:sp>
        <p:nvSpPr>
          <p:cNvPr id="3" name="chrome-kicker"/>
          <p:cNvSpPr/>
          <p:nvPr/>
        </p:nvSpPr>
        <p:spPr>
          <a:xfrm>
            <a:off x="914400" y="329184"/>
            <a:ext cx="8229600" cy="274320"/>
          </a:xfrm>
          <a:prstGeom prst="rect">
            <a:avLst/>
          </a:prstGeom>
          <a:noFill/>
          <a:ln/>
        </p:spPr>
        <p:txBody>
          <a:bodyPr wrap="square" lIns="0" tIns="0" rIns="0" bIns="0" rtlCol="0" anchor="ctr"/>
          <a:lstStyle/>
          <a:p>
            <a:pPr indent="0" marL="0">
              <a:buNone/>
            </a:pPr>
            <a:r>
              <a:rPr lang="en-US" sz="1050" b="1" spc="300" kern="0" dirty="0">
                <a:solidFill>
                  <a:srgbClr val="95BF47"/>
                </a:solidFill>
                <a:latin typeface="Arial" pitchFamily="34" charset="0"/>
                <a:ea typeface="Arial" pitchFamily="34" charset="-122"/>
                <a:cs typeface="Arial" pitchFamily="34" charset="-120"/>
              </a:rPr>
              <a:t>TEIL 4 · DIGITALE PRODUKTE</a:t>
            </a:r>
            <a:endParaRPr lang="en-US" sz="1050" dirty="0"/>
          </a:p>
        </p:txBody>
      </p:sp>
      <p:sp>
        <p:nvSpPr>
          <p:cNvPr id="4" name="chrome-footer"/>
          <p:cNvSpPr/>
          <p:nvPr/>
        </p:nvSpPr>
        <p:spPr>
          <a:xfrm>
            <a:off x="502920" y="6492240"/>
            <a:ext cx="4572000" cy="237744"/>
          </a:xfrm>
          <a:prstGeom prst="rect">
            <a:avLst/>
          </a:prstGeom>
          <a:noFill/>
          <a:ln/>
        </p:spPr>
        <p:txBody>
          <a:bodyPr wrap="square" lIns="0" tIns="0" rIns="0" bIns="0" rtlCol="0" anchor="ctr"/>
          <a:lstStyle/>
          <a:p>
            <a:pPr indent="0" marL="0">
              <a:buNone/>
            </a:pPr>
            <a:r>
              <a:rPr lang="en-US" sz="850" dirty="0">
                <a:solidFill>
                  <a:srgbClr val="5A5F6B"/>
                </a:solidFill>
                <a:latin typeface="Arial" pitchFamily="34" charset="0"/>
                <a:ea typeface="Arial" pitchFamily="34" charset="-122"/>
                <a:cs typeface="Arial" pitchFamily="34" charset="-120"/>
              </a:rPr>
              <a:t>Shopify · E-Commerce · Gruppenarbeit</a:t>
            </a:r>
            <a:endParaRPr lang="en-US" sz="850" dirty="0"/>
          </a:p>
        </p:txBody>
      </p:sp>
      <p:sp>
        <p:nvSpPr>
          <p:cNvPr id="5" name="chrome-page"/>
          <p:cNvSpPr/>
          <p:nvPr/>
        </p:nvSpPr>
        <p:spPr>
          <a:xfrm>
            <a:off x="11430000" y="6492240"/>
            <a:ext cx="256032" cy="237744"/>
          </a:xfrm>
          <a:prstGeom prst="rect">
            <a:avLst/>
          </a:prstGeom>
          <a:noFill/>
          <a:ln/>
        </p:spPr>
        <p:txBody>
          <a:bodyPr wrap="square" lIns="0" tIns="0" rIns="0" bIns="0" rtlCol="0" anchor="ctr"/>
          <a:lstStyle/>
          <a:p>
            <a:pPr algn="r" indent="0" marL="0">
              <a:buNone/>
            </a:pPr>
            <a:r>
              <a:rPr lang="en-US" sz="850" dirty="0">
                <a:solidFill>
                  <a:srgbClr val="5A5F6B"/>
                </a:solidFill>
                <a:latin typeface="Arial" pitchFamily="34" charset="0"/>
                <a:ea typeface="Arial" pitchFamily="34" charset="-122"/>
                <a:cs typeface="Arial" pitchFamily="34" charset="-120"/>
              </a:rPr>
              <a:t>5</a:t>
            </a:r>
            <a:endParaRPr lang="en-US" sz="850" dirty="0"/>
          </a:p>
        </p:txBody>
      </p:sp>
      <p:sp>
        <p:nvSpPr>
          <p:cNvPr id="6" name="Text 4"/>
          <p:cNvSpPr/>
          <p:nvPr/>
        </p:nvSpPr>
        <p:spPr>
          <a:xfrm>
            <a:off x="502920" y="713232"/>
            <a:ext cx="11155680" cy="566928"/>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So verkaufst du digitale Produkte auf Shopify</a:t>
            </a:r>
            <a:endParaRPr lang="en-US" sz="3300" dirty="0"/>
          </a:p>
        </p:txBody>
      </p:sp>
      <p:sp>
        <p:nvSpPr>
          <p:cNvPr id="7" name="Text 5"/>
          <p:cNvSpPr/>
          <p:nvPr/>
        </p:nvSpPr>
        <p:spPr>
          <a:xfrm>
            <a:off x="502920" y="1764792"/>
            <a:ext cx="329184" cy="329184"/>
          </a:xfrm>
          <a:prstGeom prst="ellipse">
            <a:avLst/>
          </a:prstGeom>
          <a:solidFill>
            <a:srgbClr val="95BF47"/>
          </a:solidFill>
          <a:ln/>
        </p:spPr>
        <p:txBody>
          <a:bodyPr wrap="square" lIns="0" tIns="0" rIns="0" bIns="0" rtlCol="0" anchor="ctr"/>
          <a:lstStyle/>
          <a:p>
            <a:pPr algn="ctr" indent="0" marL="0">
              <a:buNone/>
            </a:pPr>
            <a:r>
              <a:rPr lang="en-US" sz="1200" b="1" dirty="0">
                <a:solidFill>
                  <a:srgbClr val="0D0E12"/>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1024128" y="1691640"/>
            <a:ext cx="5120640" cy="96012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App installieren</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„Digital Downloads“ – die offizielle App von Shopify, gratis.</a:t>
            </a:r>
            <a:endParaRPr lang="en-US" sz="1350" dirty="0"/>
          </a:p>
        </p:txBody>
      </p:sp>
      <p:sp>
        <p:nvSpPr>
          <p:cNvPr id="9" name="Text 7"/>
          <p:cNvSpPr/>
          <p:nvPr/>
        </p:nvSpPr>
        <p:spPr>
          <a:xfrm>
            <a:off x="502920" y="2880360"/>
            <a:ext cx="329184" cy="329184"/>
          </a:xfrm>
          <a:prstGeom prst="ellipse">
            <a:avLst/>
          </a:prstGeom>
          <a:solidFill>
            <a:srgbClr val="95BF47"/>
          </a:solidFill>
          <a:ln/>
        </p:spPr>
        <p:txBody>
          <a:bodyPr wrap="square" lIns="0" tIns="0" rIns="0" bIns="0" rtlCol="0" anchor="ctr"/>
          <a:lstStyle/>
          <a:p>
            <a:pPr algn="ctr" indent="0" marL="0">
              <a:buNone/>
            </a:pPr>
            <a:r>
              <a:rPr lang="en-US" sz="1200" b="1" dirty="0">
                <a:solidFill>
                  <a:srgbClr val="0D0E12"/>
                </a:solidFill>
                <a:latin typeface="Arial" pitchFamily="34" charset="0"/>
                <a:ea typeface="Arial" pitchFamily="34" charset="-122"/>
                <a:cs typeface="Arial" pitchFamily="34" charset="-120"/>
              </a:rPr>
              <a:t>2</a:t>
            </a:r>
            <a:endParaRPr lang="en-US" sz="1200" dirty="0"/>
          </a:p>
        </p:txBody>
      </p:sp>
      <p:sp>
        <p:nvSpPr>
          <p:cNvPr id="10" name="Text 8"/>
          <p:cNvSpPr/>
          <p:nvPr/>
        </p:nvSpPr>
        <p:spPr>
          <a:xfrm>
            <a:off x="1024128" y="2807208"/>
            <a:ext cx="5120640" cy="96012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Datei hochladen</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PDF, ZIP, MP3 oder Video einfach ans Produkt anhängen.</a:t>
            </a:r>
            <a:endParaRPr lang="en-US" sz="1350" dirty="0"/>
          </a:p>
        </p:txBody>
      </p:sp>
      <p:sp>
        <p:nvSpPr>
          <p:cNvPr id="11" name="Text 9"/>
          <p:cNvSpPr/>
          <p:nvPr/>
        </p:nvSpPr>
        <p:spPr>
          <a:xfrm>
            <a:off x="502920" y="3995928"/>
            <a:ext cx="329184" cy="329184"/>
          </a:xfrm>
          <a:prstGeom prst="ellipse">
            <a:avLst/>
          </a:prstGeom>
          <a:solidFill>
            <a:srgbClr val="95BF47"/>
          </a:solidFill>
          <a:ln/>
        </p:spPr>
        <p:txBody>
          <a:bodyPr wrap="square" lIns="0" tIns="0" rIns="0" bIns="0" rtlCol="0" anchor="ctr"/>
          <a:lstStyle/>
          <a:p>
            <a:pPr algn="ctr" indent="0" marL="0">
              <a:buNone/>
            </a:pPr>
            <a:r>
              <a:rPr lang="en-US" sz="1200" b="1" dirty="0">
                <a:solidFill>
                  <a:srgbClr val="0D0E12"/>
                </a:solidFill>
                <a:latin typeface="Arial" pitchFamily="34" charset="0"/>
                <a:ea typeface="Arial" pitchFamily="34" charset="-122"/>
                <a:cs typeface="Arial" pitchFamily="34" charset="-120"/>
              </a:rPr>
              <a:t>3</a:t>
            </a:r>
            <a:endParaRPr lang="en-US" sz="1200" dirty="0"/>
          </a:p>
        </p:txBody>
      </p:sp>
      <p:sp>
        <p:nvSpPr>
          <p:cNvPr id="12" name="Text 10"/>
          <p:cNvSpPr/>
          <p:nvPr/>
        </p:nvSpPr>
        <p:spPr>
          <a:xfrm>
            <a:off x="1024128" y="3922776"/>
            <a:ext cx="5120640" cy="96012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Versand ausschalten</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Haken setzen bei „kein physisches Produkt“ – nichts zu verschicken.</a:t>
            </a:r>
            <a:endParaRPr lang="en-US" sz="1350" dirty="0"/>
          </a:p>
        </p:txBody>
      </p:sp>
      <p:sp>
        <p:nvSpPr>
          <p:cNvPr id="13" name="Text 11"/>
          <p:cNvSpPr/>
          <p:nvPr/>
        </p:nvSpPr>
        <p:spPr>
          <a:xfrm>
            <a:off x="502920" y="5111496"/>
            <a:ext cx="329184" cy="329184"/>
          </a:xfrm>
          <a:prstGeom prst="ellipse">
            <a:avLst/>
          </a:prstGeom>
          <a:solidFill>
            <a:srgbClr val="95BF47"/>
          </a:solidFill>
          <a:ln/>
        </p:spPr>
        <p:txBody>
          <a:bodyPr wrap="square" lIns="0" tIns="0" rIns="0" bIns="0" rtlCol="0" anchor="ctr"/>
          <a:lstStyle/>
          <a:p>
            <a:pPr algn="ctr" indent="0" marL="0">
              <a:buNone/>
            </a:pPr>
            <a:r>
              <a:rPr lang="en-US" sz="1200" b="1" dirty="0">
                <a:solidFill>
                  <a:srgbClr val="0D0E12"/>
                </a:solidFill>
                <a:latin typeface="Arial" pitchFamily="34" charset="0"/>
                <a:ea typeface="Arial" pitchFamily="34" charset="-122"/>
                <a:cs typeface="Arial" pitchFamily="34" charset="-120"/>
              </a:rPr>
              <a:t>4</a:t>
            </a:r>
            <a:endParaRPr lang="en-US" sz="1200" dirty="0"/>
          </a:p>
        </p:txBody>
      </p:sp>
      <p:sp>
        <p:nvSpPr>
          <p:cNvPr id="14" name="Text 12"/>
          <p:cNvSpPr/>
          <p:nvPr/>
        </p:nvSpPr>
        <p:spPr>
          <a:xfrm>
            <a:off x="1024128" y="5038344"/>
            <a:ext cx="5120640" cy="960120"/>
          </a:xfrm>
          <a:prstGeom prst="rect">
            <a:avLst/>
          </a:prstGeom>
          <a:noFill/>
          <a:ln/>
        </p:spPr>
        <p:txBody>
          <a:bodyPr wrap="square" lIns="0" tIns="0" rIns="0" bIns="0" rtlCol="0" anchor="t"/>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Fertig – alles automatisch</a:t>
            </a:r>
            <a:endParaRPr lang="en-US" sz="1350" dirty="0"/>
          </a:p>
          <a:p>
            <a:pPr indent="0" marL="0">
              <a:lnSpc>
                <a:spcPct val="112000"/>
              </a:lnSpc>
              <a:buNone/>
            </a:pPr>
            <a:r>
              <a:rPr lang="en-US" sz="1100" dirty="0">
                <a:solidFill>
                  <a:srgbClr val="9AA0AC"/>
                </a:solidFill>
                <a:latin typeface="Arial" pitchFamily="34" charset="0"/>
                <a:ea typeface="Arial" pitchFamily="34" charset="-122"/>
                <a:cs typeface="Arial" pitchFamily="34" charset="-120"/>
              </a:rPr>
              <a:t>Kunde zahlt und erhält den Download-Link sofort per E-Mail.</a:t>
            </a:r>
            <a:endParaRPr lang="en-US" sz="1350" dirty="0"/>
          </a:p>
        </p:txBody>
      </p:sp>
      <p:sp>
        <p:nvSpPr>
          <p:cNvPr id="15" name="Text 13"/>
          <p:cNvSpPr/>
          <p:nvPr/>
        </p:nvSpPr>
        <p:spPr>
          <a:xfrm>
            <a:off x="6537960" y="1645920"/>
            <a:ext cx="5120640" cy="274320"/>
          </a:xfrm>
          <a:prstGeom prst="rect">
            <a:avLst/>
          </a:prstGeom>
          <a:noFill/>
          <a:ln/>
        </p:spPr>
        <p:txBody>
          <a:bodyPr wrap="square" lIns="0" tIns="0" rIns="0" bIns="0" rtlCol="0" anchor="ctr"/>
          <a:lstStyle/>
          <a:p>
            <a:pPr indent="0" marL="0">
              <a:buNone/>
            </a:pPr>
            <a:r>
              <a:rPr lang="en-US" sz="1200" b="1" dirty="0">
                <a:solidFill>
                  <a:srgbClr val="C7CBD4"/>
                </a:solidFill>
                <a:latin typeface="Arial" pitchFamily="34" charset="0"/>
                <a:ea typeface="Arial" pitchFamily="34" charset="-122"/>
                <a:cs typeface="Arial" pitchFamily="34" charset="-120"/>
              </a:rPr>
              <a:t>Was sich verkauft (typische Preise):</a:t>
            </a:r>
            <a:endParaRPr lang="en-US" sz="1200" dirty="0"/>
          </a:p>
        </p:txBody>
      </p:sp>
      <p:sp>
        <p:nvSpPr>
          <p:cNvPr id="16" name="Shape 14"/>
          <p:cNvSpPr/>
          <p:nvPr/>
        </p:nvSpPr>
        <p:spPr>
          <a:xfrm>
            <a:off x="6537960" y="2057400"/>
            <a:ext cx="2478024" cy="1371600"/>
          </a:xfrm>
          <a:prstGeom prst="roundRect">
            <a:avLst>
              <a:gd name="adj" fmla="val 6000"/>
            </a:avLst>
          </a:prstGeom>
          <a:solidFill>
            <a:srgbClr val="16181F"/>
          </a:solidFill>
          <a:ln w="9525">
            <a:solidFill>
              <a:srgbClr val="262933"/>
            </a:solidFill>
            <a:prstDash val="solid"/>
          </a:ln>
        </p:spPr>
      </p:sp>
      <p:sp>
        <p:nvSpPr>
          <p:cNvPr id="17" name="Text 15"/>
          <p:cNvSpPr/>
          <p:nvPr/>
        </p:nvSpPr>
        <p:spPr>
          <a:xfrm>
            <a:off x="6739128" y="2240280"/>
            <a:ext cx="2075688" cy="685800"/>
          </a:xfrm>
          <a:prstGeom prst="rect">
            <a:avLst/>
          </a:prstGeom>
          <a:noFill/>
          <a:ln/>
        </p:spPr>
        <p:txBody>
          <a:bodyPr wrap="square" lIns="0" tIns="0" rIns="0" bIns="0" rtlCol="0" anchor="ctr"/>
          <a:lstStyle/>
          <a:p>
            <a:pPr indent="0" marL="0">
              <a:lnSpc>
                <a:spcPct val="110000"/>
              </a:lnSpc>
              <a:buNone/>
            </a:pPr>
            <a:r>
              <a:rPr lang="en-US" sz="1200" b="1" dirty="0">
                <a:solidFill>
                  <a:srgbClr val="FFFFFF"/>
                </a:solidFill>
                <a:latin typeface="Arial" pitchFamily="34" charset="0"/>
                <a:ea typeface="Arial" pitchFamily="34" charset="-122"/>
                <a:cs typeface="Arial" pitchFamily="34" charset="-120"/>
              </a:rPr>
              <a:t>E-Books &amp; Guides</a:t>
            </a:r>
            <a:endParaRPr lang="en-US" sz="1200" dirty="0"/>
          </a:p>
        </p:txBody>
      </p:sp>
      <p:sp>
        <p:nvSpPr>
          <p:cNvPr id="18" name="Text 16"/>
          <p:cNvSpPr/>
          <p:nvPr/>
        </p:nvSpPr>
        <p:spPr>
          <a:xfrm>
            <a:off x="6739128" y="2990088"/>
            <a:ext cx="2075688" cy="320040"/>
          </a:xfrm>
          <a:prstGeom prst="rect">
            <a:avLst/>
          </a:prstGeom>
          <a:noFill/>
          <a:ln/>
        </p:spPr>
        <p:txBody>
          <a:bodyPr wrap="square" lIns="0" tIns="0" rIns="0" bIns="0" rtlCol="0" anchor="ctr"/>
          <a:lstStyle/>
          <a:p>
            <a:pPr indent="0" marL="0">
              <a:buNone/>
            </a:pPr>
            <a:r>
              <a:rPr lang="en-US" sz="1300" b="1" dirty="0">
                <a:solidFill>
                  <a:srgbClr val="95BF47"/>
                </a:solidFill>
                <a:latin typeface="Arial" pitchFamily="34" charset="0"/>
                <a:ea typeface="Arial" pitchFamily="34" charset="-122"/>
                <a:cs typeface="Arial" pitchFamily="34" charset="-120"/>
              </a:rPr>
              <a:t>9 – 49 €</a:t>
            </a:r>
            <a:endParaRPr lang="en-US" sz="1300" dirty="0"/>
          </a:p>
        </p:txBody>
      </p:sp>
      <p:sp>
        <p:nvSpPr>
          <p:cNvPr id="19" name="Shape 17"/>
          <p:cNvSpPr/>
          <p:nvPr/>
        </p:nvSpPr>
        <p:spPr>
          <a:xfrm>
            <a:off x="9180576" y="2057400"/>
            <a:ext cx="2478024" cy="1371600"/>
          </a:xfrm>
          <a:prstGeom prst="roundRect">
            <a:avLst>
              <a:gd name="adj" fmla="val 6000"/>
            </a:avLst>
          </a:prstGeom>
          <a:solidFill>
            <a:srgbClr val="16181F"/>
          </a:solidFill>
          <a:ln w="9525">
            <a:solidFill>
              <a:srgbClr val="262933"/>
            </a:solidFill>
            <a:prstDash val="solid"/>
          </a:ln>
        </p:spPr>
      </p:sp>
      <p:sp>
        <p:nvSpPr>
          <p:cNvPr id="20" name="Text 18"/>
          <p:cNvSpPr/>
          <p:nvPr/>
        </p:nvSpPr>
        <p:spPr>
          <a:xfrm>
            <a:off x="9381744" y="2240280"/>
            <a:ext cx="2075688" cy="685800"/>
          </a:xfrm>
          <a:prstGeom prst="rect">
            <a:avLst/>
          </a:prstGeom>
          <a:noFill/>
          <a:ln/>
        </p:spPr>
        <p:txBody>
          <a:bodyPr wrap="square" lIns="0" tIns="0" rIns="0" bIns="0" rtlCol="0" anchor="ctr"/>
          <a:lstStyle/>
          <a:p>
            <a:pPr indent="0" marL="0">
              <a:lnSpc>
                <a:spcPct val="110000"/>
              </a:lnSpc>
              <a:buNone/>
            </a:pPr>
            <a:r>
              <a:rPr lang="en-US" sz="1200" b="1" dirty="0">
                <a:solidFill>
                  <a:srgbClr val="FFFFFF"/>
                </a:solidFill>
                <a:latin typeface="Arial" pitchFamily="34" charset="0"/>
                <a:ea typeface="Arial" pitchFamily="34" charset="-122"/>
                <a:cs typeface="Arial" pitchFamily="34" charset="-120"/>
              </a:rPr>
              <a:t>Online-Kurse</a:t>
            </a:r>
            <a:endParaRPr lang="en-US" sz="1200" dirty="0"/>
          </a:p>
        </p:txBody>
      </p:sp>
      <p:sp>
        <p:nvSpPr>
          <p:cNvPr id="21" name="Text 19"/>
          <p:cNvSpPr/>
          <p:nvPr/>
        </p:nvSpPr>
        <p:spPr>
          <a:xfrm>
            <a:off x="9381744" y="2990088"/>
            <a:ext cx="2075688" cy="320040"/>
          </a:xfrm>
          <a:prstGeom prst="rect">
            <a:avLst/>
          </a:prstGeom>
          <a:noFill/>
          <a:ln/>
        </p:spPr>
        <p:txBody>
          <a:bodyPr wrap="square" lIns="0" tIns="0" rIns="0" bIns="0" rtlCol="0" anchor="ctr"/>
          <a:lstStyle/>
          <a:p>
            <a:pPr indent="0" marL="0">
              <a:buNone/>
            </a:pPr>
            <a:r>
              <a:rPr lang="en-US" sz="1300" b="1" dirty="0">
                <a:solidFill>
                  <a:srgbClr val="95BF47"/>
                </a:solidFill>
                <a:latin typeface="Arial" pitchFamily="34" charset="0"/>
                <a:ea typeface="Arial" pitchFamily="34" charset="-122"/>
                <a:cs typeface="Arial" pitchFamily="34" charset="-120"/>
              </a:rPr>
              <a:t>49 – 299 €</a:t>
            </a:r>
            <a:endParaRPr lang="en-US" sz="1300" dirty="0"/>
          </a:p>
        </p:txBody>
      </p:sp>
      <p:sp>
        <p:nvSpPr>
          <p:cNvPr id="22" name="Shape 20"/>
          <p:cNvSpPr/>
          <p:nvPr/>
        </p:nvSpPr>
        <p:spPr>
          <a:xfrm>
            <a:off x="6537960" y="3593592"/>
            <a:ext cx="2478024" cy="1371600"/>
          </a:xfrm>
          <a:prstGeom prst="roundRect">
            <a:avLst>
              <a:gd name="adj" fmla="val 6000"/>
            </a:avLst>
          </a:prstGeom>
          <a:solidFill>
            <a:srgbClr val="16181F"/>
          </a:solidFill>
          <a:ln w="9525">
            <a:solidFill>
              <a:srgbClr val="262933"/>
            </a:solidFill>
            <a:prstDash val="solid"/>
          </a:ln>
        </p:spPr>
      </p:sp>
      <p:sp>
        <p:nvSpPr>
          <p:cNvPr id="23" name="Text 21"/>
          <p:cNvSpPr/>
          <p:nvPr/>
        </p:nvSpPr>
        <p:spPr>
          <a:xfrm>
            <a:off x="6739128" y="3776472"/>
            <a:ext cx="2075688" cy="685800"/>
          </a:xfrm>
          <a:prstGeom prst="rect">
            <a:avLst/>
          </a:prstGeom>
          <a:noFill/>
          <a:ln/>
        </p:spPr>
        <p:txBody>
          <a:bodyPr wrap="square" lIns="0" tIns="0" rIns="0" bIns="0" rtlCol="0" anchor="ctr"/>
          <a:lstStyle/>
          <a:p>
            <a:pPr indent="0" marL="0">
              <a:lnSpc>
                <a:spcPct val="110000"/>
              </a:lnSpc>
              <a:buNone/>
            </a:pPr>
            <a:r>
              <a:rPr lang="en-US" sz="1200" b="1" dirty="0">
                <a:solidFill>
                  <a:srgbClr val="FFFFFF"/>
                </a:solidFill>
                <a:latin typeface="Arial" pitchFamily="34" charset="0"/>
                <a:ea typeface="Arial" pitchFamily="34" charset="-122"/>
                <a:cs typeface="Arial" pitchFamily="34" charset="-120"/>
              </a:rPr>
              <a:t>Templates (Canva, Notion, CV)</a:t>
            </a:r>
            <a:endParaRPr lang="en-US" sz="1200" dirty="0"/>
          </a:p>
        </p:txBody>
      </p:sp>
      <p:sp>
        <p:nvSpPr>
          <p:cNvPr id="24" name="Text 22"/>
          <p:cNvSpPr/>
          <p:nvPr/>
        </p:nvSpPr>
        <p:spPr>
          <a:xfrm>
            <a:off x="6739128" y="4526280"/>
            <a:ext cx="2075688" cy="320040"/>
          </a:xfrm>
          <a:prstGeom prst="rect">
            <a:avLst/>
          </a:prstGeom>
          <a:noFill/>
          <a:ln/>
        </p:spPr>
        <p:txBody>
          <a:bodyPr wrap="square" lIns="0" tIns="0" rIns="0" bIns="0" rtlCol="0" anchor="ctr"/>
          <a:lstStyle/>
          <a:p>
            <a:pPr indent="0" marL="0">
              <a:buNone/>
            </a:pPr>
            <a:r>
              <a:rPr lang="en-US" sz="1300" b="1" dirty="0">
                <a:solidFill>
                  <a:srgbClr val="95BF47"/>
                </a:solidFill>
                <a:latin typeface="Arial" pitchFamily="34" charset="0"/>
                <a:ea typeface="Arial" pitchFamily="34" charset="-122"/>
                <a:cs typeface="Arial" pitchFamily="34" charset="-120"/>
              </a:rPr>
              <a:t>29 – 149 €</a:t>
            </a:r>
            <a:endParaRPr lang="en-US" sz="1300" dirty="0"/>
          </a:p>
        </p:txBody>
      </p:sp>
      <p:sp>
        <p:nvSpPr>
          <p:cNvPr id="25" name="Shape 23"/>
          <p:cNvSpPr/>
          <p:nvPr/>
        </p:nvSpPr>
        <p:spPr>
          <a:xfrm>
            <a:off x="9180576" y="3593592"/>
            <a:ext cx="2478024" cy="1371600"/>
          </a:xfrm>
          <a:prstGeom prst="roundRect">
            <a:avLst>
              <a:gd name="adj" fmla="val 6000"/>
            </a:avLst>
          </a:prstGeom>
          <a:solidFill>
            <a:srgbClr val="16181F"/>
          </a:solidFill>
          <a:ln w="9525">
            <a:solidFill>
              <a:srgbClr val="262933"/>
            </a:solidFill>
            <a:prstDash val="solid"/>
          </a:ln>
        </p:spPr>
      </p:sp>
      <p:sp>
        <p:nvSpPr>
          <p:cNvPr id="26" name="Text 24"/>
          <p:cNvSpPr/>
          <p:nvPr/>
        </p:nvSpPr>
        <p:spPr>
          <a:xfrm>
            <a:off x="9381744" y="3776472"/>
            <a:ext cx="2075688" cy="685800"/>
          </a:xfrm>
          <a:prstGeom prst="rect">
            <a:avLst/>
          </a:prstGeom>
          <a:noFill/>
          <a:ln/>
        </p:spPr>
        <p:txBody>
          <a:bodyPr wrap="square" lIns="0" tIns="0" rIns="0" bIns="0" rtlCol="0" anchor="ctr"/>
          <a:lstStyle/>
          <a:p>
            <a:pPr indent="0" marL="0">
              <a:lnSpc>
                <a:spcPct val="110000"/>
              </a:lnSpc>
              <a:buNone/>
            </a:pPr>
            <a:r>
              <a:rPr lang="en-US" sz="1200" b="1" dirty="0">
                <a:solidFill>
                  <a:srgbClr val="FFFFFF"/>
                </a:solidFill>
                <a:latin typeface="Arial" pitchFamily="34" charset="0"/>
                <a:ea typeface="Arial" pitchFamily="34" charset="-122"/>
                <a:cs typeface="Arial" pitchFamily="34" charset="-120"/>
              </a:rPr>
              <a:t>Presets, Musik &amp; Fotos</a:t>
            </a:r>
            <a:endParaRPr lang="en-US" sz="1200" dirty="0"/>
          </a:p>
        </p:txBody>
      </p:sp>
      <p:sp>
        <p:nvSpPr>
          <p:cNvPr id="27" name="Text 25"/>
          <p:cNvSpPr/>
          <p:nvPr/>
        </p:nvSpPr>
        <p:spPr>
          <a:xfrm>
            <a:off x="9381744" y="4526280"/>
            <a:ext cx="2075688" cy="320040"/>
          </a:xfrm>
          <a:prstGeom prst="rect">
            <a:avLst/>
          </a:prstGeom>
          <a:noFill/>
          <a:ln/>
        </p:spPr>
        <p:txBody>
          <a:bodyPr wrap="square" lIns="0" tIns="0" rIns="0" bIns="0" rtlCol="0" anchor="ctr"/>
          <a:lstStyle/>
          <a:p>
            <a:pPr indent="0" marL="0">
              <a:buNone/>
            </a:pPr>
            <a:r>
              <a:rPr lang="en-US" sz="1300" b="1" dirty="0">
                <a:solidFill>
                  <a:srgbClr val="95BF47"/>
                </a:solidFill>
                <a:latin typeface="Arial" pitchFamily="34" charset="0"/>
                <a:ea typeface="Arial" pitchFamily="34" charset="-122"/>
                <a:cs typeface="Arial" pitchFamily="34" charset="-120"/>
              </a:rPr>
              <a:t>5 – 99 €</a:t>
            </a:r>
            <a:endParaRPr lang="en-US" sz="1300" dirty="0"/>
          </a:p>
        </p:txBody>
      </p:sp>
      <p:sp>
        <p:nvSpPr>
          <p:cNvPr id="28" name="Shape 26"/>
          <p:cNvSpPr/>
          <p:nvPr/>
        </p:nvSpPr>
        <p:spPr>
          <a:xfrm>
            <a:off x="6537960" y="5257800"/>
            <a:ext cx="5120640" cy="914400"/>
          </a:xfrm>
          <a:prstGeom prst="roundRect">
            <a:avLst>
              <a:gd name="adj" fmla="val 9000"/>
            </a:avLst>
          </a:prstGeom>
          <a:solidFill>
            <a:srgbClr val="1C1F28"/>
          </a:solidFill>
          <a:ln w="12700">
            <a:solidFill>
              <a:srgbClr val="5E8E3E"/>
            </a:solidFill>
            <a:prstDash val="solid"/>
          </a:ln>
        </p:spPr>
      </p:sp>
      <p:sp>
        <p:nvSpPr>
          <p:cNvPr id="29" name="Text 27"/>
          <p:cNvSpPr/>
          <p:nvPr/>
        </p:nvSpPr>
        <p:spPr>
          <a:xfrm>
            <a:off x="6766560" y="5349240"/>
            <a:ext cx="4663440" cy="731520"/>
          </a:xfrm>
          <a:prstGeom prst="rect">
            <a:avLst/>
          </a:prstGeom>
          <a:noFill/>
          <a:ln/>
        </p:spPr>
        <p:txBody>
          <a:bodyPr wrap="square" lIns="0" tIns="0" rIns="0" bIns="0" rtlCol="0" anchor="ctr"/>
          <a:lstStyle/>
          <a:p>
            <a:pPr indent="0" marL="0">
              <a:lnSpc>
                <a:spcPct val="115000"/>
              </a:lnSpc>
              <a:buNone/>
            </a:pPr>
            <a:r>
              <a:rPr lang="en-US" sz="1150" b="1" dirty="0">
                <a:solidFill>
                  <a:srgbClr val="95BF47"/>
                </a:solidFill>
                <a:latin typeface="Arial" pitchFamily="34" charset="0"/>
                <a:ea typeface="Arial" pitchFamily="34" charset="-122"/>
                <a:cs typeface="Arial" pitchFamily="34" charset="-120"/>
              </a:rPr>
              <a:t>Unsere Idee: </a:t>
            </a:r>
            <a:pPr indent="0" marL="0">
              <a:lnSpc>
                <a:spcPct val="115000"/>
              </a:lnSpc>
              <a:buNone/>
            </a:pPr>
            <a:r>
              <a:rPr lang="en-US" sz="1150" i="1" dirty="0">
                <a:solidFill>
                  <a:srgbClr val="C7CBD4"/>
                </a:solidFill>
                <a:latin typeface="Arial" pitchFamily="34" charset="0"/>
                <a:ea typeface="Arial" pitchFamily="34" charset="-122"/>
                <a:cs typeface="Arial" pitchFamily="34" charset="-120"/>
              </a:rPr>
              <a:t>eine Lernzusammenfassung als PDF für 5 € – jede:r von uns könnte damit morgen starten.</a:t>
            </a:r>
            <a:endParaRPr lang="en-US" sz="11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6" fill="hold">
                      <p:stCondLst>
                        <p:cond delay="indefinite"/>
                        <p:cond evt="onBegin" delay="0">
                          <p:tn val="2"/>
                        </p:cond>
                      </p:stCondLst>
                      <p:childTnLst>
                        <p:par>
                          <p:cTn id="7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afterEffect">
                                  <p:stCondLst>
                                    <p:cond delay="247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grpId="0" nodeType="afterEffect">
                                  <p:stCondLst>
                                    <p:cond delay="260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afterEffect">
                                  <p:stCondLst>
                                    <p:cond delay="273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grpId="0" nodeType="afterEffect">
                                  <p:stCondLst>
                                    <p:cond delay="286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afterEffect">
                                  <p:stCondLst>
                                    <p:cond delay="299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E12"/>
        </a:solidFill>
      </p:bgPr>
    </p:bg>
    <p:spTree>
      <p:nvGrpSpPr>
        <p:cNvPr id="1" name=""/>
        <p:cNvGrpSpPr/>
        <p:nvPr/>
      </p:nvGrpSpPr>
      <p:grpSpPr>
        <a:xfrm>
          <a:off x="0" y="0"/>
          <a:ext cx="0" cy="0"/>
          <a:chOff x="0" y="0"/>
          <a:chExt cx="0" cy="0"/>
        </a:xfrm>
      </p:grpSpPr>
      <p:sp>
        <p:nvSpPr>
          <p:cNvPr id="2" name="chrome-logo"/>
          <p:cNvSpPr/>
          <p:nvPr/>
        </p:nvSpPr>
        <p:spPr>
          <a:xfrm>
            <a:off x="502920" y="329184"/>
            <a:ext cx="274320" cy="274320"/>
          </a:xfrm>
          <a:prstGeom prst="roundRect">
            <a:avLst>
              <a:gd name="adj" fmla="val 16667"/>
            </a:avLst>
          </a:prstGeom>
          <a:solidFill>
            <a:srgbClr val="95BF47"/>
          </a:solidFill>
          <a:ln/>
        </p:spPr>
        <p:txBody>
          <a:bodyPr wrap="square" lIns="0" tIns="0" rIns="0" bIns="0" rtlCol="0" anchor="ctr"/>
          <a:lstStyle/>
          <a:p>
            <a:pPr algn="ctr" indent="0" marL="0">
              <a:buNone/>
            </a:pPr>
            <a:r>
              <a:rPr lang="en-US" sz="1300" b="1" dirty="0">
                <a:solidFill>
                  <a:srgbClr val="0D0E12"/>
                </a:solidFill>
                <a:latin typeface="Arial" pitchFamily="34" charset="0"/>
                <a:ea typeface="Arial" pitchFamily="34" charset="-122"/>
                <a:cs typeface="Arial" pitchFamily="34" charset="-120"/>
              </a:rPr>
              <a:t>S</a:t>
            </a:r>
            <a:endParaRPr lang="en-US" sz="1300" dirty="0"/>
          </a:p>
        </p:txBody>
      </p:sp>
      <p:sp>
        <p:nvSpPr>
          <p:cNvPr id="3" name="chrome-kicker"/>
          <p:cNvSpPr/>
          <p:nvPr/>
        </p:nvSpPr>
        <p:spPr>
          <a:xfrm>
            <a:off x="914400" y="329184"/>
            <a:ext cx="8229600" cy="274320"/>
          </a:xfrm>
          <a:prstGeom prst="rect">
            <a:avLst/>
          </a:prstGeom>
          <a:noFill/>
          <a:ln/>
        </p:spPr>
        <p:txBody>
          <a:bodyPr wrap="square" lIns="0" tIns="0" rIns="0" bIns="0" rtlCol="0" anchor="ctr"/>
          <a:lstStyle/>
          <a:p>
            <a:pPr indent="0" marL="0">
              <a:buNone/>
            </a:pPr>
            <a:r>
              <a:rPr lang="en-US" sz="1050" b="1" spc="300" kern="0" dirty="0">
                <a:solidFill>
                  <a:srgbClr val="95BF47"/>
                </a:solidFill>
                <a:latin typeface="Arial" pitchFamily="34" charset="0"/>
                <a:ea typeface="Arial" pitchFamily="34" charset="-122"/>
                <a:cs typeface="Arial" pitchFamily="34" charset="-120"/>
              </a:rPr>
              <a:t>TEIL 4 · RECHENBEISPIEL</a:t>
            </a:r>
            <a:endParaRPr lang="en-US" sz="1050" dirty="0"/>
          </a:p>
        </p:txBody>
      </p:sp>
      <p:sp>
        <p:nvSpPr>
          <p:cNvPr id="4" name="chrome-footer"/>
          <p:cNvSpPr/>
          <p:nvPr/>
        </p:nvSpPr>
        <p:spPr>
          <a:xfrm>
            <a:off x="502920" y="6492240"/>
            <a:ext cx="4572000" cy="237744"/>
          </a:xfrm>
          <a:prstGeom prst="rect">
            <a:avLst/>
          </a:prstGeom>
          <a:noFill/>
          <a:ln/>
        </p:spPr>
        <p:txBody>
          <a:bodyPr wrap="square" lIns="0" tIns="0" rIns="0" bIns="0" rtlCol="0" anchor="ctr"/>
          <a:lstStyle/>
          <a:p>
            <a:pPr indent="0" marL="0">
              <a:buNone/>
            </a:pPr>
            <a:r>
              <a:rPr lang="en-US" sz="850" dirty="0">
                <a:solidFill>
                  <a:srgbClr val="5A5F6B"/>
                </a:solidFill>
                <a:latin typeface="Arial" pitchFamily="34" charset="0"/>
                <a:ea typeface="Arial" pitchFamily="34" charset="-122"/>
                <a:cs typeface="Arial" pitchFamily="34" charset="-120"/>
              </a:rPr>
              <a:t>Shopify · E-Commerce · Gruppenarbeit</a:t>
            </a:r>
            <a:endParaRPr lang="en-US" sz="850" dirty="0"/>
          </a:p>
        </p:txBody>
      </p:sp>
      <p:sp>
        <p:nvSpPr>
          <p:cNvPr id="5" name="chrome-page"/>
          <p:cNvSpPr/>
          <p:nvPr/>
        </p:nvSpPr>
        <p:spPr>
          <a:xfrm>
            <a:off x="11430000" y="6492240"/>
            <a:ext cx="256032" cy="237744"/>
          </a:xfrm>
          <a:prstGeom prst="rect">
            <a:avLst/>
          </a:prstGeom>
          <a:noFill/>
          <a:ln/>
        </p:spPr>
        <p:txBody>
          <a:bodyPr wrap="square" lIns="0" tIns="0" rIns="0" bIns="0" rtlCol="0" anchor="ctr"/>
          <a:lstStyle/>
          <a:p>
            <a:pPr algn="r" indent="0" marL="0">
              <a:buNone/>
            </a:pPr>
            <a:r>
              <a:rPr lang="en-US" sz="850" dirty="0">
                <a:solidFill>
                  <a:srgbClr val="5A5F6B"/>
                </a:solidFill>
                <a:latin typeface="Arial" pitchFamily="34" charset="0"/>
                <a:ea typeface="Arial" pitchFamily="34" charset="-122"/>
                <a:cs typeface="Arial" pitchFamily="34" charset="-120"/>
              </a:rPr>
              <a:t>6</a:t>
            </a:r>
            <a:endParaRPr lang="en-US" sz="850" dirty="0"/>
          </a:p>
        </p:txBody>
      </p:sp>
      <p:sp>
        <p:nvSpPr>
          <p:cNvPr id="6" name="Text 4"/>
          <p:cNvSpPr/>
          <p:nvPr/>
        </p:nvSpPr>
        <p:spPr>
          <a:xfrm>
            <a:off x="502920" y="713232"/>
            <a:ext cx="11155680" cy="566928"/>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Rechenbeispiel: Ein E-Book, ein Monat</a:t>
            </a:r>
            <a:endParaRPr lang="en-US" sz="3300" dirty="0"/>
          </a:p>
        </p:txBody>
      </p:sp>
      <p:sp>
        <p:nvSpPr>
          <p:cNvPr id="7" name="Shape 5"/>
          <p:cNvSpPr/>
          <p:nvPr/>
        </p:nvSpPr>
        <p:spPr>
          <a:xfrm>
            <a:off x="502920" y="1645920"/>
            <a:ext cx="4846320" cy="4526280"/>
          </a:xfrm>
          <a:prstGeom prst="roundRect">
            <a:avLst>
              <a:gd name="adj" fmla="val 1818"/>
            </a:avLst>
          </a:prstGeom>
          <a:solidFill>
            <a:srgbClr val="1C1F28"/>
          </a:solidFill>
          <a:ln w="9525">
            <a:solidFill>
              <a:srgbClr val="262933"/>
            </a:solidFill>
            <a:prstDash val="solid"/>
          </a:ln>
        </p:spPr>
      </p:sp>
      <p:sp>
        <p:nvSpPr>
          <p:cNvPr id="8" name="Text 6"/>
          <p:cNvSpPr/>
          <p:nvPr/>
        </p:nvSpPr>
        <p:spPr>
          <a:xfrm>
            <a:off x="822960" y="1874520"/>
            <a:ext cx="420624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E-Book „Prüfungs-Guide“</a:t>
            </a:r>
            <a:endParaRPr lang="en-US" sz="1500" dirty="0"/>
          </a:p>
        </p:txBody>
      </p:sp>
      <p:sp>
        <p:nvSpPr>
          <p:cNvPr id="9" name="Text 7"/>
          <p:cNvSpPr/>
          <p:nvPr/>
        </p:nvSpPr>
        <p:spPr>
          <a:xfrm>
            <a:off x="822960" y="2240280"/>
            <a:ext cx="4206240" cy="320040"/>
          </a:xfrm>
          <a:prstGeom prst="rect">
            <a:avLst/>
          </a:prstGeom>
          <a:noFill/>
          <a:ln/>
        </p:spPr>
        <p:txBody>
          <a:bodyPr wrap="square" lIns="0" tIns="0" rIns="0" bIns="0" rtlCol="0" anchor="ctr"/>
          <a:lstStyle/>
          <a:p>
            <a:pPr indent="0" marL="0">
              <a:buNone/>
            </a:pPr>
            <a:r>
              <a:rPr lang="en-US" sz="1250" dirty="0">
                <a:solidFill>
                  <a:srgbClr val="9AA0AC"/>
                </a:solidFill>
                <a:latin typeface="Arial" pitchFamily="34" charset="0"/>
                <a:ea typeface="Arial" pitchFamily="34" charset="-122"/>
                <a:cs typeface="Arial" pitchFamily="34" charset="-120"/>
              </a:rPr>
              <a:t>19 € × 100 Verkäufe im Monat</a:t>
            </a:r>
            <a:endParaRPr lang="en-US" sz="1250" dirty="0"/>
          </a:p>
        </p:txBody>
      </p:sp>
      <p:sp>
        <p:nvSpPr>
          <p:cNvPr id="10" name="Text 8"/>
          <p:cNvSpPr/>
          <p:nvPr/>
        </p:nvSpPr>
        <p:spPr>
          <a:xfrm>
            <a:off x="822960" y="2606040"/>
            <a:ext cx="4206240" cy="502920"/>
          </a:xfrm>
          <a:prstGeom prst="rect">
            <a:avLst/>
          </a:prstGeom>
          <a:noFill/>
          <a:ln/>
        </p:spPr>
        <p:txBody>
          <a:bodyPr wrap="square" lIns="0" tIns="0" rIns="0" bIns="0" rtlCol="0" anchor="ctr"/>
          <a:lstStyle/>
          <a:p>
            <a:pPr indent="0" marL="0">
              <a:buNone/>
            </a:pPr>
            <a:r>
              <a:rPr lang="en-US" sz="2200" b="1" dirty="0">
                <a:solidFill>
                  <a:srgbClr val="C7CBD4"/>
                </a:solidFill>
                <a:latin typeface="Arial" pitchFamily="34" charset="0"/>
                <a:ea typeface="Arial" pitchFamily="34" charset="-122"/>
                <a:cs typeface="Arial" pitchFamily="34" charset="-120"/>
              </a:rPr>
              <a:t>= 1'900 € Umsatz</a:t>
            </a:r>
            <a:endParaRPr lang="en-US" sz="2200" dirty="0"/>
          </a:p>
        </p:txBody>
      </p:sp>
      <p:sp>
        <p:nvSpPr>
          <p:cNvPr id="11" name="Shape 9"/>
          <p:cNvSpPr/>
          <p:nvPr/>
        </p:nvSpPr>
        <p:spPr>
          <a:xfrm>
            <a:off x="822960" y="3246120"/>
            <a:ext cx="4206240" cy="0"/>
          </a:xfrm>
          <a:prstGeom prst="line">
            <a:avLst/>
          </a:prstGeom>
          <a:noFill/>
          <a:ln w="9525">
            <a:solidFill>
              <a:srgbClr val="262933"/>
            </a:solidFill>
            <a:prstDash val="solid"/>
          </a:ln>
        </p:spPr>
      </p:sp>
      <p:sp>
        <p:nvSpPr>
          <p:cNvPr id="12" name="Text 10"/>
          <p:cNvSpPr/>
          <p:nvPr/>
        </p:nvSpPr>
        <p:spPr>
          <a:xfrm>
            <a:off x="822960" y="3383280"/>
            <a:ext cx="4206240" cy="320040"/>
          </a:xfrm>
          <a:prstGeom prst="rect">
            <a:avLst/>
          </a:prstGeom>
          <a:noFill/>
          <a:ln/>
        </p:spPr>
        <p:txBody>
          <a:bodyPr wrap="square" lIns="0" tIns="0" rIns="0" bIns="0" rtlCol="0" anchor="ctr"/>
          <a:lstStyle/>
          <a:p>
            <a:pPr indent="0" marL="0">
              <a:buNone/>
            </a:pPr>
            <a:r>
              <a:rPr lang="en-US" sz="1250" dirty="0">
                <a:solidFill>
                  <a:srgbClr val="9AA0AC"/>
                </a:solidFill>
                <a:latin typeface="Arial" pitchFamily="34" charset="0"/>
                <a:ea typeface="Arial" pitchFamily="34" charset="-122"/>
                <a:cs typeface="Arial" pitchFamily="34" charset="-120"/>
              </a:rPr>
              <a:t>−   36 €  Shopify Basic</a:t>
            </a:r>
            <a:endParaRPr lang="en-US" sz="1250" dirty="0"/>
          </a:p>
        </p:txBody>
      </p:sp>
      <p:sp>
        <p:nvSpPr>
          <p:cNvPr id="13" name="Text 11"/>
          <p:cNvSpPr/>
          <p:nvPr/>
        </p:nvSpPr>
        <p:spPr>
          <a:xfrm>
            <a:off x="822960" y="3730752"/>
            <a:ext cx="4206240" cy="320040"/>
          </a:xfrm>
          <a:prstGeom prst="rect">
            <a:avLst/>
          </a:prstGeom>
          <a:noFill/>
          <a:ln/>
        </p:spPr>
        <p:txBody>
          <a:bodyPr wrap="square" lIns="0" tIns="0" rIns="0" bIns="0" rtlCol="0" anchor="ctr"/>
          <a:lstStyle/>
          <a:p>
            <a:pPr indent="0" marL="0">
              <a:buNone/>
            </a:pPr>
            <a:r>
              <a:rPr lang="en-US" sz="1250" dirty="0">
                <a:solidFill>
                  <a:srgbClr val="9AA0AC"/>
                </a:solidFill>
                <a:latin typeface="Arial" pitchFamily="34" charset="0"/>
                <a:ea typeface="Arial" pitchFamily="34" charset="-122"/>
                <a:cs typeface="Arial" pitchFamily="34" charset="-120"/>
              </a:rPr>
              <a:t>−   85 €  Zahlungsgebühren (2,9 % + 0,30 €)</a:t>
            </a:r>
            <a:endParaRPr lang="en-US" sz="1250" dirty="0"/>
          </a:p>
        </p:txBody>
      </p:sp>
      <p:sp>
        <p:nvSpPr>
          <p:cNvPr id="14" name="Shape 12"/>
          <p:cNvSpPr/>
          <p:nvPr/>
        </p:nvSpPr>
        <p:spPr>
          <a:xfrm>
            <a:off x="822960" y="4206240"/>
            <a:ext cx="4206240" cy="0"/>
          </a:xfrm>
          <a:prstGeom prst="line">
            <a:avLst/>
          </a:prstGeom>
          <a:noFill/>
          <a:ln w="9525">
            <a:solidFill>
              <a:srgbClr val="262933"/>
            </a:solidFill>
            <a:prstDash val="solid"/>
          </a:ln>
        </p:spPr>
      </p:sp>
      <p:sp>
        <p:nvSpPr>
          <p:cNvPr id="15" name="Text 13"/>
          <p:cNvSpPr/>
          <p:nvPr/>
        </p:nvSpPr>
        <p:spPr>
          <a:xfrm>
            <a:off x="822960" y="4343400"/>
            <a:ext cx="4206240" cy="548640"/>
          </a:xfrm>
          <a:prstGeom prst="rect">
            <a:avLst/>
          </a:prstGeom>
          <a:noFill/>
          <a:ln/>
        </p:spPr>
        <p:txBody>
          <a:bodyPr wrap="square" lIns="0" tIns="0" rIns="0" bIns="0" rtlCol="0" anchor="ctr"/>
          <a:lstStyle/>
          <a:p>
            <a:pPr indent="0" marL="0">
              <a:buNone/>
            </a:pPr>
            <a:r>
              <a:rPr lang="en-US" sz="2100" b="1" dirty="0">
                <a:solidFill>
                  <a:srgbClr val="95BF47"/>
                </a:solidFill>
                <a:latin typeface="Arial" pitchFamily="34" charset="0"/>
                <a:ea typeface="Arial" pitchFamily="34" charset="-122"/>
                <a:cs typeface="Arial" pitchFamily="34" charset="-120"/>
              </a:rPr>
              <a:t>≈ 1'779 € Gewinn / Monat</a:t>
            </a:r>
            <a:endParaRPr lang="en-US" sz="2100" dirty="0"/>
          </a:p>
        </p:txBody>
      </p:sp>
      <p:sp>
        <p:nvSpPr>
          <p:cNvPr id="16" name="Text 14"/>
          <p:cNvSpPr/>
          <p:nvPr/>
        </p:nvSpPr>
        <p:spPr>
          <a:xfrm>
            <a:off x="822960" y="5029200"/>
            <a:ext cx="4206240" cy="822960"/>
          </a:xfrm>
          <a:prstGeom prst="rect">
            <a:avLst/>
          </a:prstGeom>
          <a:noFill/>
          <a:ln/>
        </p:spPr>
        <p:txBody>
          <a:bodyPr wrap="square" lIns="0" tIns="0" rIns="0" bIns="0" rtlCol="0" anchor="ctr"/>
          <a:lstStyle/>
          <a:p>
            <a:pPr indent="0" marL="0">
              <a:lnSpc>
                <a:spcPct val="120000"/>
              </a:lnSpc>
              <a:buNone/>
            </a:pPr>
            <a:r>
              <a:rPr lang="en-US" sz="1100" i="1" dirty="0">
                <a:solidFill>
                  <a:srgbClr val="9AA0AC"/>
                </a:solidFill>
                <a:latin typeface="Arial" pitchFamily="34" charset="0"/>
                <a:ea typeface="Arial" pitchFamily="34" charset="-122"/>
                <a:cs typeface="Arial" pitchFamily="34" charset="-120"/>
              </a:rPr>
              <a:t>Bei 1'000 Verkäufen: ≈ 17'800 € – der Aufwand bleibt gleich.</a:t>
            </a:r>
            <a:endParaRPr lang="en-US" sz="1100" dirty="0"/>
          </a:p>
        </p:txBody>
      </p:sp>
      <p:graphicFrame>
        <p:nvGraphicFramePr>
          <p:cNvPr id="17" name="Chart 0" descr=""/>
          <p:cNvGraphicFramePr/>
          <p:nvPr/>
        </p:nvGraphicFramePr>
        <p:xfrm>
          <a:off x="5806440" y="173736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p:nvPr/>
        </p:nvSpPr>
        <p:spPr>
          <a:xfrm>
            <a:off x="5806440" y="5989320"/>
            <a:ext cx="5852160" cy="274320"/>
          </a:xfrm>
          <a:prstGeom prst="rect">
            <a:avLst/>
          </a:prstGeom>
          <a:noFill/>
          <a:ln/>
        </p:spPr>
        <p:txBody>
          <a:bodyPr wrap="square" lIns="0" tIns="0" rIns="0" bIns="0" rtlCol="0" anchor="ctr"/>
          <a:lstStyle/>
          <a:p>
            <a:pPr algn="ctr" indent="0" marL="0">
              <a:buNone/>
            </a:pPr>
            <a:r>
              <a:rPr lang="en-US" sz="1000" dirty="0">
                <a:solidFill>
                  <a:srgbClr val="5A5F6B"/>
                </a:solidFill>
                <a:latin typeface="Arial" pitchFamily="34" charset="0"/>
                <a:ea typeface="Arial" pitchFamily="34" charset="-122"/>
                <a:cs typeface="Arial" pitchFamily="34" charset="-120"/>
              </a:rPr>
              <a:t>Umsatz vs. Kosten vs. Gewinn – ein Produkt, ein Monat</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42"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E12"/>
        </a:solidFill>
      </p:bgPr>
    </p:bg>
    <p:spTree>
      <p:nvGrpSpPr>
        <p:cNvPr id="1" name=""/>
        <p:cNvGrpSpPr/>
        <p:nvPr/>
      </p:nvGrpSpPr>
      <p:grpSpPr>
        <a:xfrm>
          <a:off x="0" y="0"/>
          <a:ext cx="0" cy="0"/>
          <a:chOff x="0" y="0"/>
          <a:chExt cx="0" cy="0"/>
        </a:xfrm>
      </p:grpSpPr>
      <p:sp>
        <p:nvSpPr>
          <p:cNvPr id="2" name="chrome-logo"/>
          <p:cNvSpPr/>
          <p:nvPr/>
        </p:nvSpPr>
        <p:spPr>
          <a:xfrm>
            <a:off x="502920" y="329184"/>
            <a:ext cx="274320" cy="274320"/>
          </a:xfrm>
          <a:prstGeom prst="roundRect">
            <a:avLst>
              <a:gd name="adj" fmla="val 16667"/>
            </a:avLst>
          </a:prstGeom>
          <a:solidFill>
            <a:srgbClr val="95BF47"/>
          </a:solidFill>
          <a:ln/>
        </p:spPr>
        <p:txBody>
          <a:bodyPr wrap="square" lIns="0" tIns="0" rIns="0" bIns="0" rtlCol="0" anchor="ctr"/>
          <a:lstStyle/>
          <a:p>
            <a:pPr algn="ctr" indent="0" marL="0">
              <a:buNone/>
            </a:pPr>
            <a:r>
              <a:rPr lang="en-US" sz="1300" b="1" dirty="0">
                <a:solidFill>
                  <a:srgbClr val="0D0E12"/>
                </a:solidFill>
                <a:latin typeface="Arial" pitchFamily="34" charset="0"/>
                <a:ea typeface="Arial" pitchFamily="34" charset="-122"/>
                <a:cs typeface="Arial" pitchFamily="34" charset="-120"/>
              </a:rPr>
              <a:t>S</a:t>
            </a:r>
            <a:endParaRPr lang="en-US" sz="1300" dirty="0"/>
          </a:p>
        </p:txBody>
      </p:sp>
      <p:sp>
        <p:nvSpPr>
          <p:cNvPr id="3" name="chrome-kicker"/>
          <p:cNvSpPr/>
          <p:nvPr/>
        </p:nvSpPr>
        <p:spPr>
          <a:xfrm>
            <a:off x="914400" y="329184"/>
            <a:ext cx="8229600" cy="274320"/>
          </a:xfrm>
          <a:prstGeom prst="rect">
            <a:avLst/>
          </a:prstGeom>
          <a:noFill/>
          <a:ln/>
        </p:spPr>
        <p:txBody>
          <a:bodyPr wrap="square" lIns="0" tIns="0" rIns="0" bIns="0" rtlCol="0" anchor="ctr"/>
          <a:lstStyle/>
          <a:p>
            <a:pPr indent="0" marL="0">
              <a:buNone/>
            </a:pPr>
            <a:r>
              <a:rPr lang="en-US" sz="1050" b="1" spc="300" kern="0" dirty="0">
                <a:solidFill>
                  <a:srgbClr val="95BF47"/>
                </a:solidFill>
                <a:latin typeface="Arial" pitchFamily="34" charset="0"/>
                <a:ea typeface="Arial" pitchFamily="34" charset="-122"/>
                <a:cs typeface="Arial" pitchFamily="34" charset="-120"/>
              </a:rPr>
              <a:t>TEIL 5 · FAZIT</a:t>
            </a:r>
            <a:endParaRPr lang="en-US" sz="1050" dirty="0"/>
          </a:p>
        </p:txBody>
      </p:sp>
      <p:sp>
        <p:nvSpPr>
          <p:cNvPr id="4" name="chrome-footer"/>
          <p:cNvSpPr/>
          <p:nvPr/>
        </p:nvSpPr>
        <p:spPr>
          <a:xfrm>
            <a:off x="502920" y="6492240"/>
            <a:ext cx="4572000" cy="237744"/>
          </a:xfrm>
          <a:prstGeom prst="rect">
            <a:avLst/>
          </a:prstGeom>
          <a:noFill/>
          <a:ln/>
        </p:spPr>
        <p:txBody>
          <a:bodyPr wrap="square" lIns="0" tIns="0" rIns="0" bIns="0" rtlCol="0" anchor="ctr"/>
          <a:lstStyle/>
          <a:p>
            <a:pPr indent="0" marL="0">
              <a:buNone/>
            </a:pPr>
            <a:r>
              <a:rPr lang="en-US" sz="850" dirty="0">
                <a:solidFill>
                  <a:srgbClr val="5A5F6B"/>
                </a:solidFill>
                <a:latin typeface="Arial" pitchFamily="34" charset="0"/>
                <a:ea typeface="Arial" pitchFamily="34" charset="-122"/>
                <a:cs typeface="Arial" pitchFamily="34" charset="-120"/>
              </a:rPr>
              <a:t>Shopify · E-Commerce · Gruppenarbeit</a:t>
            </a:r>
            <a:endParaRPr lang="en-US" sz="850" dirty="0"/>
          </a:p>
        </p:txBody>
      </p:sp>
      <p:sp>
        <p:nvSpPr>
          <p:cNvPr id="5" name="chrome-page"/>
          <p:cNvSpPr/>
          <p:nvPr/>
        </p:nvSpPr>
        <p:spPr>
          <a:xfrm>
            <a:off x="11430000" y="6492240"/>
            <a:ext cx="256032" cy="237744"/>
          </a:xfrm>
          <a:prstGeom prst="rect">
            <a:avLst/>
          </a:prstGeom>
          <a:noFill/>
          <a:ln/>
        </p:spPr>
        <p:txBody>
          <a:bodyPr wrap="square" lIns="0" tIns="0" rIns="0" bIns="0" rtlCol="0" anchor="ctr"/>
          <a:lstStyle/>
          <a:p>
            <a:pPr algn="r" indent="0" marL="0">
              <a:buNone/>
            </a:pPr>
            <a:r>
              <a:rPr lang="en-US" sz="850" dirty="0">
                <a:solidFill>
                  <a:srgbClr val="5A5F6B"/>
                </a:solidFill>
                <a:latin typeface="Arial" pitchFamily="34" charset="0"/>
                <a:ea typeface="Arial" pitchFamily="34" charset="-122"/>
                <a:cs typeface="Arial" pitchFamily="34" charset="-120"/>
              </a:rPr>
              <a:t>7</a:t>
            </a:r>
            <a:endParaRPr lang="en-US" sz="850" dirty="0"/>
          </a:p>
        </p:txBody>
      </p:sp>
      <p:sp>
        <p:nvSpPr>
          <p:cNvPr id="6" name="Text 4"/>
          <p:cNvSpPr/>
          <p:nvPr/>
        </p:nvSpPr>
        <p:spPr>
          <a:xfrm>
            <a:off x="502920" y="713232"/>
            <a:ext cx="11155680" cy="566928"/>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Das nehmen wir mit</a:t>
            </a:r>
            <a:endParaRPr lang="en-US" sz="3300" dirty="0"/>
          </a:p>
        </p:txBody>
      </p:sp>
      <p:sp>
        <p:nvSpPr>
          <p:cNvPr id="7" name="Shape 5"/>
          <p:cNvSpPr/>
          <p:nvPr/>
        </p:nvSpPr>
        <p:spPr>
          <a:xfrm>
            <a:off x="502920" y="1737360"/>
            <a:ext cx="3602736" cy="2148840"/>
          </a:xfrm>
          <a:prstGeom prst="roundRect">
            <a:avLst>
              <a:gd name="adj" fmla="val 3830"/>
            </a:avLst>
          </a:prstGeom>
          <a:solidFill>
            <a:srgbClr val="16181F"/>
          </a:solidFill>
          <a:ln w="9525">
            <a:solidFill>
              <a:srgbClr val="262933"/>
            </a:solidFill>
            <a:prstDash val="solid"/>
          </a:ln>
        </p:spPr>
      </p:sp>
      <p:sp>
        <p:nvSpPr>
          <p:cNvPr id="8" name="Text 6"/>
          <p:cNvSpPr/>
          <p:nvPr/>
        </p:nvSpPr>
        <p:spPr>
          <a:xfrm>
            <a:off x="777240" y="2011680"/>
            <a:ext cx="384048" cy="384048"/>
          </a:xfrm>
          <a:prstGeom prst="ellipse">
            <a:avLst/>
          </a:prstGeom>
          <a:solidFill>
            <a:srgbClr val="95BF47"/>
          </a:solidFill>
          <a:ln/>
        </p:spPr>
        <p:txBody>
          <a:bodyPr wrap="square" lIns="0" tIns="0" rIns="0" bIns="0" rtlCol="0" anchor="ctr"/>
          <a:lstStyle/>
          <a:p>
            <a:pPr algn="ctr" indent="0" marL="0">
              <a:buNone/>
            </a:pPr>
            <a:r>
              <a:rPr lang="en-US" sz="1400" b="1" dirty="0">
                <a:solidFill>
                  <a:srgbClr val="0D0E12"/>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777240" y="2560320"/>
            <a:ext cx="3054096" cy="594360"/>
          </a:xfrm>
          <a:prstGeom prst="rect">
            <a:avLst/>
          </a:prstGeom>
          <a:noFill/>
          <a:ln/>
        </p:spPr>
        <p:txBody>
          <a:bodyPr wrap="square" lIns="0" tIns="0" rIns="0" bIns="0" rtlCol="0" anchor="ctr"/>
          <a:lstStyle/>
          <a:p>
            <a:pPr indent="0" marL="0">
              <a:lnSpc>
                <a:spcPct val="110000"/>
              </a:lnSpc>
              <a:buNone/>
            </a:pPr>
            <a:r>
              <a:rPr lang="en-US" sz="1450" b="1" dirty="0">
                <a:solidFill>
                  <a:srgbClr val="FFFFFF"/>
                </a:solidFill>
                <a:latin typeface="Arial" pitchFamily="34" charset="0"/>
                <a:ea typeface="Arial" pitchFamily="34" charset="-122"/>
                <a:cs typeface="Arial" pitchFamily="34" charset="-120"/>
              </a:rPr>
              <a:t>E-Commerce ist zugänglich</a:t>
            </a:r>
            <a:endParaRPr lang="en-US" sz="1450" dirty="0"/>
          </a:p>
        </p:txBody>
      </p:sp>
      <p:sp>
        <p:nvSpPr>
          <p:cNvPr id="10" name="Text 8"/>
          <p:cNvSpPr/>
          <p:nvPr/>
        </p:nvSpPr>
        <p:spPr>
          <a:xfrm>
            <a:off x="777240" y="3154680"/>
            <a:ext cx="3054096" cy="640080"/>
          </a:xfrm>
          <a:prstGeom prst="rect">
            <a:avLst/>
          </a:prstGeom>
          <a:noFill/>
          <a:ln/>
        </p:spPr>
        <p:txBody>
          <a:bodyPr wrap="square" lIns="0" tIns="0" rIns="0" bIns="0" rtlCol="0" anchor="ctr"/>
          <a:lstStyle/>
          <a:p>
            <a:pPr indent="0" marL="0">
              <a:lnSpc>
                <a:spcPct val="115000"/>
              </a:lnSpc>
              <a:buNone/>
            </a:pPr>
            <a:r>
              <a:rPr lang="en-US" sz="1100" dirty="0">
                <a:solidFill>
                  <a:srgbClr val="9AA0AC"/>
                </a:solidFill>
                <a:latin typeface="Arial" pitchFamily="34" charset="0"/>
                <a:ea typeface="Arial" pitchFamily="34" charset="-122"/>
                <a:cs typeface="Arial" pitchFamily="34" charset="-120"/>
              </a:rPr>
              <a:t>Einen Shop starten kann heute jede:r von uns – noch diese Woche.</a:t>
            </a:r>
            <a:endParaRPr lang="en-US" sz="1100" dirty="0"/>
          </a:p>
        </p:txBody>
      </p:sp>
      <p:sp>
        <p:nvSpPr>
          <p:cNvPr id="11" name="Shape 9"/>
          <p:cNvSpPr/>
          <p:nvPr/>
        </p:nvSpPr>
        <p:spPr>
          <a:xfrm>
            <a:off x="4293108" y="1737360"/>
            <a:ext cx="3602736" cy="2148840"/>
          </a:xfrm>
          <a:prstGeom prst="roundRect">
            <a:avLst>
              <a:gd name="adj" fmla="val 3830"/>
            </a:avLst>
          </a:prstGeom>
          <a:solidFill>
            <a:srgbClr val="16181F"/>
          </a:solidFill>
          <a:ln w="9525">
            <a:solidFill>
              <a:srgbClr val="262933"/>
            </a:solidFill>
            <a:prstDash val="solid"/>
          </a:ln>
        </p:spPr>
      </p:sp>
      <p:sp>
        <p:nvSpPr>
          <p:cNvPr id="12" name="Text 10"/>
          <p:cNvSpPr/>
          <p:nvPr/>
        </p:nvSpPr>
        <p:spPr>
          <a:xfrm>
            <a:off x="4567428" y="2011680"/>
            <a:ext cx="384048" cy="384048"/>
          </a:xfrm>
          <a:prstGeom prst="ellipse">
            <a:avLst/>
          </a:prstGeom>
          <a:solidFill>
            <a:srgbClr val="95BF47"/>
          </a:solidFill>
          <a:ln/>
        </p:spPr>
        <p:txBody>
          <a:bodyPr wrap="square" lIns="0" tIns="0" rIns="0" bIns="0" rtlCol="0" anchor="ctr"/>
          <a:lstStyle/>
          <a:p>
            <a:pPr algn="ctr" indent="0" marL="0">
              <a:buNone/>
            </a:pPr>
            <a:r>
              <a:rPr lang="en-US" sz="1400" b="1" dirty="0">
                <a:solidFill>
                  <a:srgbClr val="0D0E12"/>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4567428" y="2560320"/>
            <a:ext cx="3054096" cy="594360"/>
          </a:xfrm>
          <a:prstGeom prst="rect">
            <a:avLst/>
          </a:prstGeom>
          <a:noFill/>
          <a:ln/>
        </p:spPr>
        <p:txBody>
          <a:bodyPr wrap="square" lIns="0" tIns="0" rIns="0" bIns="0" rtlCol="0" anchor="ctr"/>
          <a:lstStyle/>
          <a:p>
            <a:pPr indent="0" marL="0">
              <a:lnSpc>
                <a:spcPct val="110000"/>
              </a:lnSpc>
              <a:buNone/>
            </a:pPr>
            <a:r>
              <a:rPr lang="en-US" sz="1450" b="1" dirty="0">
                <a:solidFill>
                  <a:srgbClr val="FFFFFF"/>
                </a:solidFill>
                <a:latin typeface="Arial" pitchFamily="34" charset="0"/>
                <a:ea typeface="Arial" pitchFamily="34" charset="-122"/>
                <a:cs typeface="Arial" pitchFamily="34" charset="-120"/>
              </a:rPr>
              <a:t>Digitale Produkte = kleinstes Risiko</a:t>
            </a:r>
            <a:endParaRPr lang="en-US" sz="1450" dirty="0"/>
          </a:p>
        </p:txBody>
      </p:sp>
      <p:sp>
        <p:nvSpPr>
          <p:cNvPr id="14" name="Text 12"/>
          <p:cNvSpPr/>
          <p:nvPr/>
        </p:nvSpPr>
        <p:spPr>
          <a:xfrm>
            <a:off x="4567428" y="3154680"/>
            <a:ext cx="3054096" cy="640080"/>
          </a:xfrm>
          <a:prstGeom prst="rect">
            <a:avLst/>
          </a:prstGeom>
          <a:noFill/>
          <a:ln/>
        </p:spPr>
        <p:txBody>
          <a:bodyPr wrap="square" lIns="0" tIns="0" rIns="0" bIns="0" rtlCol="0" anchor="ctr"/>
          <a:lstStyle/>
          <a:p>
            <a:pPr indent="0" marL="0">
              <a:lnSpc>
                <a:spcPct val="115000"/>
              </a:lnSpc>
              <a:buNone/>
            </a:pPr>
            <a:r>
              <a:rPr lang="en-US" sz="1100" dirty="0">
                <a:solidFill>
                  <a:srgbClr val="9AA0AC"/>
                </a:solidFill>
                <a:latin typeface="Arial" pitchFamily="34" charset="0"/>
                <a:ea typeface="Arial" pitchFamily="34" charset="-122"/>
                <a:cs typeface="Arial" pitchFamily="34" charset="-120"/>
              </a:rPr>
              <a:t>Kein Lager, kein Versand, fast keine Kosten – ideal zum Anfangen.</a:t>
            </a:r>
            <a:endParaRPr lang="en-US" sz="1100" dirty="0"/>
          </a:p>
        </p:txBody>
      </p:sp>
      <p:sp>
        <p:nvSpPr>
          <p:cNvPr id="15" name="Shape 13"/>
          <p:cNvSpPr/>
          <p:nvPr/>
        </p:nvSpPr>
        <p:spPr>
          <a:xfrm>
            <a:off x="8083296" y="1737360"/>
            <a:ext cx="3602736" cy="2148840"/>
          </a:xfrm>
          <a:prstGeom prst="roundRect">
            <a:avLst>
              <a:gd name="adj" fmla="val 3830"/>
            </a:avLst>
          </a:prstGeom>
          <a:solidFill>
            <a:srgbClr val="16181F"/>
          </a:solidFill>
          <a:ln w="9525">
            <a:solidFill>
              <a:srgbClr val="262933"/>
            </a:solidFill>
            <a:prstDash val="solid"/>
          </a:ln>
        </p:spPr>
      </p:sp>
      <p:sp>
        <p:nvSpPr>
          <p:cNvPr id="16" name="Text 14"/>
          <p:cNvSpPr/>
          <p:nvPr/>
        </p:nvSpPr>
        <p:spPr>
          <a:xfrm>
            <a:off x="8357616" y="2011680"/>
            <a:ext cx="384048" cy="384048"/>
          </a:xfrm>
          <a:prstGeom prst="ellipse">
            <a:avLst/>
          </a:prstGeom>
          <a:solidFill>
            <a:srgbClr val="95BF47"/>
          </a:solidFill>
          <a:ln/>
        </p:spPr>
        <p:txBody>
          <a:bodyPr wrap="square" lIns="0" tIns="0" rIns="0" bIns="0" rtlCol="0" anchor="ctr"/>
          <a:lstStyle/>
          <a:p>
            <a:pPr algn="ctr" indent="0" marL="0">
              <a:buNone/>
            </a:pPr>
            <a:r>
              <a:rPr lang="en-US" sz="1400" b="1" dirty="0">
                <a:solidFill>
                  <a:srgbClr val="0D0E12"/>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8357616" y="2560320"/>
            <a:ext cx="3054096" cy="594360"/>
          </a:xfrm>
          <a:prstGeom prst="rect">
            <a:avLst/>
          </a:prstGeom>
          <a:noFill/>
          <a:ln/>
        </p:spPr>
        <p:txBody>
          <a:bodyPr wrap="square" lIns="0" tIns="0" rIns="0" bIns="0" rtlCol="0" anchor="ctr"/>
          <a:lstStyle/>
          <a:p>
            <a:pPr indent="0" marL="0">
              <a:lnSpc>
                <a:spcPct val="110000"/>
              </a:lnSpc>
              <a:buNone/>
            </a:pPr>
            <a:r>
              <a:rPr lang="en-US" sz="1450" b="1" dirty="0">
                <a:solidFill>
                  <a:srgbClr val="FFFFFF"/>
                </a:solidFill>
                <a:latin typeface="Arial" pitchFamily="34" charset="0"/>
                <a:ea typeface="Arial" pitchFamily="34" charset="-122"/>
                <a:cs typeface="Arial" pitchFamily="34" charset="-120"/>
              </a:rPr>
              <a:t>Der Shop ist der einfache Teil</a:t>
            </a:r>
            <a:endParaRPr lang="en-US" sz="1450" dirty="0"/>
          </a:p>
        </p:txBody>
      </p:sp>
      <p:sp>
        <p:nvSpPr>
          <p:cNvPr id="18" name="Text 16"/>
          <p:cNvSpPr/>
          <p:nvPr/>
        </p:nvSpPr>
        <p:spPr>
          <a:xfrm>
            <a:off x="8357616" y="3154680"/>
            <a:ext cx="3054096" cy="640080"/>
          </a:xfrm>
          <a:prstGeom prst="rect">
            <a:avLst/>
          </a:prstGeom>
          <a:noFill/>
          <a:ln/>
        </p:spPr>
        <p:txBody>
          <a:bodyPr wrap="square" lIns="0" tIns="0" rIns="0" bIns="0" rtlCol="0" anchor="ctr"/>
          <a:lstStyle/>
          <a:p>
            <a:pPr indent="0" marL="0">
              <a:lnSpc>
                <a:spcPct val="115000"/>
              </a:lnSpc>
              <a:buNone/>
            </a:pPr>
            <a:r>
              <a:rPr lang="en-US" sz="1100" dirty="0">
                <a:solidFill>
                  <a:srgbClr val="9AA0AC"/>
                </a:solidFill>
                <a:latin typeface="Arial" pitchFamily="34" charset="0"/>
                <a:ea typeface="Arial" pitchFamily="34" charset="-122"/>
                <a:cs typeface="Arial" pitchFamily="34" charset="-120"/>
              </a:rPr>
              <a:t>Über den Erfolg entscheidet am Ende das Marketing.</a:t>
            </a:r>
            <a:endParaRPr lang="en-US" sz="1100" dirty="0"/>
          </a:p>
        </p:txBody>
      </p:sp>
      <p:sp>
        <p:nvSpPr>
          <p:cNvPr id="19" name="Text 17"/>
          <p:cNvSpPr/>
          <p:nvPr/>
        </p:nvSpPr>
        <p:spPr>
          <a:xfrm>
            <a:off x="1069848" y="4434840"/>
            <a:ext cx="10058400" cy="1280160"/>
          </a:xfrm>
          <a:prstGeom prst="rect">
            <a:avLst/>
          </a:prstGeom>
          <a:noFill/>
          <a:ln/>
        </p:spPr>
        <p:txBody>
          <a:bodyPr wrap="square" lIns="0" tIns="0" rIns="0" bIns="0" rtlCol="0" anchor="ctr"/>
          <a:lstStyle/>
          <a:p>
            <a:pPr algn="ctr" indent="0" marL="0">
              <a:lnSpc>
                <a:spcPct val="130000"/>
              </a:lnSpc>
              <a:buNone/>
            </a:pPr>
            <a:r>
              <a:rPr lang="en-US" sz="1900" i="1" dirty="0">
                <a:solidFill>
                  <a:srgbClr val="C7CBD4"/>
                </a:solidFill>
                <a:latin typeface="Arial" pitchFamily="34" charset="0"/>
                <a:ea typeface="Arial" pitchFamily="34" charset="-122"/>
                <a:cs typeface="Arial" pitchFamily="34" charset="-120"/>
              </a:rPr>
              <a:t>„Man braucht kein Ladenlokal mehr, um ein Geschäft zu starten –</a:t>
            </a:r>
            <a:endParaRPr lang="en-US" sz="1900" dirty="0"/>
          </a:p>
          <a:p>
            <a:pPr algn="ctr" indent="0" marL="0">
              <a:lnSpc>
                <a:spcPct val="130000"/>
              </a:lnSpc>
              <a:buNone/>
            </a:pPr>
            <a:r>
              <a:rPr lang="en-US" sz="1900" i="1" dirty="0">
                <a:solidFill>
                  <a:srgbClr val="C7CBD4"/>
                </a:solidFill>
                <a:latin typeface="Arial" pitchFamily="34" charset="0"/>
                <a:ea typeface="Arial" pitchFamily="34" charset="-122"/>
                <a:cs typeface="Arial" pitchFamily="34" charset="-120"/>
              </a:rPr>
              <a:t>nur eine gute Idee und ein Handy.“</a:t>
            </a:r>
            <a:endParaRPr lang="en-US" sz="1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4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E12"/>
        </a:solidFill>
      </p:bgPr>
    </p:bg>
    <p:spTree>
      <p:nvGrpSpPr>
        <p:cNvPr id="1" name=""/>
        <p:cNvGrpSpPr/>
        <p:nvPr/>
      </p:nvGrpSpPr>
      <p:grpSpPr>
        <a:xfrm>
          <a:off x="0" y="0"/>
          <a:ext cx="0" cy="0"/>
          <a:chOff x="0" y="0"/>
          <a:chExt cx="0" cy="0"/>
        </a:xfrm>
      </p:grpSpPr>
      <p:sp>
        <p:nvSpPr>
          <p:cNvPr id="2" name="Text 0"/>
          <p:cNvSpPr/>
          <p:nvPr/>
        </p:nvSpPr>
        <p:spPr>
          <a:xfrm>
            <a:off x="5779008" y="1417320"/>
            <a:ext cx="640080" cy="640080"/>
          </a:xfrm>
          <a:prstGeom prst="roundRect">
            <a:avLst>
              <a:gd name="adj" fmla="val 18571"/>
            </a:avLst>
          </a:prstGeom>
          <a:solidFill>
            <a:srgbClr val="95BF47"/>
          </a:solidFill>
          <a:ln/>
        </p:spPr>
        <p:txBody>
          <a:bodyPr wrap="square" lIns="0" tIns="0" rIns="0" bIns="0" rtlCol="0" anchor="ctr"/>
          <a:lstStyle/>
          <a:p>
            <a:pPr algn="ctr" indent="0" marL="0">
              <a:buNone/>
            </a:pPr>
            <a:r>
              <a:rPr lang="en-US" sz="3000" b="1" dirty="0">
                <a:solidFill>
                  <a:srgbClr val="0D0E12"/>
                </a:solidFill>
                <a:latin typeface="Arial" pitchFamily="34" charset="0"/>
                <a:ea typeface="Arial" pitchFamily="34" charset="-122"/>
                <a:cs typeface="Arial" pitchFamily="34" charset="-120"/>
              </a:rPr>
              <a:t>S</a:t>
            </a:r>
            <a:endParaRPr lang="en-US" sz="3000" dirty="0"/>
          </a:p>
        </p:txBody>
      </p:sp>
      <p:sp>
        <p:nvSpPr>
          <p:cNvPr id="3" name="Text 1"/>
          <p:cNvSpPr/>
          <p:nvPr/>
        </p:nvSpPr>
        <p:spPr>
          <a:xfrm>
            <a:off x="1984248" y="2331720"/>
            <a:ext cx="8229600" cy="1097280"/>
          </a:xfrm>
          <a:prstGeom prst="rect">
            <a:avLst/>
          </a:prstGeom>
          <a:noFill/>
          <a:ln/>
        </p:spPr>
        <p:txBody>
          <a:bodyPr wrap="square" lIns="0" tIns="0" rIns="0" bIns="0" rtlCol="0" anchor="ctr"/>
          <a:lstStyle/>
          <a:p>
            <a:pPr algn="ctr" indent="0" marL="0">
              <a:buNone/>
            </a:pPr>
            <a:r>
              <a:rPr lang="en-US" sz="6000" b="1" dirty="0">
                <a:solidFill>
                  <a:srgbClr val="FFFFFF"/>
                </a:solidFill>
                <a:latin typeface="Arial" pitchFamily="34" charset="0"/>
                <a:ea typeface="Arial" pitchFamily="34" charset="-122"/>
                <a:cs typeface="Arial" pitchFamily="34" charset="-120"/>
              </a:rPr>
              <a:t>Danke!</a:t>
            </a:r>
            <a:endParaRPr lang="en-US" sz="6000" dirty="0"/>
          </a:p>
        </p:txBody>
      </p:sp>
      <p:sp>
        <p:nvSpPr>
          <p:cNvPr id="4" name="Text 2"/>
          <p:cNvSpPr/>
          <p:nvPr/>
        </p:nvSpPr>
        <p:spPr>
          <a:xfrm>
            <a:off x="1984248" y="3566160"/>
            <a:ext cx="8229600" cy="548640"/>
          </a:xfrm>
          <a:prstGeom prst="rect">
            <a:avLst/>
          </a:prstGeom>
          <a:noFill/>
          <a:ln/>
        </p:spPr>
        <p:txBody>
          <a:bodyPr wrap="square" lIns="0" tIns="0" rIns="0" bIns="0" rtlCol="0" anchor="ctr"/>
          <a:lstStyle/>
          <a:p>
            <a:pPr algn="ctr" indent="0" marL="0">
              <a:buNone/>
            </a:pPr>
            <a:r>
              <a:rPr lang="en-US" sz="2600" b="1" dirty="0">
                <a:solidFill>
                  <a:srgbClr val="95BF47"/>
                </a:solidFill>
                <a:latin typeface="Arial" pitchFamily="34" charset="0"/>
                <a:ea typeface="Arial" pitchFamily="34" charset="-122"/>
                <a:cs typeface="Arial" pitchFamily="34" charset="-120"/>
              </a:rPr>
              <a:t>Fragen?</a:t>
            </a:r>
            <a:endParaRPr lang="en-US" sz="2600" dirty="0"/>
          </a:p>
        </p:txBody>
      </p:sp>
      <p:sp>
        <p:nvSpPr>
          <p:cNvPr id="5" name="Text 3"/>
          <p:cNvSpPr/>
          <p:nvPr/>
        </p:nvSpPr>
        <p:spPr>
          <a:xfrm>
            <a:off x="1069848" y="5760720"/>
            <a:ext cx="10058400" cy="548640"/>
          </a:xfrm>
          <a:prstGeom prst="rect">
            <a:avLst/>
          </a:prstGeom>
          <a:noFill/>
          <a:ln/>
        </p:spPr>
        <p:txBody>
          <a:bodyPr wrap="square" lIns="0" tIns="0" rIns="0" bIns="0" rtlCol="0" anchor="ctr"/>
          <a:lstStyle/>
          <a:p>
            <a:pPr algn="ctr" indent="0" marL="0">
              <a:lnSpc>
                <a:spcPct val="130000"/>
              </a:lnSpc>
              <a:buNone/>
            </a:pPr>
            <a:r>
              <a:rPr lang="en-US" sz="850" dirty="0">
                <a:solidFill>
                  <a:srgbClr val="5A5F6B"/>
                </a:solidFill>
                <a:latin typeface="Arial" pitchFamily="34" charset="0"/>
                <a:ea typeface="Arial" pitchFamily="34" charset="-122"/>
                <a:cs typeface="Arial" pitchFamily="34" charset="-120"/>
              </a:rPr>
              <a:t>Quellen: shopify.com · Shopify Investor Report Q2 2026 · shopify.com/blog/digital-products ·</a:t>
            </a:r>
            <a:endParaRPr lang="en-US" sz="850" dirty="0"/>
          </a:p>
          <a:p>
            <a:pPr algn="ctr" indent="0" marL="0">
              <a:lnSpc>
                <a:spcPct val="130000"/>
              </a:lnSpc>
              <a:buNone/>
            </a:pPr>
            <a:r>
              <a:rPr lang="en-US" sz="850" dirty="0">
                <a:solidFill>
                  <a:srgbClr val="5A5F6B"/>
                </a:solidFill>
                <a:latin typeface="Arial" pitchFamily="34" charset="0"/>
                <a:ea typeface="Arial" pitchFamily="34" charset="-122"/>
                <a:cs typeface="Arial" pitchFamily="34" charset="-120"/>
              </a:rPr>
              <a:t>kosten.org &amp; we-site.de (Shopify-Preise 2026) · chargeflow.io (Shopify-Statistiken)</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00"/>
                                        <p:tgtEl>
                                          <p:spTgt spid="2"/>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00"/>
                                        <p:tgtEl>
                                          <p:spTgt spid="3"/>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00"/>
                                        <p:tgtEl>
                                          <p:spTgt spid="4"/>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2026-08-24T13:00:29Z</dcterms:created>
  <dcterms:modified xsi:type="dcterms:W3CDTF">2026-08-24T13:00:29Z</dcterms:modified>
</cp:coreProperties>
</file>