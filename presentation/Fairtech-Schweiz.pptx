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ALLE FÜNF stehen vorne. Yassin sagt den ersten Satz, ruhig, mit drei Sekunden Stille davor. — Yassin: «Guten Tag. Wir sind fünf — und wir haben einen Onlineshop gebaut, der iPhones und Laptops verkauft. Günstiger als MediaMarkt. Und wir erklären Ihnen heute ehrlich, wie das geht — und wo es NICHT geht.»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Yassin führt durch diese Folie. Auf jeden Namen zeigen, wenn er fällt. 40 Sekunden. — «Fünf Teile, fünf Leute, zehn Minuten. Yassin: das Problem und die Idee. Rayaan: der Markt, die Kundschaft und die Konkurrenz — inklusive der Frage, die Sie sich gerade stellen. Fernando: die Produkte und die Preise. Samed: die Technik und die Abwicklung. Kim: das Recht, die Zahlen und der Schluss.»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Übergabefolie. Yassin bleibt vorne, die anderen treten einen Schritt zurück. Kurz warten, bis der Name steht — dann anfangen.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Yassin, dein Text: «Elektronik ist in der Schweiz teuer. Wer ein iPhone kauft, zahlt nicht nur das iPhone — er zahlt die Ladenmiete im Einkaufszentrum mit, das Personal, das Licht, die Werbung. Diese Struktur kostet die grossen Ketten zehn bis fünfzehn Prozent vom Umsatz. Und wer zahlt sie? Der Kunde.» Zwei Sekunden Pause nach «Der Kunde.»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Zahlen laufen hoch — warten, bis sie stehen. Yassin: «Ein Beispiel, das jeder kennt: das iPhone 16, 128 Gigabyte. Im Laden: 849 Franken. Bei uns: 799. Fünfzig Franken Unterschied — gleiche Ware, gleiche Garantie, gleiche Originalverpackung.» WICHTIG: Am Abend vorher den aktuellen Ladenpreis prüfen und die Zahl anpassen — wenn die Lehrperson nachschaut, muss sie stimmen.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Yassin: «Unsere Idee hat drei Teile. Erstens: kein Laden — wir verkaufen nur online, die zehn bis fünfzehn Prozent Struktur fallen weg. Zweitens: sechs Produkte statt sechstausend — kein totes Lager, keine Liquidationen. Drittens, und das ist der wichtigste Teil: refurbished. Geprüfte, wieder aufbereitete Geräte — da sind wir nicht fünf Prozent günstiger, sondern vierzig.» Die drei Karten je fünf Sekunden. Im Kurzmodus ist das deine LETZTE Folie — übergeben: «Wer das kauft und gegen wen wir antreten, zeigt euch Rayaan.»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Theorie-Folie — hier hört die Lehrperson die Fachbegriffe. Yassin: «Wie machen wir das ohne eigenes Lager? Mit einem Streckengeschäft: der Kunde bestellt bei uns, wir bestellen beim Schweizer Grossisten, und der Grossist liefert direkt an den Kunden. Wir binden kein Kapital in teuren Geräten. Nur die refurbished-Geräte kaufen wir selber ein — dort lohnt es sich.» Das Wort STRECKENGESCHÄFT betonen. Dann übergeben: «Ob dieser Markt gross genug ist, zeigt euch Rayaan.»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Yassin tritt zurück, Rayaan nach vorne. Beim Wechsel kurz anschauen — das sieht geübt aus.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Rayaan, dein Text: «Wie gross muss unser Markt sein? Kleiner, als man denkt. Unser Ziel sind 20 Bestellungen im Monat, mit einem Durchschnitt von rund 500 Franken. Das sind 10'000 Franken Umsatz. Fast jeder in der Schweiz hat ein Smartphone, und alle drei bis vier Jahre wird gewechselt — wir brauchen von diesem riesigen Kuchen nur Krümel.» Immer «rund» und «Annahme» dazusagen.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Persona. Rayaan: «Unsere Kundin heisst Nadia, 19, gerade mit der Lehre fertig. Ihr Laptop stirbt vor der Berufsmatur. Sie hat 500 Franken — nicht 1'300. Im Laden bekommt sie dafür ein Plastik-Notebook. Bei uns: ein Business-Gerät, refurbished, geprüft, mit Garantie — und es bleibt Geld übrig.» Konkret schlägt allgemein, immer.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Konkurrenz — WICHTIG: Digitec Galaxus zuerst nennen, nicht MediaMarkt. Rayaan: «Der echte Gegner online in der Schweiz heisst nicht MediaMarkt — er heisst Digitec Galaxus. Riesiges Sortiment, super Logistik. Gegen die gewinnen wir bei Neuware nicht. Müssen wir auch nicht: unser Feld ist refurbished mit Beratung und schmalem Sortiment. Und unsere Schwäche sagen wir gleich selber: uns kennt noch niemand.» Im Kurzmodus ist das deine LETZTE Folie — übergeben: «Was genau im Regal liegt, zeigt euch Fernando.»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RESERVE — diese Folie ist NICHT im kurzen Durchlauf. Sie ist eure vorbereitete Antwort, falls die MediaMarkt-Frage kommt: Taste K drücken, eine Folie zurück — und die Antwort steht an der Wand. Rayaan: «Und jetzt die Frage, die Sie sich seit fünf Minuten stellen: Wie können ein paar Lernende billiger sein als MediaMarkt, wenn MediaMarkt hunderttausend Geräte einkauft und wir zehn? Ehrliche Antwort: beim Einkauf können wir es nicht. Unser Vorteil liegt woanders — erstens: keine Läden, keine Miete, kein Verkaufspersonal. Zweitens: sechs Produkte, kein totes Lager. Drittens: refurbished, wo nicht der Einkauf entscheidet, sondern Prüfung und Vertrauen.» Pause. «Beim Einkauf verlieren wir. Bei der Struktur gewinnen wir.» Dann übergeben: «Was genau im Regal liegt, zeigt euch Fernando.»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Rayaan zurück, Fernando nach vorne.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Fernando: Die Tabelle NICHT vorlesen. Dein Text: «Sechs Produkte, mehr nicht. Oben die Neuware: iPhone, MacBook, AirPods — knapp unter dem Ladenpreis. Unten die refurbished-Geräte: geprüft, Grad A, bis zu vierzig Prozent unter dem Neupreis.» Mit der Hand auf die letzte Zeile zeigen: «Und dieses Notebook hier ist unser wichtigstes Produkt — warum, zeige ich gleich.» Die Vergleichspreise am Abend vorher aktualisieren!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Kaufmännischer Teil — hier zeigt ihr, dass ihr rechnen könnt. Fernando: «Was verdienen wir an einem neuen iPhone für 799 Franken? Wir kaufen es beim Schweizer Grossisten für rund 745. Dazu kommen Zahlungsgebühr und Versand, etwa 27 Franken. Bleiben —» (Pause) «— 27 Franken. Siebenundzwanzig Franken an einem 800-Franken-Gerät, gut drei Prozent. Die Summe stimmt: 745 plus 27 plus 27 ist 799.» Das ist Absicht: die dünne Marge hier macht die dicke Marge auf der nächsten Folie glaubwürdig.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Fernando, die wichtigste Folie deines Teils: «Deshalb liegt unser Geld im zweiten Leben der Geräte. Ein iPhone 14, refurbished, Grad A: der Kunde zahlt 449 statt 749 für neu — er spart 300 Franken. Und wir? Rund 20 Prozent Marge statt 4. Der Kunde gewinnt, wir gewinnen — und ein gutes Gerät landet nicht im Schrank.» Pause. «Neuware ist unser Schaufenster. Refurbished ist unser Geschäft.» Dann übergeben: «Wie eine Bestellung technisch läuft, zeigt euch Samed.»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Fernando zurück, Samed nach vorne.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Samed, dein Text: «Warum Shopify? Erstens: die Zahlung ist gelöst — TWINT und Karte, ohne eine Zeile Code. Zweitens: Lager, Bestellungen und Versandetiketten sind eingebaut. Drittens: es kostet am Anfang einen Franken im Monat, später rund 36.» Der stärkste Satz ist der letzte — langsam: «Wir könnten so einen Shop selber programmieren. Wir haben es trotzdem nicht gemacht — denn ein Shop ist kein Programmierprojekt. Er ist ein Verkaufsprojekt.»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Tutorial-Folie — Schritt für Schritt, wie in einem Anleitung-Video. Samed: «Das kann jeder hier nachmachen. Schritt eins: Konto auf shopify.com — drei Tage gratis, dann ein Franken im Monat. Schritt zwei: die sechs Produkte anlegen, mit Foto und Preis. Schritt drei: TWINT und Karte einschalten. Schritt vier: den Versand einrichten — dazu gleich mehr. Schritt fünf: Testbestellung machen, Screenshot als Beweis. Fünf Schritte — ein Wochenende.» Auf jeden Schritt einzeln zeigen.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Der Ablauf einer Bestellung — fünf Schritte, je zehn Sekunden. Samed: «Nadia bestellt am Sonntagabend das refurbished-Notebook. TWINT bestätigt in Sekunden. Bei Neuware geht die Bestellung automatisch an den Grossisten — Streckengeschäft, wie Yassin gesagt hat — und der liefert direkt zu ihr. Die refurbished-Geräte verschicken wir selber: versichert, mit der Post, in zwei bis drei Tagen. Rechnung mit MWST kommt per Mail.» Betone: bei 800-Franken-Geräten ist der Versand IMMER versichert. Im Kurzmodus ist das deine LETZTE Folie — übergeben: «Was das Gesetz verlangt und was am Ende übrig bleibt, zeigt euch Kim.»</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Samed: «Bezahlt wird mit TWINT — ohne TWINT verliert man in der Schweiz Bestellungen — oder mit Karte. Und eine bewusste Entscheidung: Kauf auf Rechnung gibt es bei uns NICHT. Bei 800-Franken-Geräten ist das Betrugsrisiko zu gross — das ist eine Risikoentscheidung, keine Bequemlichkeit.» Das zeigt der Lehrperson kaufmännisches Denken. Dann übergeben: «Was das Gesetz von uns verlangt und was am Ende übrig bleibt, zeigt euch Kim.»</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Samed zurück, Kim nach vorne. Kim macht den Schluss — am Ende kommen alle fünf wieder nach vorne.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Kim, nach dieser Folie fragt in der Schweiz fast jede Lehrperson. Dein Text: «Vier Dinge verlangt das Gesetz, ein fünftes geben wir freiwillig. Impressum — Pflicht. Datenschutzerklärung — Pflicht. Preise inklusive Mehrwertsteuer — Pflicht. Und die Gewährleistung: bei Neuware zwei Jahre — bei Occasion, also refurbished, darf sie per AGB auf ein Jahr verkürzt werden. Das nutzen wir, und es steht gross und ehrlich beim Produkt. Ein gesetzliches Widerrufsrecht gibt es in der Schweiz übrigens NICHT — wir geben trotzdem 14 Tage, freiwillig, als Vertrauensbeweis.» Die Begriffe auswendig: UWG, revDSG, PBV, OR.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Kim: «Annahme» sagen, nie «Ergebnis». Dein Text: «Unsere Annahme: 20 Bestellungen im Monat, Durchschnitt 500 Franken — 10'000 Franken Umsatz. Klingt gross. Aber jetzt ehrlich weiterrechnen: 8'800 gehen für den Wareneinkauf weg. 200 für Zahlungsgebühren, 200 als Reserve für Retouren, 50 für Shopify und Domain. Es bleiben —» (auf den Balken zeigen) «— rund 750 Franken. Von jedem Franken Umsatz bleiben uns SIEBEN Rappen. Elektronikhandel heisst: viel Umsatz, wenig Marge. Genau deshalb sind die refurbished-Geräte so wichtig — dort bleiben zwanzig Rappen, nicht sieben.»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Kim, die Risiken ZUERST — das wirkt souverän: «Was kann schiefgehen? Erstens: der Preiskrieg. Digitec kann jeden unserer Neuware-Preise unterbieten, jederzeit. Unsere Antwort: dort nicht kämpfen — unser Feld ist refurbished. Zweitens: Betrug und Transportschäden bei teuren Geräten. Antwort: kein Kauf auf Rechnung, immer versicherter Versand. Und die Chancen: refurbished wächst — Nachhaltigkeit ist kein Trend mehr, sondern Kaufgrund. Und jedes Jahr kommt eine neue Geräte-Generation — jede davon macht den Occasionsmarkt grösser.»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Der ehrliche Teil — genau das trennt eine 5 von einer 6. Kim: «Drei Dinge haben wir gelernt. Erstens: Handel mit Markenware ist ein Volumengeschäft — die Marge liegt nicht im Logo, sondern im zweiten Leben der Geräte. Zweitens: der Preis allein verkauft nicht — Vertrauen verkauft: Garantie, TWINT, eine Schweizer Adresse. Und drittens —» (langsam) «— wir haben noch nichts verkauft. Alle Zahlen heute sind gerechnet, nicht gemessen. Das sagen wir lieber selber, bevor es jemand fragt.»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ALLE FÜNF kommen nach vorne. Kim sagt «Danke.» — dann Stille, Hände ruhig, auf die Fragen warten. Wer die Frage bekommt, antwortet; die anderen schauen ihn an. Wahrscheinliche Fragen: «Wie könnt ihr billiger sein als MediaMarkt?» (Rayaan: keine Läden, 6 Produkte, refurbished — beim Einkauf verlieren wir, bei der Struktur gewinnen wir.) «Und wenn Digitec die Preise senkt?» (Kim: bei Neuware können wir nicht gewinnen — unser Feld ist refurbished.) «Woher kommt die Ware?» (Yassin: Neuware im Streckengeschäft vom Schweizer Grossisten, refurbished als geprüfte Lots.) «Habt ihr schon verkauft?» (Nein — alle Zahlen sind Annahmen, das haben wir auch so gesagt.)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1</a:t>
            </a:r>
            <a:endParaRPr lang="en-US" sz="850" dirty="0"/>
          </a:p>
        </p:txBody>
      </p:sp>
      <p:sp>
        <p:nvSpPr>
          <p:cNvPr id="4" name="Text 2"/>
          <p:cNvSpPr/>
          <p:nvPr/>
        </p:nvSpPr>
        <p:spPr>
          <a:xfrm>
            <a:off x="1527048" y="1600200"/>
            <a:ext cx="9144000" cy="320040"/>
          </a:xfrm>
          <a:prstGeom prst="rect">
            <a:avLst/>
          </a:prstGeom>
          <a:noFill/>
          <a:ln/>
        </p:spPr>
        <p:txBody>
          <a:bodyPr wrap="square" lIns="0" tIns="0" rIns="0" bIns="0" rtlCol="0" anchor="ctr"/>
          <a:lstStyle/>
          <a:p>
            <a:pPr algn="ctr" indent="0" marL="0">
              <a:buNone/>
            </a:pPr>
            <a:r>
              <a:rPr lang="en-US" sz="1150" b="1" spc="400" kern="0" dirty="0">
                <a:solidFill>
                  <a:srgbClr val="F5A833"/>
                </a:solidFill>
                <a:latin typeface="Arial" pitchFamily="34" charset="0"/>
                <a:ea typeface="Arial" pitchFamily="34" charset="-122"/>
                <a:cs typeface="Arial" pitchFamily="34" charset="-120"/>
              </a:rPr>
              <a:t>PROJEKT E-COMMERCE · SHOPIFY · 24. AUGUST 2026</a:t>
            </a:r>
            <a:endParaRPr lang="en-US" sz="1150" dirty="0"/>
          </a:p>
        </p:txBody>
      </p:sp>
      <p:sp>
        <p:nvSpPr>
          <p:cNvPr id="5" name="Text 3"/>
          <p:cNvSpPr/>
          <p:nvPr/>
        </p:nvSpPr>
        <p:spPr>
          <a:xfrm>
            <a:off x="612648" y="2011680"/>
            <a:ext cx="10972800" cy="1463040"/>
          </a:xfrm>
          <a:prstGeom prst="rect">
            <a:avLst/>
          </a:prstGeom>
          <a:noFill/>
          <a:ln/>
        </p:spPr>
        <p:txBody>
          <a:bodyPr wrap="square" lIns="0" tIns="0" rIns="0" bIns="0" rtlCol="0" anchor="ctr"/>
          <a:lstStyle/>
          <a:p>
            <a:pPr algn="ctr" indent="0" marL="0">
              <a:buNone/>
            </a:pPr>
            <a:r>
              <a:rPr lang="en-US" sz="7200" b="1" dirty="0">
                <a:solidFill>
                  <a:srgbClr val="EDF2F7"/>
                </a:solidFill>
                <a:latin typeface="Arial" pitchFamily="34" charset="0"/>
                <a:ea typeface="Arial" pitchFamily="34" charset="-122"/>
                <a:cs typeface="Arial" pitchFamily="34" charset="-120"/>
              </a:rPr>
              <a:t>Fairtech Schweiz</a:t>
            </a:r>
            <a:endParaRPr lang="en-US" sz="7200" dirty="0"/>
          </a:p>
        </p:txBody>
      </p:sp>
      <p:sp>
        <p:nvSpPr>
          <p:cNvPr id="6" name="Text 4"/>
          <p:cNvSpPr/>
          <p:nvPr/>
        </p:nvSpPr>
        <p:spPr>
          <a:xfrm>
            <a:off x="1984248" y="3703320"/>
            <a:ext cx="8229600" cy="868680"/>
          </a:xfrm>
          <a:prstGeom prst="rect">
            <a:avLst/>
          </a:prstGeom>
          <a:noFill/>
          <a:ln/>
        </p:spPr>
        <p:txBody>
          <a:bodyPr wrap="square" lIns="0" tIns="0" rIns="0" bIns="0" rtlCol="0" anchor="ctr"/>
          <a:lstStyle/>
          <a:p>
            <a:pPr algn="ctr" indent="0" marL="0">
              <a:lnSpc>
                <a:spcPct val="130000"/>
              </a:lnSpc>
              <a:buNone/>
            </a:pPr>
            <a:r>
              <a:rPr lang="en-US" sz="1600" dirty="0">
                <a:solidFill>
                  <a:srgbClr val="8FA0B4"/>
                </a:solidFill>
                <a:latin typeface="Arial" pitchFamily="34" charset="0"/>
                <a:ea typeface="Arial" pitchFamily="34" charset="-122"/>
                <a:cs typeface="Arial" pitchFamily="34" charset="-120"/>
              </a:rPr>
              <a:t>Elektronik online — ohne Ladenmiete, ohne Riesenkatalog.</a:t>
            </a:r>
            <a:endParaRPr lang="en-US" sz="1600" dirty="0"/>
          </a:p>
          <a:p>
            <a:pPr algn="ctr" indent="0" marL="0">
              <a:lnSpc>
                <a:spcPct val="130000"/>
              </a:lnSpc>
              <a:buNone/>
            </a:pPr>
            <a:r>
              <a:rPr lang="en-US" sz="1600" dirty="0">
                <a:solidFill>
                  <a:srgbClr val="8FA0B4"/>
                </a:solidFill>
                <a:latin typeface="Arial" pitchFamily="34" charset="0"/>
                <a:ea typeface="Arial" pitchFamily="34" charset="-122"/>
                <a:cs typeface="Arial" pitchFamily="34" charset="-120"/>
              </a:rPr>
              <a:t>Neu zum fairen Preis, refurbished zum halben.</a:t>
            </a:r>
            <a:endParaRPr lang="en-US" sz="1600" dirty="0"/>
          </a:p>
        </p:txBody>
      </p:sp>
      <p:sp>
        <p:nvSpPr>
          <p:cNvPr id="7" name="Text 5"/>
          <p:cNvSpPr/>
          <p:nvPr/>
        </p:nvSpPr>
        <p:spPr>
          <a:xfrm>
            <a:off x="1984248" y="5120640"/>
            <a:ext cx="8229600" cy="320040"/>
          </a:xfrm>
          <a:prstGeom prst="rect">
            <a:avLst/>
          </a:prstGeom>
          <a:noFill/>
          <a:ln/>
        </p:spPr>
        <p:txBody>
          <a:bodyPr wrap="square" lIns="0" tIns="0" rIns="0" bIns="0" rtlCol="0" anchor="ctr"/>
          <a:lstStyle/>
          <a:p>
            <a:pPr algn="ctr" indent="0" marL="0">
              <a:buNone/>
            </a:pPr>
            <a:r>
              <a:rPr lang="en-US" sz="1250" dirty="0">
                <a:solidFill>
                  <a:srgbClr val="5C6E82"/>
                </a:solidFill>
                <a:latin typeface="Arial" pitchFamily="34" charset="0"/>
                <a:ea typeface="Arial" pitchFamily="34" charset="-122"/>
                <a:cs typeface="Arial" pitchFamily="34" charset="-120"/>
              </a:rPr>
              <a:t>Yassin  ·  Rayaan  ·  Fernando  ·  Samed  ·  Kim</a:t>
            </a:r>
            <a:endParaRPr lang="en-US" sz="12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6" fill="hold">
                      <p:stCondLst>
                        <p:cond delay="indefinite"/>
                        <p:cond evt="onBegin" delay="0">
                          <p:tn val="2"/>
                        </p:cond>
                      </p:stCondLst>
                      <p:childTnLst>
                        <p:par>
                          <p:cTn id="15"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2</a:t>
            </a:r>
            <a:endParaRPr lang="en-US" sz="850" dirty="0"/>
          </a:p>
        </p:txBody>
      </p:sp>
      <p:sp>
        <p:nvSpPr>
          <p:cNvPr id="4" name="Text 2"/>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F5A833"/>
                </a:solidFill>
                <a:latin typeface="Arial" pitchFamily="34" charset="0"/>
                <a:ea typeface="Arial" pitchFamily="34" charset="-122"/>
                <a:cs typeface="Arial" pitchFamily="34" charset="-120"/>
              </a:rPr>
              <a:t>DER ABLAUF</a:t>
            </a:r>
            <a:endParaRPr lang="en-US" sz="1050" dirty="0"/>
          </a:p>
        </p:txBody>
      </p:sp>
      <p:sp>
        <p:nvSpPr>
          <p:cNvPr id="5" name="Text 3"/>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Fünf Teile, fünf Leute</a:t>
            </a:r>
            <a:endParaRPr lang="en-US" sz="3000" dirty="0"/>
          </a:p>
        </p:txBody>
      </p:sp>
      <p:sp>
        <p:nvSpPr>
          <p:cNvPr id="6" name="Shape 4"/>
          <p:cNvSpPr/>
          <p:nvPr/>
        </p:nvSpPr>
        <p:spPr>
          <a:xfrm>
            <a:off x="502920" y="2194560"/>
            <a:ext cx="2090318" cy="2377440"/>
          </a:xfrm>
          <a:prstGeom prst="roundRect">
            <a:avLst>
              <a:gd name="adj" fmla="val 2187"/>
            </a:avLst>
          </a:prstGeom>
          <a:solidFill>
            <a:srgbClr val="141B24"/>
          </a:solidFill>
          <a:ln w="9525">
            <a:solidFill>
              <a:srgbClr val="243040"/>
            </a:solidFill>
            <a:prstDash val="solid"/>
          </a:ln>
        </p:spPr>
      </p:sp>
      <p:sp>
        <p:nvSpPr>
          <p:cNvPr id="7" name="Shape 5"/>
          <p:cNvSpPr/>
          <p:nvPr/>
        </p:nvSpPr>
        <p:spPr>
          <a:xfrm>
            <a:off x="502920" y="2194560"/>
            <a:ext cx="2090318" cy="64008"/>
          </a:xfrm>
          <a:prstGeom prst="rect">
            <a:avLst/>
          </a:prstGeom>
          <a:solidFill>
            <a:srgbClr val="F5A833"/>
          </a:solidFill>
          <a:ln/>
        </p:spPr>
      </p:sp>
      <p:sp>
        <p:nvSpPr>
          <p:cNvPr id="8" name="Text 6"/>
          <p:cNvSpPr/>
          <p:nvPr/>
        </p:nvSpPr>
        <p:spPr>
          <a:xfrm>
            <a:off x="704088" y="2450592"/>
            <a:ext cx="1687982" cy="237744"/>
          </a:xfrm>
          <a:prstGeom prst="rect">
            <a:avLst/>
          </a:prstGeom>
          <a:noFill/>
          <a:ln/>
        </p:spPr>
        <p:txBody>
          <a:bodyPr wrap="square" lIns="0" tIns="0" rIns="0" bIns="0" rtlCol="0" anchor="ctr"/>
          <a:lstStyle/>
          <a:p>
            <a:pPr indent="0" marL="0">
              <a:buNone/>
            </a:pPr>
            <a:r>
              <a:rPr lang="en-US" sz="900" b="1" spc="200" kern="0" dirty="0">
                <a:solidFill>
                  <a:srgbClr val="5C6E82"/>
                </a:solidFill>
                <a:latin typeface="Arial" pitchFamily="34" charset="0"/>
                <a:ea typeface="Arial" pitchFamily="34" charset="-122"/>
                <a:cs typeface="Arial" pitchFamily="34" charset="-120"/>
              </a:rPr>
              <a:t>TEIL 1</a:t>
            </a:r>
            <a:endParaRPr lang="en-US" sz="900" dirty="0"/>
          </a:p>
        </p:txBody>
      </p:sp>
      <p:sp>
        <p:nvSpPr>
          <p:cNvPr id="9" name="Text 7"/>
          <p:cNvSpPr/>
          <p:nvPr/>
        </p:nvSpPr>
        <p:spPr>
          <a:xfrm>
            <a:off x="704088" y="2743200"/>
            <a:ext cx="1687982" cy="457200"/>
          </a:xfrm>
          <a:prstGeom prst="rect">
            <a:avLst/>
          </a:prstGeom>
          <a:noFill/>
          <a:ln/>
        </p:spPr>
        <p:txBody>
          <a:bodyPr wrap="square" lIns="0" tIns="0" rIns="0" bIns="0" rtlCol="0" anchor="ctr"/>
          <a:lstStyle/>
          <a:p>
            <a:pPr indent="0" marL="0">
              <a:buNone/>
            </a:pPr>
            <a:r>
              <a:rPr lang="en-US" sz="1800" b="1" dirty="0">
                <a:solidFill>
                  <a:srgbClr val="F5A833"/>
                </a:solidFill>
                <a:latin typeface="Arial" pitchFamily="34" charset="0"/>
                <a:ea typeface="Arial" pitchFamily="34" charset="-122"/>
                <a:cs typeface="Arial" pitchFamily="34" charset="-120"/>
              </a:rPr>
              <a:t>Yassin</a:t>
            </a:r>
            <a:endParaRPr lang="en-US" sz="1800" dirty="0"/>
          </a:p>
        </p:txBody>
      </p:sp>
      <p:sp>
        <p:nvSpPr>
          <p:cNvPr id="10" name="Text 8"/>
          <p:cNvSpPr/>
          <p:nvPr/>
        </p:nvSpPr>
        <p:spPr>
          <a:xfrm>
            <a:off x="704088" y="3246120"/>
            <a:ext cx="1687982" cy="1188720"/>
          </a:xfrm>
          <a:prstGeom prst="rect">
            <a:avLst/>
          </a:prstGeom>
          <a:noFill/>
          <a:ln/>
        </p:spPr>
        <p:txBody>
          <a:bodyPr wrap="square" lIns="0" tIns="0" rIns="0" bIns="0" rtlCol="0" anchor="ctr"/>
          <a:lstStyle/>
          <a:p>
            <a:pPr indent="0" marL="0">
              <a:lnSpc>
                <a:spcPct val="120000"/>
              </a:lnSpc>
              <a:buNone/>
            </a:pPr>
            <a:r>
              <a:rPr lang="en-US" sz="1100" dirty="0">
                <a:solidFill>
                  <a:srgbClr val="8FA0B4"/>
                </a:solidFill>
                <a:latin typeface="Arial" pitchFamily="34" charset="0"/>
                <a:ea typeface="Arial" pitchFamily="34" charset="-122"/>
                <a:cs typeface="Arial" pitchFamily="34" charset="-120"/>
              </a:rPr>
              <a:t>Das Problem und die Idee</a:t>
            </a:r>
            <a:endParaRPr lang="en-US" sz="1100" dirty="0"/>
          </a:p>
        </p:txBody>
      </p:sp>
      <p:sp>
        <p:nvSpPr>
          <p:cNvPr id="11" name="Shape 9"/>
          <p:cNvSpPr/>
          <p:nvPr/>
        </p:nvSpPr>
        <p:spPr>
          <a:xfrm>
            <a:off x="2776118" y="2194560"/>
            <a:ext cx="2090318" cy="2377440"/>
          </a:xfrm>
          <a:prstGeom prst="roundRect">
            <a:avLst>
              <a:gd name="adj" fmla="val 2187"/>
            </a:avLst>
          </a:prstGeom>
          <a:solidFill>
            <a:srgbClr val="141B24"/>
          </a:solidFill>
          <a:ln w="9525">
            <a:solidFill>
              <a:srgbClr val="243040"/>
            </a:solidFill>
            <a:prstDash val="solid"/>
          </a:ln>
        </p:spPr>
      </p:sp>
      <p:sp>
        <p:nvSpPr>
          <p:cNvPr id="12" name="Shape 10"/>
          <p:cNvSpPr/>
          <p:nvPr/>
        </p:nvSpPr>
        <p:spPr>
          <a:xfrm>
            <a:off x="2776118" y="2194560"/>
            <a:ext cx="2090318" cy="64008"/>
          </a:xfrm>
          <a:prstGeom prst="rect">
            <a:avLst/>
          </a:prstGeom>
          <a:solidFill>
            <a:srgbClr val="3ED6AC"/>
          </a:solidFill>
          <a:ln/>
        </p:spPr>
      </p:sp>
      <p:sp>
        <p:nvSpPr>
          <p:cNvPr id="13" name="Text 11"/>
          <p:cNvSpPr/>
          <p:nvPr/>
        </p:nvSpPr>
        <p:spPr>
          <a:xfrm>
            <a:off x="2977286" y="2450592"/>
            <a:ext cx="1687982" cy="237744"/>
          </a:xfrm>
          <a:prstGeom prst="rect">
            <a:avLst/>
          </a:prstGeom>
          <a:noFill/>
          <a:ln/>
        </p:spPr>
        <p:txBody>
          <a:bodyPr wrap="square" lIns="0" tIns="0" rIns="0" bIns="0" rtlCol="0" anchor="ctr"/>
          <a:lstStyle/>
          <a:p>
            <a:pPr indent="0" marL="0">
              <a:buNone/>
            </a:pPr>
            <a:r>
              <a:rPr lang="en-US" sz="900" b="1" spc="200" kern="0" dirty="0">
                <a:solidFill>
                  <a:srgbClr val="5C6E82"/>
                </a:solidFill>
                <a:latin typeface="Arial" pitchFamily="34" charset="0"/>
                <a:ea typeface="Arial" pitchFamily="34" charset="-122"/>
                <a:cs typeface="Arial" pitchFamily="34" charset="-120"/>
              </a:rPr>
              <a:t>TEIL 2</a:t>
            </a:r>
            <a:endParaRPr lang="en-US" sz="900" dirty="0"/>
          </a:p>
        </p:txBody>
      </p:sp>
      <p:sp>
        <p:nvSpPr>
          <p:cNvPr id="14" name="Text 12"/>
          <p:cNvSpPr/>
          <p:nvPr/>
        </p:nvSpPr>
        <p:spPr>
          <a:xfrm>
            <a:off x="2977286" y="2743200"/>
            <a:ext cx="1687982" cy="457200"/>
          </a:xfrm>
          <a:prstGeom prst="rect">
            <a:avLst/>
          </a:prstGeom>
          <a:noFill/>
          <a:ln/>
        </p:spPr>
        <p:txBody>
          <a:bodyPr wrap="square" lIns="0" tIns="0" rIns="0" bIns="0" rtlCol="0" anchor="ctr"/>
          <a:lstStyle/>
          <a:p>
            <a:pPr indent="0" marL="0">
              <a:buNone/>
            </a:pPr>
            <a:r>
              <a:rPr lang="en-US" sz="1800" b="1" dirty="0">
                <a:solidFill>
                  <a:srgbClr val="3ED6AC"/>
                </a:solidFill>
                <a:latin typeface="Arial" pitchFamily="34" charset="0"/>
                <a:ea typeface="Arial" pitchFamily="34" charset="-122"/>
                <a:cs typeface="Arial" pitchFamily="34" charset="-120"/>
              </a:rPr>
              <a:t>Rayaan</a:t>
            </a:r>
            <a:endParaRPr lang="en-US" sz="1800" dirty="0"/>
          </a:p>
        </p:txBody>
      </p:sp>
      <p:sp>
        <p:nvSpPr>
          <p:cNvPr id="15" name="Text 13"/>
          <p:cNvSpPr/>
          <p:nvPr/>
        </p:nvSpPr>
        <p:spPr>
          <a:xfrm>
            <a:off x="2977286" y="3246120"/>
            <a:ext cx="1687982" cy="1188720"/>
          </a:xfrm>
          <a:prstGeom prst="rect">
            <a:avLst/>
          </a:prstGeom>
          <a:noFill/>
          <a:ln/>
        </p:spPr>
        <p:txBody>
          <a:bodyPr wrap="square" lIns="0" tIns="0" rIns="0" bIns="0" rtlCol="0" anchor="ctr"/>
          <a:lstStyle/>
          <a:p>
            <a:pPr indent="0" marL="0">
              <a:lnSpc>
                <a:spcPct val="120000"/>
              </a:lnSpc>
              <a:buNone/>
            </a:pPr>
            <a:r>
              <a:rPr lang="en-US" sz="1100" dirty="0">
                <a:solidFill>
                  <a:srgbClr val="8FA0B4"/>
                </a:solidFill>
                <a:latin typeface="Arial" pitchFamily="34" charset="0"/>
                <a:ea typeface="Arial" pitchFamily="34" charset="-122"/>
                <a:cs typeface="Arial" pitchFamily="34" charset="-120"/>
              </a:rPr>
              <a:t>Markt, Kundschaft, Konkurrenz</a:t>
            </a:r>
            <a:endParaRPr lang="en-US" sz="1100" dirty="0"/>
          </a:p>
        </p:txBody>
      </p:sp>
      <p:sp>
        <p:nvSpPr>
          <p:cNvPr id="16" name="Shape 14"/>
          <p:cNvSpPr/>
          <p:nvPr/>
        </p:nvSpPr>
        <p:spPr>
          <a:xfrm>
            <a:off x="5049317" y="2194560"/>
            <a:ext cx="2090318" cy="2377440"/>
          </a:xfrm>
          <a:prstGeom prst="roundRect">
            <a:avLst>
              <a:gd name="adj" fmla="val 2187"/>
            </a:avLst>
          </a:prstGeom>
          <a:solidFill>
            <a:srgbClr val="141B24"/>
          </a:solidFill>
          <a:ln w="9525">
            <a:solidFill>
              <a:srgbClr val="243040"/>
            </a:solidFill>
            <a:prstDash val="solid"/>
          </a:ln>
        </p:spPr>
      </p:sp>
      <p:sp>
        <p:nvSpPr>
          <p:cNvPr id="17" name="Shape 15"/>
          <p:cNvSpPr/>
          <p:nvPr/>
        </p:nvSpPr>
        <p:spPr>
          <a:xfrm>
            <a:off x="5049317" y="2194560"/>
            <a:ext cx="2090318" cy="64008"/>
          </a:xfrm>
          <a:prstGeom prst="rect">
            <a:avLst/>
          </a:prstGeom>
          <a:solidFill>
            <a:srgbClr val="F4647A"/>
          </a:solidFill>
          <a:ln/>
        </p:spPr>
      </p:sp>
      <p:sp>
        <p:nvSpPr>
          <p:cNvPr id="18" name="Text 16"/>
          <p:cNvSpPr/>
          <p:nvPr/>
        </p:nvSpPr>
        <p:spPr>
          <a:xfrm>
            <a:off x="5250485" y="2450592"/>
            <a:ext cx="1687982" cy="237744"/>
          </a:xfrm>
          <a:prstGeom prst="rect">
            <a:avLst/>
          </a:prstGeom>
          <a:noFill/>
          <a:ln/>
        </p:spPr>
        <p:txBody>
          <a:bodyPr wrap="square" lIns="0" tIns="0" rIns="0" bIns="0" rtlCol="0" anchor="ctr"/>
          <a:lstStyle/>
          <a:p>
            <a:pPr indent="0" marL="0">
              <a:buNone/>
            </a:pPr>
            <a:r>
              <a:rPr lang="en-US" sz="900" b="1" spc="200" kern="0" dirty="0">
                <a:solidFill>
                  <a:srgbClr val="5C6E82"/>
                </a:solidFill>
                <a:latin typeface="Arial" pitchFamily="34" charset="0"/>
                <a:ea typeface="Arial" pitchFamily="34" charset="-122"/>
                <a:cs typeface="Arial" pitchFamily="34" charset="-120"/>
              </a:rPr>
              <a:t>TEIL 3</a:t>
            </a:r>
            <a:endParaRPr lang="en-US" sz="900" dirty="0"/>
          </a:p>
        </p:txBody>
      </p:sp>
      <p:sp>
        <p:nvSpPr>
          <p:cNvPr id="19" name="Text 17"/>
          <p:cNvSpPr/>
          <p:nvPr/>
        </p:nvSpPr>
        <p:spPr>
          <a:xfrm>
            <a:off x="5250485" y="2743200"/>
            <a:ext cx="1687982" cy="457200"/>
          </a:xfrm>
          <a:prstGeom prst="rect">
            <a:avLst/>
          </a:prstGeom>
          <a:noFill/>
          <a:ln/>
        </p:spPr>
        <p:txBody>
          <a:bodyPr wrap="square" lIns="0" tIns="0" rIns="0" bIns="0" rtlCol="0" anchor="ctr"/>
          <a:lstStyle/>
          <a:p>
            <a:pPr indent="0" marL="0">
              <a:buNone/>
            </a:pPr>
            <a:r>
              <a:rPr lang="en-US" sz="1800" b="1" dirty="0">
                <a:solidFill>
                  <a:srgbClr val="F4647A"/>
                </a:solidFill>
                <a:latin typeface="Arial" pitchFamily="34" charset="0"/>
                <a:ea typeface="Arial" pitchFamily="34" charset="-122"/>
                <a:cs typeface="Arial" pitchFamily="34" charset="-120"/>
              </a:rPr>
              <a:t>Fernando</a:t>
            </a:r>
            <a:endParaRPr lang="en-US" sz="1800" dirty="0"/>
          </a:p>
        </p:txBody>
      </p:sp>
      <p:sp>
        <p:nvSpPr>
          <p:cNvPr id="20" name="Text 18"/>
          <p:cNvSpPr/>
          <p:nvPr/>
        </p:nvSpPr>
        <p:spPr>
          <a:xfrm>
            <a:off x="5250485" y="3246120"/>
            <a:ext cx="1687982" cy="1188720"/>
          </a:xfrm>
          <a:prstGeom prst="rect">
            <a:avLst/>
          </a:prstGeom>
          <a:noFill/>
          <a:ln/>
        </p:spPr>
        <p:txBody>
          <a:bodyPr wrap="square" lIns="0" tIns="0" rIns="0" bIns="0" rtlCol="0" anchor="ctr"/>
          <a:lstStyle/>
          <a:p>
            <a:pPr indent="0" marL="0">
              <a:lnSpc>
                <a:spcPct val="120000"/>
              </a:lnSpc>
              <a:buNone/>
            </a:pPr>
            <a:r>
              <a:rPr lang="en-US" sz="1100" dirty="0">
                <a:solidFill>
                  <a:srgbClr val="8FA0B4"/>
                </a:solidFill>
                <a:latin typeface="Arial" pitchFamily="34" charset="0"/>
                <a:ea typeface="Arial" pitchFamily="34" charset="-122"/>
                <a:cs typeface="Arial" pitchFamily="34" charset="-120"/>
              </a:rPr>
              <a:t>Sortiment und Preise</a:t>
            </a:r>
            <a:endParaRPr lang="en-US" sz="1100" dirty="0"/>
          </a:p>
        </p:txBody>
      </p:sp>
      <p:sp>
        <p:nvSpPr>
          <p:cNvPr id="21" name="Shape 19"/>
          <p:cNvSpPr/>
          <p:nvPr/>
        </p:nvSpPr>
        <p:spPr>
          <a:xfrm>
            <a:off x="7322515" y="2194560"/>
            <a:ext cx="2090318" cy="2377440"/>
          </a:xfrm>
          <a:prstGeom prst="roundRect">
            <a:avLst>
              <a:gd name="adj" fmla="val 2187"/>
            </a:avLst>
          </a:prstGeom>
          <a:solidFill>
            <a:srgbClr val="141B24"/>
          </a:solidFill>
          <a:ln w="9525">
            <a:solidFill>
              <a:srgbClr val="243040"/>
            </a:solidFill>
            <a:prstDash val="solid"/>
          </a:ln>
        </p:spPr>
      </p:sp>
      <p:sp>
        <p:nvSpPr>
          <p:cNvPr id="22" name="Shape 20"/>
          <p:cNvSpPr/>
          <p:nvPr/>
        </p:nvSpPr>
        <p:spPr>
          <a:xfrm>
            <a:off x="7322515" y="2194560"/>
            <a:ext cx="2090318" cy="64008"/>
          </a:xfrm>
          <a:prstGeom prst="rect">
            <a:avLst/>
          </a:prstGeom>
          <a:solidFill>
            <a:srgbClr val="6699FF"/>
          </a:solidFill>
          <a:ln/>
        </p:spPr>
      </p:sp>
      <p:sp>
        <p:nvSpPr>
          <p:cNvPr id="23" name="Text 21"/>
          <p:cNvSpPr/>
          <p:nvPr/>
        </p:nvSpPr>
        <p:spPr>
          <a:xfrm>
            <a:off x="7523683" y="2450592"/>
            <a:ext cx="1687982" cy="237744"/>
          </a:xfrm>
          <a:prstGeom prst="rect">
            <a:avLst/>
          </a:prstGeom>
          <a:noFill/>
          <a:ln/>
        </p:spPr>
        <p:txBody>
          <a:bodyPr wrap="square" lIns="0" tIns="0" rIns="0" bIns="0" rtlCol="0" anchor="ctr"/>
          <a:lstStyle/>
          <a:p>
            <a:pPr indent="0" marL="0">
              <a:buNone/>
            </a:pPr>
            <a:r>
              <a:rPr lang="en-US" sz="900" b="1" spc="200" kern="0" dirty="0">
                <a:solidFill>
                  <a:srgbClr val="5C6E82"/>
                </a:solidFill>
                <a:latin typeface="Arial" pitchFamily="34" charset="0"/>
                <a:ea typeface="Arial" pitchFamily="34" charset="-122"/>
                <a:cs typeface="Arial" pitchFamily="34" charset="-120"/>
              </a:rPr>
              <a:t>TEIL 4</a:t>
            </a:r>
            <a:endParaRPr lang="en-US" sz="900" dirty="0"/>
          </a:p>
        </p:txBody>
      </p:sp>
      <p:sp>
        <p:nvSpPr>
          <p:cNvPr id="24" name="Text 22"/>
          <p:cNvSpPr/>
          <p:nvPr/>
        </p:nvSpPr>
        <p:spPr>
          <a:xfrm>
            <a:off x="7523683" y="2743200"/>
            <a:ext cx="1687982" cy="457200"/>
          </a:xfrm>
          <a:prstGeom prst="rect">
            <a:avLst/>
          </a:prstGeom>
          <a:noFill/>
          <a:ln/>
        </p:spPr>
        <p:txBody>
          <a:bodyPr wrap="square" lIns="0" tIns="0" rIns="0" bIns="0" rtlCol="0" anchor="ctr"/>
          <a:lstStyle/>
          <a:p>
            <a:pPr indent="0" marL="0">
              <a:buNone/>
            </a:pPr>
            <a:r>
              <a:rPr lang="en-US" sz="1800" b="1" dirty="0">
                <a:solidFill>
                  <a:srgbClr val="6699FF"/>
                </a:solidFill>
                <a:latin typeface="Arial" pitchFamily="34" charset="0"/>
                <a:ea typeface="Arial" pitchFamily="34" charset="-122"/>
                <a:cs typeface="Arial" pitchFamily="34" charset="-120"/>
              </a:rPr>
              <a:t>Samed</a:t>
            </a:r>
            <a:endParaRPr lang="en-US" sz="1800" dirty="0"/>
          </a:p>
        </p:txBody>
      </p:sp>
      <p:sp>
        <p:nvSpPr>
          <p:cNvPr id="25" name="Text 23"/>
          <p:cNvSpPr/>
          <p:nvPr/>
        </p:nvSpPr>
        <p:spPr>
          <a:xfrm>
            <a:off x="7523683" y="3246120"/>
            <a:ext cx="1687982" cy="1188720"/>
          </a:xfrm>
          <a:prstGeom prst="rect">
            <a:avLst/>
          </a:prstGeom>
          <a:noFill/>
          <a:ln/>
        </p:spPr>
        <p:txBody>
          <a:bodyPr wrap="square" lIns="0" tIns="0" rIns="0" bIns="0" rtlCol="0" anchor="ctr"/>
          <a:lstStyle/>
          <a:p>
            <a:pPr indent="0" marL="0">
              <a:lnSpc>
                <a:spcPct val="120000"/>
              </a:lnSpc>
              <a:buNone/>
            </a:pPr>
            <a:r>
              <a:rPr lang="en-US" sz="1100" dirty="0">
                <a:solidFill>
                  <a:srgbClr val="8FA0B4"/>
                </a:solidFill>
                <a:latin typeface="Arial" pitchFamily="34" charset="0"/>
                <a:ea typeface="Arial" pitchFamily="34" charset="-122"/>
                <a:cs typeface="Arial" pitchFamily="34" charset="-120"/>
              </a:rPr>
              <a:t>Shopify und Abwicklung</a:t>
            </a:r>
            <a:endParaRPr lang="en-US" sz="1100" dirty="0"/>
          </a:p>
        </p:txBody>
      </p:sp>
      <p:sp>
        <p:nvSpPr>
          <p:cNvPr id="26" name="Shape 24"/>
          <p:cNvSpPr/>
          <p:nvPr/>
        </p:nvSpPr>
        <p:spPr>
          <a:xfrm>
            <a:off x="9595714" y="2194560"/>
            <a:ext cx="2090318" cy="2377440"/>
          </a:xfrm>
          <a:prstGeom prst="roundRect">
            <a:avLst>
              <a:gd name="adj" fmla="val 2187"/>
            </a:avLst>
          </a:prstGeom>
          <a:solidFill>
            <a:srgbClr val="141B24"/>
          </a:solidFill>
          <a:ln w="9525">
            <a:solidFill>
              <a:srgbClr val="243040"/>
            </a:solidFill>
            <a:prstDash val="solid"/>
          </a:ln>
        </p:spPr>
      </p:sp>
      <p:sp>
        <p:nvSpPr>
          <p:cNvPr id="27" name="Shape 25"/>
          <p:cNvSpPr/>
          <p:nvPr/>
        </p:nvSpPr>
        <p:spPr>
          <a:xfrm>
            <a:off x="9595714" y="2194560"/>
            <a:ext cx="2090318" cy="64008"/>
          </a:xfrm>
          <a:prstGeom prst="rect">
            <a:avLst/>
          </a:prstGeom>
          <a:solidFill>
            <a:srgbClr val="C58BFF"/>
          </a:solidFill>
          <a:ln/>
        </p:spPr>
      </p:sp>
      <p:sp>
        <p:nvSpPr>
          <p:cNvPr id="28" name="Text 26"/>
          <p:cNvSpPr/>
          <p:nvPr/>
        </p:nvSpPr>
        <p:spPr>
          <a:xfrm>
            <a:off x="9796882" y="2450592"/>
            <a:ext cx="1687982" cy="237744"/>
          </a:xfrm>
          <a:prstGeom prst="rect">
            <a:avLst/>
          </a:prstGeom>
          <a:noFill/>
          <a:ln/>
        </p:spPr>
        <p:txBody>
          <a:bodyPr wrap="square" lIns="0" tIns="0" rIns="0" bIns="0" rtlCol="0" anchor="ctr"/>
          <a:lstStyle/>
          <a:p>
            <a:pPr indent="0" marL="0">
              <a:buNone/>
            </a:pPr>
            <a:r>
              <a:rPr lang="en-US" sz="900" b="1" spc="200" kern="0" dirty="0">
                <a:solidFill>
                  <a:srgbClr val="5C6E82"/>
                </a:solidFill>
                <a:latin typeface="Arial" pitchFamily="34" charset="0"/>
                <a:ea typeface="Arial" pitchFamily="34" charset="-122"/>
                <a:cs typeface="Arial" pitchFamily="34" charset="-120"/>
              </a:rPr>
              <a:t>TEIL 5</a:t>
            </a:r>
            <a:endParaRPr lang="en-US" sz="900" dirty="0"/>
          </a:p>
        </p:txBody>
      </p:sp>
      <p:sp>
        <p:nvSpPr>
          <p:cNvPr id="29" name="Text 27"/>
          <p:cNvSpPr/>
          <p:nvPr/>
        </p:nvSpPr>
        <p:spPr>
          <a:xfrm>
            <a:off x="9796882" y="2743200"/>
            <a:ext cx="1687982" cy="457200"/>
          </a:xfrm>
          <a:prstGeom prst="rect">
            <a:avLst/>
          </a:prstGeom>
          <a:noFill/>
          <a:ln/>
        </p:spPr>
        <p:txBody>
          <a:bodyPr wrap="square" lIns="0" tIns="0" rIns="0" bIns="0" rtlCol="0" anchor="ctr"/>
          <a:lstStyle/>
          <a:p>
            <a:pPr indent="0" marL="0">
              <a:buNone/>
            </a:pPr>
            <a:r>
              <a:rPr lang="en-US" sz="1800" b="1" dirty="0">
                <a:solidFill>
                  <a:srgbClr val="C58BFF"/>
                </a:solidFill>
                <a:latin typeface="Arial" pitchFamily="34" charset="0"/>
                <a:ea typeface="Arial" pitchFamily="34" charset="-122"/>
                <a:cs typeface="Arial" pitchFamily="34" charset="-120"/>
              </a:rPr>
              <a:t>Kim</a:t>
            </a:r>
            <a:endParaRPr lang="en-US" sz="1800" dirty="0"/>
          </a:p>
        </p:txBody>
      </p:sp>
      <p:sp>
        <p:nvSpPr>
          <p:cNvPr id="30" name="Text 28"/>
          <p:cNvSpPr/>
          <p:nvPr/>
        </p:nvSpPr>
        <p:spPr>
          <a:xfrm>
            <a:off x="9796882" y="3246120"/>
            <a:ext cx="1687982" cy="1188720"/>
          </a:xfrm>
          <a:prstGeom prst="rect">
            <a:avLst/>
          </a:prstGeom>
          <a:noFill/>
          <a:ln/>
        </p:spPr>
        <p:txBody>
          <a:bodyPr wrap="square" lIns="0" tIns="0" rIns="0" bIns="0" rtlCol="0" anchor="ctr"/>
          <a:lstStyle/>
          <a:p>
            <a:pPr indent="0" marL="0">
              <a:lnSpc>
                <a:spcPct val="120000"/>
              </a:lnSpc>
              <a:buNone/>
            </a:pPr>
            <a:r>
              <a:rPr lang="en-US" sz="1100" dirty="0">
                <a:solidFill>
                  <a:srgbClr val="8FA0B4"/>
                </a:solidFill>
                <a:latin typeface="Arial" pitchFamily="34" charset="0"/>
                <a:ea typeface="Arial" pitchFamily="34" charset="-122"/>
                <a:cs typeface="Arial" pitchFamily="34" charset="-120"/>
              </a:rPr>
              <a:t>Recht, Zahlen, Schluss</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85" fill="hold">
                      <p:stCondLst>
                        <p:cond delay="indefinite"/>
                        <p:cond evt="onBegin" delay="0">
                          <p:tn val="2"/>
                        </p:cond>
                      </p:stCondLst>
                      <p:childTnLst>
                        <p:par>
                          <p:cTn id="84"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00"/>
                                        <p:tgtEl>
                                          <p:spTgt spid="8"/>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00"/>
                                        <p:tgtEl>
                                          <p:spTgt spid="9"/>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00"/>
                                        <p:tgtEl>
                                          <p:spTgt spid="10"/>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00"/>
                                        <p:tgtEl>
                                          <p:spTgt spid="11"/>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00"/>
                                        <p:tgtEl>
                                          <p:spTgt spid="12"/>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00"/>
                                        <p:tgtEl>
                                          <p:spTgt spid="13"/>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00"/>
                                        <p:tgtEl>
                                          <p:spTgt spid="14"/>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00"/>
                                        <p:tgtEl>
                                          <p:spTgt spid="15"/>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00"/>
                                        <p:tgtEl>
                                          <p:spTgt spid="16"/>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00"/>
                                        <p:tgtEl>
                                          <p:spTgt spid="17"/>
                                        </p:tgtEl>
                                      </p:cBhvr>
                                    </p:animEffect>
                                  </p:childTnLst>
                                </p:cTn>
                              </p:par>
                              <p:par>
                                <p:cTn id="45" presetID="10" presetClass="entr" presetSubtype="0" fill="hold" grpId="0" nodeType="afterEffect">
                                  <p:stCondLst>
                                    <p:cond delay="182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00"/>
                                        <p:tgtEl>
                                          <p:spTgt spid="18"/>
                                        </p:tgtEl>
                                      </p:cBhvr>
                                    </p:animEffect>
                                  </p:childTnLst>
                                </p:cTn>
                              </p:par>
                              <p:par>
                                <p:cTn id="48" presetID="10" presetClass="entr" presetSubtype="0" fill="hold" grpId="0" nodeType="afterEffect">
                                  <p:stCondLst>
                                    <p:cond delay="195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00"/>
                                        <p:tgtEl>
                                          <p:spTgt spid="19"/>
                                        </p:tgtEl>
                                      </p:cBhvr>
                                    </p:animEffect>
                                  </p:childTnLst>
                                </p:cTn>
                              </p:par>
                              <p:par>
                                <p:cTn id="51" presetID="10" presetClass="entr" presetSubtype="0" fill="hold" grpId="0" nodeType="afterEffect">
                                  <p:stCondLst>
                                    <p:cond delay="208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00"/>
                                        <p:tgtEl>
                                          <p:spTgt spid="20"/>
                                        </p:tgtEl>
                                      </p:cBhvr>
                                    </p:animEffect>
                                  </p:childTnLst>
                                </p:cTn>
                              </p:par>
                              <p:par>
                                <p:cTn id="54" presetID="10" presetClass="entr" presetSubtype="0" fill="hold" grpId="0" nodeType="afterEffect">
                                  <p:stCondLst>
                                    <p:cond delay="221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00"/>
                                        <p:tgtEl>
                                          <p:spTgt spid="21"/>
                                        </p:tgtEl>
                                      </p:cBhvr>
                                    </p:animEffect>
                                  </p:childTnLst>
                                </p:cTn>
                              </p:par>
                              <p:par>
                                <p:cTn id="57" presetID="10" presetClass="entr" presetSubtype="0" fill="hold" grpId="0" nodeType="afterEffect">
                                  <p:stCondLst>
                                    <p:cond delay="234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00"/>
                                        <p:tgtEl>
                                          <p:spTgt spid="22"/>
                                        </p:tgtEl>
                                      </p:cBhvr>
                                    </p:animEffect>
                                  </p:childTnLst>
                                </p:cTn>
                              </p:par>
                              <p:par>
                                <p:cTn id="60" presetID="10" presetClass="entr" presetSubtype="0" fill="hold" grpId="0" nodeType="afterEffect">
                                  <p:stCondLst>
                                    <p:cond delay="247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400"/>
                                        <p:tgtEl>
                                          <p:spTgt spid="23"/>
                                        </p:tgtEl>
                                      </p:cBhvr>
                                    </p:animEffect>
                                  </p:childTnLst>
                                </p:cTn>
                              </p:par>
                              <p:par>
                                <p:cTn id="63" presetID="10" presetClass="entr" presetSubtype="0" fill="hold" grpId="0" nodeType="afterEffect">
                                  <p:stCondLst>
                                    <p:cond delay="260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400"/>
                                        <p:tgtEl>
                                          <p:spTgt spid="24"/>
                                        </p:tgtEl>
                                      </p:cBhvr>
                                    </p:animEffect>
                                  </p:childTnLst>
                                </p:cTn>
                              </p:par>
                              <p:par>
                                <p:cTn id="66" presetID="10" presetClass="entr" presetSubtype="0" fill="hold" grpId="0" nodeType="afterEffect">
                                  <p:stCondLst>
                                    <p:cond delay="273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400"/>
                                        <p:tgtEl>
                                          <p:spTgt spid="25"/>
                                        </p:tgtEl>
                                      </p:cBhvr>
                                    </p:animEffect>
                                  </p:childTnLst>
                                </p:cTn>
                              </p:par>
                              <p:par>
                                <p:cTn id="69" presetID="10" presetClass="entr" presetSubtype="0" fill="hold" grpId="0" nodeType="afterEffect">
                                  <p:stCondLst>
                                    <p:cond delay="286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400"/>
                                        <p:tgtEl>
                                          <p:spTgt spid="26"/>
                                        </p:tgtEl>
                                      </p:cBhvr>
                                    </p:animEffect>
                                  </p:childTnLst>
                                </p:cTn>
                              </p:par>
                              <p:par>
                                <p:cTn id="72" presetID="10" presetClass="entr" presetSubtype="0" fill="hold" grpId="0" nodeType="afterEffect">
                                  <p:stCondLst>
                                    <p:cond delay="299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par>
                                <p:cTn id="75" presetID="10" presetClass="entr" presetSubtype="0" fill="hold" grpId="0" nodeType="afterEffect">
                                  <p:stCondLst>
                                    <p:cond delay="31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00"/>
                                        <p:tgtEl>
                                          <p:spTgt spid="28"/>
                                        </p:tgtEl>
                                      </p:cBhvr>
                                    </p:animEffect>
                                  </p:childTnLst>
                                </p:cTn>
                              </p:par>
                              <p:par>
                                <p:cTn id="78" presetID="10" presetClass="entr" presetSubtype="0" fill="hold" grpId="0" nodeType="afterEffect">
                                  <p:stCondLst>
                                    <p:cond delay="325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400"/>
                                        <p:tgtEl>
                                          <p:spTgt spid="29"/>
                                        </p:tgtEl>
                                      </p:cBhvr>
                                    </p:animEffect>
                                  </p:childTnLst>
                                </p:cTn>
                              </p:par>
                              <p:par>
                                <p:cTn id="81" presetID="10" presetClass="entr" presetSubtype="0" fill="hold" grpId="0" nodeType="afterEffect">
                                  <p:stCondLst>
                                    <p:cond delay="338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3</a:t>
            </a:r>
            <a:endParaRPr lang="en-US" sz="850" dirty="0"/>
          </a:p>
        </p:txBody>
      </p:sp>
      <p:sp>
        <p:nvSpPr>
          <p:cNvPr id="4" name="Text 2"/>
          <p:cNvSpPr/>
          <p:nvPr/>
        </p:nvSpPr>
        <p:spPr>
          <a:xfrm>
            <a:off x="1527048" y="1965960"/>
            <a:ext cx="9144000" cy="320040"/>
          </a:xfrm>
          <a:prstGeom prst="rect">
            <a:avLst/>
          </a:prstGeom>
          <a:noFill/>
          <a:ln/>
        </p:spPr>
        <p:txBody>
          <a:bodyPr wrap="square" lIns="0" tIns="0" rIns="0" bIns="0" rtlCol="0" anchor="ctr"/>
          <a:lstStyle/>
          <a:p>
            <a:pPr algn="ctr" indent="0" marL="0">
              <a:buNone/>
            </a:pPr>
            <a:r>
              <a:rPr lang="en-US" sz="1200" b="1" spc="500" kern="0" dirty="0">
                <a:solidFill>
                  <a:srgbClr val="5C6E82"/>
                </a:solidFill>
                <a:latin typeface="Arial" pitchFamily="34" charset="0"/>
                <a:ea typeface="Arial" pitchFamily="34" charset="-122"/>
                <a:cs typeface="Arial" pitchFamily="34" charset="-120"/>
              </a:rPr>
              <a:t>TEIL 1 VON 5</a:t>
            </a:r>
            <a:endParaRPr lang="en-US" sz="1200" dirty="0"/>
          </a:p>
        </p:txBody>
      </p:sp>
      <p:sp>
        <p:nvSpPr>
          <p:cNvPr id="5" name="Text 3"/>
          <p:cNvSpPr/>
          <p:nvPr/>
        </p:nvSpPr>
        <p:spPr>
          <a:xfrm>
            <a:off x="612648" y="2331720"/>
            <a:ext cx="10972800" cy="1737360"/>
          </a:xfrm>
          <a:prstGeom prst="rect">
            <a:avLst/>
          </a:prstGeom>
          <a:noFill/>
          <a:ln/>
        </p:spPr>
        <p:txBody>
          <a:bodyPr wrap="square" lIns="0" tIns="0" rIns="0" bIns="0" rtlCol="0" anchor="ctr"/>
          <a:lstStyle/>
          <a:p>
            <a:pPr algn="ctr" indent="0" marL="0">
              <a:buNone/>
            </a:pPr>
            <a:r>
              <a:rPr lang="en-US" sz="8400" b="1" dirty="0">
                <a:solidFill>
                  <a:srgbClr val="F5A833"/>
                </a:solidFill>
                <a:latin typeface="Arial" pitchFamily="34" charset="0"/>
                <a:ea typeface="Arial" pitchFamily="34" charset="-122"/>
                <a:cs typeface="Arial" pitchFamily="34" charset="-120"/>
              </a:rPr>
              <a:t>Yassin</a:t>
            </a:r>
            <a:endParaRPr lang="en-US" sz="8400" dirty="0"/>
          </a:p>
        </p:txBody>
      </p:sp>
      <p:sp>
        <p:nvSpPr>
          <p:cNvPr id="6" name="Text 4"/>
          <p:cNvSpPr/>
          <p:nvPr/>
        </p:nvSpPr>
        <p:spPr>
          <a:xfrm>
            <a:off x="1527048" y="4206240"/>
            <a:ext cx="9144000" cy="502920"/>
          </a:xfrm>
          <a:prstGeom prst="rect">
            <a:avLst/>
          </a:prstGeom>
          <a:noFill/>
          <a:ln/>
        </p:spPr>
        <p:txBody>
          <a:bodyPr wrap="square" lIns="0" tIns="0" rIns="0" bIns="0" rtlCol="0" anchor="ctr"/>
          <a:lstStyle/>
          <a:p>
            <a:pPr algn="ctr" indent="0" marL="0">
              <a:buNone/>
            </a:pPr>
            <a:r>
              <a:rPr lang="en-US" sz="1900" dirty="0">
                <a:solidFill>
                  <a:srgbClr val="8FA0B4"/>
                </a:solidFill>
                <a:latin typeface="Arial" pitchFamily="34" charset="0"/>
                <a:ea typeface="Arial" pitchFamily="34" charset="-122"/>
                <a:cs typeface="Arial" pitchFamily="34" charset="-120"/>
              </a:rPr>
              <a:t>Das Problem und die Idee</a:t>
            </a:r>
            <a:endParaRPr lang="en-US" sz="1900" dirty="0"/>
          </a:p>
        </p:txBody>
      </p:sp>
      <p:sp>
        <p:nvSpPr>
          <p:cNvPr id="7" name="Text 5"/>
          <p:cNvSpPr/>
          <p:nvPr/>
        </p:nvSpPr>
        <p:spPr>
          <a:xfrm>
            <a:off x="1527048" y="4846320"/>
            <a:ext cx="9144000" cy="320040"/>
          </a:xfrm>
          <a:prstGeom prst="rect">
            <a:avLst/>
          </a:prstGeom>
          <a:noFill/>
          <a:ln/>
        </p:spPr>
        <p:txBody>
          <a:bodyPr wrap="square" lIns="0" tIns="0" rIns="0" bIns="0" rtlCol="0" anchor="ctr"/>
          <a:lstStyle/>
          <a:p>
            <a:pPr algn="ctr" indent="0" marL="0">
              <a:buNone/>
            </a:pPr>
            <a:r>
              <a:rPr lang="en-US" sz="1100" b="1" spc="300" kern="0" dirty="0">
                <a:solidFill>
                  <a:srgbClr val="5C6E82"/>
                </a:solidFill>
                <a:latin typeface="Arial" pitchFamily="34" charset="0"/>
                <a:ea typeface="Arial" pitchFamily="34" charset="-122"/>
                <a:cs typeface="Arial" pitchFamily="34" charset="-120"/>
              </a:rPr>
              <a:t>1–2 MINUTEN</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6" fill="hold">
                      <p:stCondLst>
                        <p:cond delay="indefinite"/>
                        <p:cond evt="onBegin" delay="0">
                          <p:tn val="2"/>
                        </p:cond>
                      </p:stCondLst>
                      <p:childTnLst>
                        <p:par>
                          <p:cTn id="15"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4</a:t>
            </a:r>
            <a:endParaRPr lang="en-US" sz="850" dirty="0"/>
          </a:p>
        </p:txBody>
      </p:sp>
      <p:sp>
        <p:nvSpPr>
          <p:cNvPr id="4" name="chrome-reserve"/>
          <p:cNvSpPr/>
          <p:nvPr/>
        </p:nvSpPr>
        <p:spPr>
          <a:xfrm>
            <a:off x="8778240" y="384048"/>
            <a:ext cx="2926080" cy="274320"/>
          </a:xfrm>
          <a:prstGeom prst="rect">
            <a:avLst/>
          </a:prstGeom>
          <a:noFill/>
          <a:ln/>
        </p:spPr>
        <p:txBody>
          <a:bodyPr wrap="square" lIns="0" tIns="0" rIns="0" bIns="0" rtlCol="0" anchor="ctr"/>
          <a:lstStyle/>
          <a:p>
            <a:pPr algn="r" indent="0" marL="0">
              <a:buNone/>
            </a:pPr>
            <a:r>
              <a:rPr lang="en-US" sz="900" b="1" spc="200" kern="0" dirty="0">
                <a:solidFill>
                  <a:srgbClr val="5C6E82"/>
                </a:solidFill>
                <a:latin typeface="Arial" pitchFamily="34" charset="0"/>
                <a:ea typeface="Arial" pitchFamily="34" charset="-122"/>
                <a:cs typeface="Arial" pitchFamily="34" charset="-120"/>
              </a:rPr>
              <a:t>RESERVE · NUR BEI NACHFRAGE</a:t>
            </a:r>
            <a:endParaRPr lang="en-US" sz="900" dirty="0"/>
          </a:p>
        </p:txBody>
      </p:sp>
      <p:sp>
        <p:nvSpPr>
          <p:cNvPr id="5" name="Text 3"/>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F5A833"/>
                </a:solidFill>
                <a:latin typeface="Arial" pitchFamily="34" charset="0"/>
                <a:ea typeface="Arial" pitchFamily="34" charset="-122"/>
                <a:cs typeface="Arial" pitchFamily="34" charset="-120"/>
              </a:rPr>
              <a:t>01 · DAS PROBLEM</a:t>
            </a:r>
            <a:endParaRPr lang="en-US" sz="1050" dirty="0"/>
          </a:p>
        </p:txBody>
      </p:sp>
      <p:sp>
        <p:nvSpPr>
          <p:cNvPr id="6" name="Text 4"/>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Im Preis steckt der halbe Laden</a:t>
            </a:r>
            <a:endParaRPr lang="en-US" sz="3000" dirty="0"/>
          </a:p>
        </p:txBody>
      </p:sp>
      <p:sp>
        <p:nvSpPr>
          <p:cNvPr id="7" name="Shape 5"/>
          <p:cNvSpPr/>
          <p:nvPr/>
        </p:nvSpPr>
        <p:spPr>
          <a:xfrm>
            <a:off x="548640" y="2286000"/>
            <a:ext cx="128016" cy="128016"/>
          </a:xfrm>
          <a:prstGeom prst="rect">
            <a:avLst/>
          </a:prstGeom>
          <a:solidFill>
            <a:srgbClr val="F5A833"/>
          </a:solidFill>
          <a:ln/>
        </p:spPr>
      </p:sp>
      <p:sp>
        <p:nvSpPr>
          <p:cNvPr id="8" name="Text 6"/>
          <p:cNvSpPr/>
          <p:nvPr/>
        </p:nvSpPr>
        <p:spPr>
          <a:xfrm>
            <a:off x="914400" y="2194560"/>
            <a:ext cx="10515600" cy="1051560"/>
          </a:xfrm>
          <a:prstGeom prst="rect">
            <a:avLst/>
          </a:prstGeom>
          <a:noFill/>
          <a:ln/>
        </p:spPr>
        <p:txBody>
          <a:bodyPr wrap="square" lIns="0" tIns="0" rIns="0" bIns="0" rtlCol="0" anchor="t"/>
          <a:lstStyle/>
          <a:p>
            <a:pPr indent="0" marL="0">
              <a:lnSpc>
                <a:spcPct val="115000"/>
              </a:lnSpc>
              <a:buNone/>
            </a:pPr>
            <a:r>
              <a:rPr lang="en-US" sz="1400" b="1" dirty="0">
                <a:solidFill>
                  <a:srgbClr val="EDF2F7"/>
                </a:solidFill>
                <a:latin typeface="Arial" pitchFamily="34" charset="0"/>
                <a:ea typeface="Arial" pitchFamily="34" charset="-122"/>
                <a:cs typeface="Arial" pitchFamily="34" charset="-120"/>
              </a:rPr>
              <a:t>Miete, Personal und Werbung zahlt der Kunde mit — </a:t>
            </a:r>
            <a:pPr indent="0" marL="0">
              <a:lnSpc>
                <a:spcPct val="115000"/>
              </a:lnSpc>
              <a:buNone/>
            </a:pPr>
            <a:r>
              <a:rPr lang="en-US" sz="1300" dirty="0">
                <a:solidFill>
                  <a:srgbClr val="8FA0B4"/>
                </a:solidFill>
                <a:latin typeface="Arial" pitchFamily="34" charset="0"/>
                <a:ea typeface="Arial" pitchFamily="34" charset="-122"/>
                <a:cs typeface="Arial" pitchFamily="34" charset="-120"/>
              </a:rPr>
              <a:t>rund 10–15 % des Ladenpreises.</a:t>
            </a:r>
            <a:endParaRPr lang="en-US" sz="1400" dirty="0"/>
          </a:p>
        </p:txBody>
      </p:sp>
      <p:sp>
        <p:nvSpPr>
          <p:cNvPr id="9" name="Shape 7"/>
          <p:cNvSpPr/>
          <p:nvPr/>
        </p:nvSpPr>
        <p:spPr>
          <a:xfrm>
            <a:off x="548640" y="3429000"/>
            <a:ext cx="128016" cy="128016"/>
          </a:xfrm>
          <a:prstGeom prst="rect">
            <a:avLst/>
          </a:prstGeom>
          <a:solidFill>
            <a:srgbClr val="F5A833"/>
          </a:solidFill>
          <a:ln/>
        </p:spPr>
      </p:sp>
      <p:sp>
        <p:nvSpPr>
          <p:cNvPr id="10" name="Text 8"/>
          <p:cNvSpPr/>
          <p:nvPr/>
        </p:nvSpPr>
        <p:spPr>
          <a:xfrm>
            <a:off x="914400" y="3337560"/>
            <a:ext cx="10515600" cy="1051560"/>
          </a:xfrm>
          <a:prstGeom prst="rect">
            <a:avLst/>
          </a:prstGeom>
          <a:noFill/>
          <a:ln/>
        </p:spPr>
        <p:txBody>
          <a:bodyPr wrap="square" lIns="0" tIns="0" rIns="0" bIns="0" rtlCol="0" anchor="t"/>
          <a:lstStyle/>
          <a:p>
            <a:pPr indent="0" marL="0">
              <a:lnSpc>
                <a:spcPct val="115000"/>
              </a:lnSpc>
              <a:buNone/>
            </a:pPr>
            <a:r>
              <a:rPr lang="en-US" sz="1400" b="1" dirty="0">
                <a:solidFill>
                  <a:srgbClr val="EDF2F7"/>
                </a:solidFill>
                <a:latin typeface="Arial" pitchFamily="34" charset="0"/>
                <a:ea typeface="Arial" pitchFamily="34" charset="-122"/>
                <a:cs typeface="Arial" pitchFamily="34" charset="-120"/>
              </a:rPr>
              <a:t>Tausende Produkte im Katalog — </a:t>
            </a:r>
            <a:pPr indent="0" marL="0">
              <a:lnSpc>
                <a:spcPct val="115000"/>
              </a:lnSpc>
              <a:buNone/>
            </a:pPr>
            <a:r>
              <a:rPr lang="en-US" sz="1300" dirty="0">
                <a:solidFill>
                  <a:srgbClr val="8FA0B4"/>
                </a:solidFill>
                <a:latin typeface="Arial" pitchFamily="34" charset="0"/>
                <a:ea typeface="Arial" pitchFamily="34" charset="-122"/>
                <a:cs typeface="Arial" pitchFamily="34" charset="-120"/>
              </a:rPr>
              <a:t>Lagerkosten und Ladenhüter zahlt auch der Kunde.</a:t>
            </a:r>
            <a:endParaRPr lang="en-US" sz="1400" dirty="0"/>
          </a:p>
        </p:txBody>
      </p:sp>
      <p:sp>
        <p:nvSpPr>
          <p:cNvPr id="11" name="Shape 9"/>
          <p:cNvSpPr/>
          <p:nvPr/>
        </p:nvSpPr>
        <p:spPr>
          <a:xfrm>
            <a:off x="548640" y="4572000"/>
            <a:ext cx="128016" cy="128016"/>
          </a:xfrm>
          <a:prstGeom prst="rect">
            <a:avLst/>
          </a:prstGeom>
          <a:solidFill>
            <a:srgbClr val="F5A833"/>
          </a:solidFill>
          <a:ln/>
        </p:spPr>
      </p:sp>
      <p:sp>
        <p:nvSpPr>
          <p:cNvPr id="12" name="Text 10"/>
          <p:cNvSpPr/>
          <p:nvPr/>
        </p:nvSpPr>
        <p:spPr>
          <a:xfrm>
            <a:off x="914400" y="4480560"/>
            <a:ext cx="10515600" cy="1051560"/>
          </a:xfrm>
          <a:prstGeom prst="rect">
            <a:avLst/>
          </a:prstGeom>
          <a:noFill/>
          <a:ln/>
        </p:spPr>
        <p:txBody>
          <a:bodyPr wrap="square" lIns="0" tIns="0" rIns="0" bIns="0" rtlCol="0" anchor="t"/>
          <a:lstStyle/>
          <a:p>
            <a:pPr indent="0" marL="0">
              <a:lnSpc>
                <a:spcPct val="115000"/>
              </a:lnSpc>
              <a:buNone/>
            </a:pPr>
            <a:r>
              <a:rPr lang="en-US" sz="1400" b="1" dirty="0">
                <a:solidFill>
                  <a:srgbClr val="EDF2F7"/>
                </a:solidFill>
                <a:latin typeface="Arial" pitchFamily="34" charset="0"/>
                <a:ea typeface="Arial" pitchFamily="34" charset="-122"/>
                <a:cs typeface="Arial" pitchFamily="34" charset="-120"/>
              </a:rPr>
              <a:t>Wenig Budget heisst oft: alte Neuware statt junger Occasion — </a:t>
            </a:r>
            <a:pPr indent="0" marL="0">
              <a:lnSpc>
                <a:spcPct val="115000"/>
              </a:lnSpc>
              <a:buNone/>
            </a:pPr>
            <a:r>
              <a:rPr lang="en-US" sz="1300" dirty="0">
                <a:solidFill>
                  <a:srgbClr val="8FA0B4"/>
                </a:solidFill>
                <a:latin typeface="Arial" pitchFamily="34" charset="0"/>
                <a:ea typeface="Arial" pitchFamily="34" charset="-122"/>
                <a:cs typeface="Arial" pitchFamily="34" charset="-120"/>
              </a:rPr>
              <a:t>das schlechteste Geschäft von allen.</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28" fill="hold">
                      <p:stCondLst>
                        <p:cond delay="indefinite"/>
                        <p:cond evt="onBegin" delay="0">
                          <p:tn val="2"/>
                        </p:cond>
                      </p:stCondLst>
                      <p:childTnLst>
                        <p:par>
                          <p:cTn id="27"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00"/>
                                        <p:tgtEl>
                                          <p:spTgt spid="11"/>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5</a:t>
            </a:r>
            <a:endParaRPr lang="en-US" sz="850" dirty="0"/>
          </a:p>
        </p:txBody>
      </p:sp>
      <p:sp>
        <p:nvSpPr>
          <p:cNvPr id="4" name="Text 2"/>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F5A833"/>
                </a:solidFill>
                <a:latin typeface="Arial" pitchFamily="34" charset="0"/>
                <a:ea typeface="Arial" pitchFamily="34" charset="-122"/>
                <a:cs typeface="Arial" pitchFamily="34" charset="-120"/>
              </a:rPr>
              <a:t>01 · DAS PROBLEM</a:t>
            </a:r>
            <a:endParaRPr lang="en-US" sz="1050" dirty="0"/>
          </a:p>
        </p:txBody>
      </p:sp>
      <p:sp>
        <p:nvSpPr>
          <p:cNvPr id="5" name="Text 3"/>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Gleiches Gerät, zwei Preise</a:t>
            </a:r>
            <a:endParaRPr lang="en-US" sz="3000" dirty="0"/>
          </a:p>
        </p:txBody>
      </p:sp>
      <p:sp>
        <p:nvSpPr>
          <p:cNvPr id="6" name="Shape 4"/>
          <p:cNvSpPr/>
          <p:nvPr/>
        </p:nvSpPr>
        <p:spPr>
          <a:xfrm>
            <a:off x="502920" y="2103120"/>
            <a:ext cx="3575304" cy="1828800"/>
          </a:xfrm>
          <a:prstGeom prst="roundRect">
            <a:avLst>
              <a:gd name="adj" fmla="val 2500"/>
            </a:avLst>
          </a:prstGeom>
          <a:solidFill>
            <a:srgbClr val="141B24"/>
          </a:solidFill>
          <a:ln w="9525">
            <a:solidFill>
              <a:srgbClr val="243040"/>
            </a:solidFill>
            <a:prstDash val="solid"/>
          </a:ln>
        </p:spPr>
      </p:sp>
      <p:sp>
        <p:nvSpPr>
          <p:cNvPr id="7" name="Text 5"/>
          <p:cNvSpPr/>
          <p:nvPr/>
        </p:nvSpPr>
        <p:spPr>
          <a:xfrm>
            <a:off x="777240" y="2331720"/>
            <a:ext cx="3026664" cy="777240"/>
          </a:xfrm>
          <a:prstGeom prst="rect">
            <a:avLst/>
          </a:prstGeom>
          <a:noFill/>
          <a:ln/>
        </p:spPr>
        <p:txBody>
          <a:bodyPr wrap="square" lIns="0" tIns="0" rIns="0" bIns="0" rtlCol="0" anchor="ctr"/>
          <a:lstStyle/>
          <a:p>
            <a:pPr indent="0" marL="0">
              <a:buNone/>
            </a:pPr>
            <a:r>
              <a:rPr lang="en-US" sz="3400" b="1" dirty="0">
                <a:solidFill>
                  <a:srgbClr val="F5A833"/>
                </a:solidFill>
                <a:latin typeface="Arial" pitchFamily="34" charset="0"/>
                <a:ea typeface="Arial" pitchFamily="34" charset="-122"/>
                <a:cs typeface="Arial" pitchFamily="34" charset="-120"/>
              </a:rPr>
              <a:t>CHF 849</a:t>
            </a:r>
            <a:endParaRPr lang="en-US" sz="3400" dirty="0"/>
          </a:p>
        </p:txBody>
      </p:sp>
      <p:sp>
        <p:nvSpPr>
          <p:cNvPr id="8" name="Text 6"/>
          <p:cNvSpPr/>
          <p:nvPr/>
        </p:nvSpPr>
        <p:spPr>
          <a:xfrm>
            <a:off x="777240" y="3200400"/>
            <a:ext cx="3026664" cy="548640"/>
          </a:xfrm>
          <a:prstGeom prst="rect">
            <a:avLst/>
          </a:prstGeom>
          <a:noFill/>
          <a:ln/>
        </p:spPr>
        <p:txBody>
          <a:bodyPr wrap="square" lIns="0" tIns="0" rIns="0" bIns="0" rtlCol="0" anchor="ctr"/>
          <a:lstStyle/>
          <a:p>
            <a:pPr indent="0" marL="0">
              <a:lnSpc>
                <a:spcPct val="125000"/>
              </a:lnSpc>
              <a:buNone/>
            </a:pPr>
            <a:r>
              <a:rPr lang="en-US" sz="900" spc="150" kern="0" dirty="0">
                <a:solidFill>
                  <a:srgbClr val="5C6E82"/>
                </a:solidFill>
                <a:latin typeface="Arial" pitchFamily="34" charset="0"/>
                <a:ea typeface="Arial" pitchFamily="34" charset="-122"/>
                <a:cs typeface="Arial" pitchFamily="34" charset="-120"/>
              </a:rPr>
              <a:t>IPHONE 16 IM LADEN</a:t>
            </a:r>
            <a:endParaRPr lang="en-US" sz="900" dirty="0"/>
          </a:p>
        </p:txBody>
      </p:sp>
      <p:sp>
        <p:nvSpPr>
          <p:cNvPr id="9" name="Shape 7"/>
          <p:cNvSpPr/>
          <p:nvPr/>
        </p:nvSpPr>
        <p:spPr>
          <a:xfrm>
            <a:off x="4306824" y="2103120"/>
            <a:ext cx="3575304" cy="1828800"/>
          </a:xfrm>
          <a:prstGeom prst="roundRect">
            <a:avLst>
              <a:gd name="adj" fmla="val 2500"/>
            </a:avLst>
          </a:prstGeom>
          <a:solidFill>
            <a:srgbClr val="141B24"/>
          </a:solidFill>
          <a:ln w="9525">
            <a:solidFill>
              <a:srgbClr val="243040"/>
            </a:solidFill>
            <a:prstDash val="solid"/>
          </a:ln>
        </p:spPr>
      </p:sp>
      <p:sp>
        <p:nvSpPr>
          <p:cNvPr id="10" name="Text 8"/>
          <p:cNvSpPr/>
          <p:nvPr/>
        </p:nvSpPr>
        <p:spPr>
          <a:xfrm>
            <a:off x="4581144" y="2331720"/>
            <a:ext cx="3026664" cy="777240"/>
          </a:xfrm>
          <a:prstGeom prst="rect">
            <a:avLst/>
          </a:prstGeom>
          <a:noFill/>
          <a:ln/>
        </p:spPr>
        <p:txBody>
          <a:bodyPr wrap="square" lIns="0" tIns="0" rIns="0" bIns="0" rtlCol="0" anchor="ctr"/>
          <a:lstStyle/>
          <a:p>
            <a:pPr indent="0" marL="0">
              <a:buNone/>
            </a:pPr>
            <a:r>
              <a:rPr lang="en-US" sz="3400" b="1" dirty="0">
                <a:solidFill>
                  <a:srgbClr val="F5A833"/>
                </a:solidFill>
                <a:latin typeface="Arial" pitchFamily="34" charset="0"/>
                <a:ea typeface="Arial" pitchFamily="34" charset="-122"/>
                <a:cs typeface="Arial" pitchFamily="34" charset="-120"/>
              </a:rPr>
              <a:t>CHF 799</a:t>
            </a:r>
            <a:endParaRPr lang="en-US" sz="3400" dirty="0"/>
          </a:p>
        </p:txBody>
      </p:sp>
      <p:sp>
        <p:nvSpPr>
          <p:cNvPr id="11" name="Text 9"/>
          <p:cNvSpPr/>
          <p:nvPr/>
        </p:nvSpPr>
        <p:spPr>
          <a:xfrm>
            <a:off x="4581144" y="3200400"/>
            <a:ext cx="3026664" cy="548640"/>
          </a:xfrm>
          <a:prstGeom prst="rect">
            <a:avLst/>
          </a:prstGeom>
          <a:noFill/>
          <a:ln/>
        </p:spPr>
        <p:txBody>
          <a:bodyPr wrap="square" lIns="0" tIns="0" rIns="0" bIns="0" rtlCol="0" anchor="ctr"/>
          <a:lstStyle/>
          <a:p>
            <a:pPr indent="0" marL="0">
              <a:lnSpc>
                <a:spcPct val="125000"/>
              </a:lnSpc>
              <a:buNone/>
            </a:pPr>
            <a:r>
              <a:rPr lang="en-US" sz="900" spc="150" kern="0" dirty="0">
                <a:solidFill>
                  <a:srgbClr val="5C6E82"/>
                </a:solidFill>
                <a:latin typeface="Arial" pitchFamily="34" charset="0"/>
                <a:ea typeface="Arial" pitchFamily="34" charset="-122"/>
                <a:cs typeface="Arial" pitchFamily="34" charset="-120"/>
              </a:rPr>
              <a:t>IPHONE 16 BEI UNS</a:t>
            </a:r>
            <a:endParaRPr lang="en-US" sz="900" dirty="0"/>
          </a:p>
        </p:txBody>
      </p:sp>
      <p:sp>
        <p:nvSpPr>
          <p:cNvPr id="12" name="Shape 10"/>
          <p:cNvSpPr/>
          <p:nvPr/>
        </p:nvSpPr>
        <p:spPr>
          <a:xfrm>
            <a:off x="8110728" y="2103120"/>
            <a:ext cx="3575304" cy="1828800"/>
          </a:xfrm>
          <a:prstGeom prst="roundRect">
            <a:avLst>
              <a:gd name="adj" fmla="val 2500"/>
            </a:avLst>
          </a:prstGeom>
          <a:solidFill>
            <a:srgbClr val="141B24"/>
          </a:solidFill>
          <a:ln w="9525">
            <a:solidFill>
              <a:srgbClr val="243040"/>
            </a:solidFill>
            <a:prstDash val="solid"/>
          </a:ln>
        </p:spPr>
      </p:sp>
      <p:sp>
        <p:nvSpPr>
          <p:cNvPr id="13" name="Text 11"/>
          <p:cNvSpPr/>
          <p:nvPr/>
        </p:nvSpPr>
        <p:spPr>
          <a:xfrm>
            <a:off x="8385048" y="2331720"/>
            <a:ext cx="3026664" cy="777240"/>
          </a:xfrm>
          <a:prstGeom prst="rect">
            <a:avLst/>
          </a:prstGeom>
          <a:noFill/>
          <a:ln/>
        </p:spPr>
        <p:txBody>
          <a:bodyPr wrap="square" lIns="0" tIns="0" rIns="0" bIns="0" rtlCol="0" anchor="ctr"/>
          <a:lstStyle/>
          <a:p>
            <a:pPr indent="0" marL="0">
              <a:buNone/>
            </a:pPr>
            <a:r>
              <a:rPr lang="en-US" sz="3400" b="1" dirty="0">
                <a:solidFill>
                  <a:srgbClr val="F5A833"/>
                </a:solidFill>
                <a:latin typeface="Arial" pitchFamily="34" charset="0"/>
                <a:ea typeface="Arial" pitchFamily="34" charset="-122"/>
                <a:cs typeface="Arial" pitchFamily="34" charset="-120"/>
              </a:rPr>
              <a:t>CHF 50</a:t>
            </a:r>
            <a:endParaRPr lang="en-US" sz="3400" dirty="0"/>
          </a:p>
        </p:txBody>
      </p:sp>
      <p:sp>
        <p:nvSpPr>
          <p:cNvPr id="14" name="Text 12"/>
          <p:cNvSpPr/>
          <p:nvPr/>
        </p:nvSpPr>
        <p:spPr>
          <a:xfrm>
            <a:off x="8385048" y="3200400"/>
            <a:ext cx="3026664" cy="548640"/>
          </a:xfrm>
          <a:prstGeom prst="rect">
            <a:avLst/>
          </a:prstGeom>
          <a:noFill/>
          <a:ln/>
        </p:spPr>
        <p:txBody>
          <a:bodyPr wrap="square" lIns="0" tIns="0" rIns="0" bIns="0" rtlCol="0" anchor="ctr"/>
          <a:lstStyle/>
          <a:p>
            <a:pPr indent="0" marL="0">
              <a:lnSpc>
                <a:spcPct val="125000"/>
              </a:lnSpc>
              <a:buNone/>
            </a:pPr>
            <a:r>
              <a:rPr lang="en-US" sz="900" spc="150" kern="0" dirty="0">
                <a:solidFill>
                  <a:srgbClr val="5C6E82"/>
                </a:solidFill>
                <a:latin typeface="Arial" pitchFamily="34" charset="0"/>
                <a:ea typeface="Arial" pitchFamily="34" charset="-122"/>
                <a:cs typeface="Arial" pitchFamily="34" charset="-120"/>
              </a:rPr>
              <a:t>GESPART — GLEICHE WARE</a:t>
            </a:r>
            <a:endParaRPr lang="en-US" sz="900" dirty="0"/>
          </a:p>
        </p:txBody>
      </p:sp>
      <p:sp>
        <p:nvSpPr>
          <p:cNvPr id="15" name="Text 13"/>
          <p:cNvSpPr/>
          <p:nvPr/>
        </p:nvSpPr>
        <p:spPr>
          <a:xfrm>
            <a:off x="502920" y="4343400"/>
            <a:ext cx="10515600" cy="685800"/>
          </a:xfrm>
          <a:prstGeom prst="rect">
            <a:avLst/>
          </a:prstGeom>
          <a:noFill/>
          <a:ln/>
        </p:spPr>
        <p:txBody>
          <a:bodyPr wrap="square" lIns="0" tIns="0" rIns="0" bIns="0" rtlCol="0" anchor="ctr"/>
          <a:lstStyle/>
          <a:p>
            <a:pPr indent="0" marL="0">
              <a:lnSpc>
                <a:spcPct val="120000"/>
              </a:lnSpc>
              <a:buNone/>
            </a:pPr>
            <a:r>
              <a:rPr lang="en-US" sz="1350" dirty="0">
                <a:solidFill>
                  <a:srgbClr val="8FA0B4"/>
                </a:solidFill>
                <a:latin typeface="Arial" pitchFamily="34" charset="0"/>
                <a:ea typeface="Arial" pitchFamily="34" charset="-122"/>
                <a:cs typeface="Arial" pitchFamily="34" charset="-120"/>
              </a:rPr>
              <a:t>Gleiche Originalware, gleiche Garantie. Der Unterschied ist nicht das Gerät — es ist alles drumherum.</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40" fill="hold">
                      <p:stCondLst>
                        <p:cond delay="indefinite"/>
                        <p:cond evt="onBegin" delay="0">
                          <p:tn val="2"/>
                        </p:cond>
                      </p:stCondLst>
                      <p:childTnLst>
                        <p:par>
                          <p:cTn id="39"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00"/>
                                        <p:tgtEl>
                                          <p:spTgt spid="8"/>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00"/>
                                        <p:tgtEl>
                                          <p:spTgt spid="9"/>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00"/>
                                        <p:tgtEl>
                                          <p:spTgt spid="10"/>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00"/>
                                        <p:tgtEl>
                                          <p:spTgt spid="11"/>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00"/>
                                        <p:tgtEl>
                                          <p:spTgt spid="12"/>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00"/>
                                        <p:tgtEl>
                                          <p:spTgt spid="13"/>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00"/>
                                        <p:tgtEl>
                                          <p:spTgt spid="14"/>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6</a:t>
            </a:r>
            <a:endParaRPr lang="en-US" sz="850" dirty="0"/>
          </a:p>
        </p:txBody>
      </p:sp>
      <p:sp>
        <p:nvSpPr>
          <p:cNvPr id="4" name="Text 2"/>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F5A833"/>
                </a:solidFill>
                <a:latin typeface="Arial" pitchFamily="34" charset="0"/>
                <a:ea typeface="Arial" pitchFamily="34" charset="-122"/>
                <a:cs typeface="Arial" pitchFamily="34" charset="-120"/>
              </a:rPr>
              <a:t>02 · DIE IDEE</a:t>
            </a:r>
            <a:endParaRPr lang="en-US" sz="1050" dirty="0"/>
          </a:p>
        </p:txBody>
      </p:sp>
      <p:sp>
        <p:nvSpPr>
          <p:cNvPr id="5" name="Text 3"/>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Weniger drumherum, mehr Gerät</a:t>
            </a:r>
            <a:endParaRPr lang="en-US" sz="3000" dirty="0"/>
          </a:p>
        </p:txBody>
      </p:sp>
      <p:sp>
        <p:nvSpPr>
          <p:cNvPr id="6" name="Shape 4"/>
          <p:cNvSpPr/>
          <p:nvPr/>
        </p:nvSpPr>
        <p:spPr>
          <a:xfrm>
            <a:off x="502920" y="2103120"/>
            <a:ext cx="3593592" cy="2468880"/>
          </a:xfrm>
          <a:prstGeom prst="roundRect">
            <a:avLst>
              <a:gd name="adj" fmla="val 1852"/>
            </a:avLst>
          </a:prstGeom>
          <a:solidFill>
            <a:srgbClr val="141B24"/>
          </a:solidFill>
          <a:ln w="9525">
            <a:solidFill>
              <a:srgbClr val="243040"/>
            </a:solidFill>
            <a:prstDash val="solid"/>
          </a:ln>
        </p:spPr>
      </p:sp>
      <p:sp>
        <p:nvSpPr>
          <p:cNvPr id="7" name="Text 5"/>
          <p:cNvSpPr/>
          <p:nvPr/>
        </p:nvSpPr>
        <p:spPr>
          <a:xfrm>
            <a:off x="758952" y="2304288"/>
            <a:ext cx="3081528" cy="256032"/>
          </a:xfrm>
          <a:prstGeom prst="rect">
            <a:avLst/>
          </a:prstGeom>
          <a:noFill/>
          <a:ln/>
        </p:spPr>
        <p:txBody>
          <a:bodyPr wrap="square" lIns="0" tIns="0" rIns="0" bIns="0" rtlCol="0" anchor="ctr"/>
          <a:lstStyle/>
          <a:p>
            <a:pPr indent="0" marL="0">
              <a:buNone/>
            </a:pPr>
            <a:r>
              <a:rPr lang="en-US" sz="900" b="1" spc="200" kern="0" dirty="0">
                <a:solidFill>
                  <a:srgbClr val="F5A833"/>
                </a:solidFill>
                <a:latin typeface="Arial" pitchFamily="34" charset="0"/>
                <a:ea typeface="Arial" pitchFamily="34" charset="-122"/>
                <a:cs typeface="Arial" pitchFamily="34" charset="-120"/>
              </a:rPr>
              <a:t>KEIN LADEN</a:t>
            </a:r>
            <a:endParaRPr lang="en-US" sz="900" dirty="0"/>
          </a:p>
        </p:txBody>
      </p:sp>
      <p:sp>
        <p:nvSpPr>
          <p:cNvPr id="8" name="Text 6"/>
          <p:cNvSpPr/>
          <p:nvPr/>
        </p:nvSpPr>
        <p:spPr>
          <a:xfrm>
            <a:off x="758952" y="2606040"/>
            <a:ext cx="3081528" cy="566928"/>
          </a:xfrm>
          <a:prstGeom prst="rect">
            <a:avLst/>
          </a:prstGeom>
          <a:noFill/>
          <a:ln/>
        </p:spPr>
        <p:txBody>
          <a:bodyPr wrap="square" lIns="0" tIns="0" rIns="0" bIns="0" rtlCol="0" anchor="ctr"/>
          <a:lstStyle/>
          <a:p>
            <a:pPr indent="0" marL="0">
              <a:lnSpc>
                <a:spcPct val="105000"/>
              </a:lnSpc>
              <a:buNone/>
            </a:pPr>
            <a:r>
              <a:rPr lang="en-US" sz="1500" b="1" dirty="0">
                <a:solidFill>
                  <a:srgbClr val="EDF2F7"/>
                </a:solidFill>
                <a:latin typeface="Arial" pitchFamily="34" charset="0"/>
                <a:ea typeface="Arial" pitchFamily="34" charset="-122"/>
                <a:cs typeface="Arial" pitchFamily="34" charset="-120"/>
              </a:rPr>
              <a:t>Nur online</a:t>
            </a:r>
            <a:endParaRPr lang="en-US" sz="1500" dirty="0"/>
          </a:p>
        </p:txBody>
      </p:sp>
      <p:sp>
        <p:nvSpPr>
          <p:cNvPr id="9" name="Text 7"/>
          <p:cNvSpPr/>
          <p:nvPr/>
        </p:nvSpPr>
        <p:spPr>
          <a:xfrm>
            <a:off x="758952" y="3200400"/>
            <a:ext cx="3081528" cy="118872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Keine Miete, kein Verkaufspersonal. Die 10–15 % Struktur fallen weg.</a:t>
            </a:r>
            <a:endParaRPr lang="en-US" sz="1100" dirty="0"/>
          </a:p>
        </p:txBody>
      </p:sp>
      <p:sp>
        <p:nvSpPr>
          <p:cNvPr id="10" name="Shape 8"/>
          <p:cNvSpPr/>
          <p:nvPr/>
        </p:nvSpPr>
        <p:spPr>
          <a:xfrm>
            <a:off x="4297680" y="2103120"/>
            <a:ext cx="3593592" cy="2468880"/>
          </a:xfrm>
          <a:prstGeom prst="roundRect">
            <a:avLst>
              <a:gd name="adj" fmla="val 1852"/>
            </a:avLst>
          </a:prstGeom>
          <a:solidFill>
            <a:srgbClr val="141B24"/>
          </a:solidFill>
          <a:ln w="9525">
            <a:solidFill>
              <a:srgbClr val="243040"/>
            </a:solidFill>
            <a:prstDash val="solid"/>
          </a:ln>
        </p:spPr>
      </p:sp>
      <p:sp>
        <p:nvSpPr>
          <p:cNvPr id="11" name="Text 9"/>
          <p:cNvSpPr/>
          <p:nvPr/>
        </p:nvSpPr>
        <p:spPr>
          <a:xfrm>
            <a:off x="4553712" y="2304288"/>
            <a:ext cx="3081528" cy="256032"/>
          </a:xfrm>
          <a:prstGeom prst="rect">
            <a:avLst/>
          </a:prstGeom>
          <a:noFill/>
          <a:ln/>
        </p:spPr>
        <p:txBody>
          <a:bodyPr wrap="square" lIns="0" tIns="0" rIns="0" bIns="0" rtlCol="0" anchor="ctr"/>
          <a:lstStyle/>
          <a:p>
            <a:pPr indent="0" marL="0">
              <a:buNone/>
            </a:pPr>
            <a:r>
              <a:rPr lang="en-US" sz="900" b="1" spc="200" kern="0" dirty="0">
                <a:solidFill>
                  <a:srgbClr val="F5A833"/>
                </a:solidFill>
                <a:latin typeface="Arial" pitchFamily="34" charset="0"/>
                <a:ea typeface="Arial" pitchFamily="34" charset="-122"/>
                <a:cs typeface="Arial" pitchFamily="34" charset="-120"/>
              </a:rPr>
              <a:t>KEIN KATALOG</a:t>
            </a:r>
            <a:endParaRPr lang="en-US" sz="900" dirty="0"/>
          </a:p>
        </p:txBody>
      </p:sp>
      <p:sp>
        <p:nvSpPr>
          <p:cNvPr id="12" name="Text 10"/>
          <p:cNvSpPr/>
          <p:nvPr/>
        </p:nvSpPr>
        <p:spPr>
          <a:xfrm>
            <a:off x="4553712" y="2606040"/>
            <a:ext cx="3081528" cy="566928"/>
          </a:xfrm>
          <a:prstGeom prst="rect">
            <a:avLst/>
          </a:prstGeom>
          <a:noFill/>
          <a:ln/>
        </p:spPr>
        <p:txBody>
          <a:bodyPr wrap="square" lIns="0" tIns="0" rIns="0" bIns="0" rtlCol="0" anchor="ctr"/>
          <a:lstStyle/>
          <a:p>
            <a:pPr indent="0" marL="0">
              <a:lnSpc>
                <a:spcPct val="105000"/>
              </a:lnSpc>
              <a:buNone/>
            </a:pPr>
            <a:r>
              <a:rPr lang="en-US" sz="1500" b="1" dirty="0">
                <a:solidFill>
                  <a:srgbClr val="EDF2F7"/>
                </a:solidFill>
                <a:latin typeface="Arial" pitchFamily="34" charset="0"/>
                <a:ea typeface="Arial" pitchFamily="34" charset="-122"/>
                <a:cs typeface="Arial" pitchFamily="34" charset="-120"/>
              </a:rPr>
              <a:t>Sechs Produkte</a:t>
            </a:r>
            <a:endParaRPr lang="en-US" sz="1500" dirty="0"/>
          </a:p>
        </p:txBody>
      </p:sp>
      <p:sp>
        <p:nvSpPr>
          <p:cNvPr id="13" name="Text 11"/>
          <p:cNvSpPr/>
          <p:nvPr/>
        </p:nvSpPr>
        <p:spPr>
          <a:xfrm>
            <a:off x="4553712" y="3200400"/>
            <a:ext cx="3081528" cy="118872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Statt sechstausend. Kein totes Lager, keine Liquidationsrabatte.</a:t>
            </a:r>
            <a:endParaRPr lang="en-US" sz="1100" dirty="0"/>
          </a:p>
        </p:txBody>
      </p:sp>
      <p:sp>
        <p:nvSpPr>
          <p:cNvPr id="14" name="Shape 12"/>
          <p:cNvSpPr/>
          <p:nvPr/>
        </p:nvSpPr>
        <p:spPr>
          <a:xfrm>
            <a:off x="8092440" y="2103120"/>
            <a:ext cx="3593592" cy="2468880"/>
          </a:xfrm>
          <a:prstGeom prst="roundRect">
            <a:avLst>
              <a:gd name="adj" fmla="val 1852"/>
            </a:avLst>
          </a:prstGeom>
          <a:solidFill>
            <a:srgbClr val="141B24"/>
          </a:solidFill>
          <a:ln w="9525">
            <a:solidFill>
              <a:srgbClr val="243040"/>
            </a:solidFill>
            <a:prstDash val="solid"/>
          </a:ln>
        </p:spPr>
      </p:sp>
      <p:sp>
        <p:nvSpPr>
          <p:cNvPr id="15" name="Text 13"/>
          <p:cNvSpPr/>
          <p:nvPr/>
        </p:nvSpPr>
        <p:spPr>
          <a:xfrm>
            <a:off x="8348472" y="2304288"/>
            <a:ext cx="3081528" cy="256032"/>
          </a:xfrm>
          <a:prstGeom prst="rect">
            <a:avLst/>
          </a:prstGeom>
          <a:noFill/>
          <a:ln/>
        </p:spPr>
        <p:txBody>
          <a:bodyPr wrap="square" lIns="0" tIns="0" rIns="0" bIns="0" rtlCol="0" anchor="ctr"/>
          <a:lstStyle/>
          <a:p>
            <a:pPr indent="0" marL="0">
              <a:buNone/>
            </a:pPr>
            <a:r>
              <a:rPr lang="en-US" sz="900" b="1" spc="200" kern="0" dirty="0">
                <a:solidFill>
                  <a:srgbClr val="F5A833"/>
                </a:solidFill>
                <a:latin typeface="Arial" pitchFamily="34" charset="0"/>
                <a:ea typeface="Arial" pitchFamily="34" charset="-122"/>
                <a:cs typeface="Arial" pitchFamily="34" charset="-120"/>
              </a:rPr>
              <a:t>DER HEBEL</a:t>
            </a:r>
            <a:endParaRPr lang="en-US" sz="900" dirty="0"/>
          </a:p>
        </p:txBody>
      </p:sp>
      <p:sp>
        <p:nvSpPr>
          <p:cNvPr id="16" name="Text 14"/>
          <p:cNvSpPr/>
          <p:nvPr/>
        </p:nvSpPr>
        <p:spPr>
          <a:xfrm>
            <a:off x="8348472" y="2606040"/>
            <a:ext cx="3081528" cy="566928"/>
          </a:xfrm>
          <a:prstGeom prst="rect">
            <a:avLst/>
          </a:prstGeom>
          <a:noFill/>
          <a:ln/>
        </p:spPr>
        <p:txBody>
          <a:bodyPr wrap="square" lIns="0" tIns="0" rIns="0" bIns="0" rtlCol="0" anchor="ctr"/>
          <a:lstStyle/>
          <a:p>
            <a:pPr indent="0" marL="0">
              <a:lnSpc>
                <a:spcPct val="105000"/>
              </a:lnSpc>
              <a:buNone/>
            </a:pPr>
            <a:r>
              <a:rPr lang="en-US" sz="1500" b="1" dirty="0">
                <a:solidFill>
                  <a:srgbClr val="EDF2F7"/>
                </a:solidFill>
                <a:latin typeface="Arial" pitchFamily="34" charset="0"/>
                <a:ea typeface="Arial" pitchFamily="34" charset="-122"/>
                <a:cs typeface="Arial" pitchFamily="34" charset="-120"/>
              </a:rPr>
              <a:t>Refurbished</a:t>
            </a:r>
            <a:endParaRPr lang="en-US" sz="1500" dirty="0"/>
          </a:p>
        </p:txBody>
      </p:sp>
      <p:sp>
        <p:nvSpPr>
          <p:cNvPr id="17" name="Text 15"/>
          <p:cNvSpPr/>
          <p:nvPr/>
        </p:nvSpPr>
        <p:spPr>
          <a:xfrm>
            <a:off x="8348472" y="3200400"/>
            <a:ext cx="3081528" cy="118872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Geprüfte Occasionen: für den Kunden 40 % günstiger — für uns die echte Marge.</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46" fill="hold">
                      <p:stCondLst>
                        <p:cond delay="indefinite"/>
                        <p:cond evt="onBegin" delay="0">
                          <p:tn val="2"/>
                        </p:cond>
                      </p:stCondLst>
                      <p:childTnLst>
                        <p:par>
                          <p:cTn id="45"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00"/>
                                        <p:tgtEl>
                                          <p:spTgt spid="8"/>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00"/>
                                        <p:tgtEl>
                                          <p:spTgt spid="9"/>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00"/>
                                        <p:tgtEl>
                                          <p:spTgt spid="10"/>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00"/>
                                        <p:tgtEl>
                                          <p:spTgt spid="11"/>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00"/>
                                        <p:tgtEl>
                                          <p:spTgt spid="12"/>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00"/>
                                        <p:tgtEl>
                                          <p:spTgt spid="13"/>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00"/>
                                        <p:tgtEl>
                                          <p:spTgt spid="14"/>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00"/>
                                        <p:tgtEl>
                                          <p:spTgt spid="15"/>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00"/>
                                        <p:tgtEl>
                                          <p:spTgt spid="16"/>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P spid="16"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7</a:t>
            </a:r>
            <a:endParaRPr lang="en-US" sz="850" dirty="0"/>
          </a:p>
        </p:txBody>
      </p:sp>
      <p:sp>
        <p:nvSpPr>
          <p:cNvPr id="4" name="chrome-reserve"/>
          <p:cNvSpPr/>
          <p:nvPr/>
        </p:nvSpPr>
        <p:spPr>
          <a:xfrm>
            <a:off x="8778240" y="384048"/>
            <a:ext cx="2926080" cy="274320"/>
          </a:xfrm>
          <a:prstGeom prst="rect">
            <a:avLst/>
          </a:prstGeom>
          <a:noFill/>
          <a:ln/>
        </p:spPr>
        <p:txBody>
          <a:bodyPr wrap="square" lIns="0" tIns="0" rIns="0" bIns="0" rtlCol="0" anchor="ctr"/>
          <a:lstStyle/>
          <a:p>
            <a:pPr algn="r" indent="0" marL="0">
              <a:buNone/>
            </a:pPr>
            <a:r>
              <a:rPr lang="en-US" sz="900" b="1" spc="200" kern="0" dirty="0">
                <a:solidFill>
                  <a:srgbClr val="5C6E82"/>
                </a:solidFill>
                <a:latin typeface="Arial" pitchFamily="34" charset="0"/>
                <a:ea typeface="Arial" pitchFamily="34" charset="-122"/>
                <a:cs typeface="Arial" pitchFamily="34" charset="-120"/>
              </a:rPr>
              <a:t>RESERVE · NUR BEI NACHFRAGE</a:t>
            </a:r>
            <a:endParaRPr lang="en-US" sz="900" dirty="0"/>
          </a:p>
        </p:txBody>
      </p:sp>
      <p:sp>
        <p:nvSpPr>
          <p:cNvPr id="5" name="Text 3"/>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F5A833"/>
                </a:solidFill>
                <a:latin typeface="Arial" pitchFamily="34" charset="0"/>
                <a:ea typeface="Arial" pitchFamily="34" charset="-122"/>
                <a:cs typeface="Arial" pitchFamily="34" charset="-120"/>
              </a:rPr>
              <a:t>02 · DIE IDEE</a:t>
            </a:r>
            <a:endParaRPr lang="en-US" sz="1050" dirty="0"/>
          </a:p>
        </p:txBody>
      </p:sp>
      <p:sp>
        <p:nvSpPr>
          <p:cNvPr id="6" name="Text 4"/>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Streckengeschäft: verkaufen ohne Lager</a:t>
            </a:r>
            <a:endParaRPr lang="en-US" sz="3000" dirty="0"/>
          </a:p>
        </p:txBody>
      </p:sp>
      <p:sp>
        <p:nvSpPr>
          <p:cNvPr id="7" name="Shape 5"/>
          <p:cNvSpPr/>
          <p:nvPr/>
        </p:nvSpPr>
        <p:spPr>
          <a:xfrm>
            <a:off x="502920" y="2103120"/>
            <a:ext cx="5490972" cy="2286000"/>
          </a:xfrm>
          <a:prstGeom prst="roundRect">
            <a:avLst>
              <a:gd name="adj" fmla="val 2000"/>
            </a:avLst>
          </a:prstGeom>
          <a:solidFill>
            <a:srgbClr val="141B24"/>
          </a:solidFill>
          <a:ln w="9525">
            <a:solidFill>
              <a:srgbClr val="243040"/>
            </a:solidFill>
            <a:prstDash val="solid"/>
          </a:ln>
        </p:spPr>
      </p:sp>
      <p:sp>
        <p:nvSpPr>
          <p:cNvPr id="8" name="Text 6"/>
          <p:cNvSpPr/>
          <p:nvPr/>
        </p:nvSpPr>
        <p:spPr>
          <a:xfrm>
            <a:off x="758952" y="2304288"/>
            <a:ext cx="4978908" cy="256032"/>
          </a:xfrm>
          <a:prstGeom prst="rect">
            <a:avLst/>
          </a:prstGeom>
          <a:noFill/>
          <a:ln/>
        </p:spPr>
        <p:txBody>
          <a:bodyPr wrap="square" lIns="0" tIns="0" rIns="0" bIns="0" rtlCol="0" anchor="ctr"/>
          <a:lstStyle/>
          <a:p>
            <a:pPr indent="0" marL="0">
              <a:buNone/>
            </a:pPr>
            <a:r>
              <a:rPr lang="en-US" sz="900" b="1" spc="200" kern="0" dirty="0">
                <a:solidFill>
                  <a:srgbClr val="F5A833"/>
                </a:solidFill>
                <a:latin typeface="Arial" pitchFamily="34" charset="0"/>
                <a:ea typeface="Arial" pitchFamily="34" charset="-122"/>
                <a:cs typeface="Arial" pitchFamily="34" charset="-120"/>
              </a:rPr>
              <a:t>NEUWARE</a:t>
            </a:r>
            <a:endParaRPr lang="en-US" sz="900" dirty="0"/>
          </a:p>
        </p:txBody>
      </p:sp>
      <p:sp>
        <p:nvSpPr>
          <p:cNvPr id="9" name="Text 7"/>
          <p:cNvSpPr/>
          <p:nvPr/>
        </p:nvSpPr>
        <p:spPr>
          <a:xfrm>
            <a:off x="758952" y="2606040"/>
            <a:ext cx="4978908" cy="566928"/>
          </a:xfrm>
          <a:prstGeom prst="rect">
            <a:avLst/>
          </a:prstGeom>
          <a:noFill/>
          <a:ln/>
        </p:spPr>
        <p:txBody>
          <a:bodyPr wrap="square" lIns="0" tIns="0" rIns="0" bIns="0" rtlCol="0" anchor="ctr"/>
          <a:lstStyle/>
          <a:p>
            <a:pPr indent="0" marL="0">
              <a:lnSpc>
                <a:spcPct val="105000"/>
              </a:lnSpc>
              <a:buNone/>
            </a:pPr>
            <a:r>
              <a:rPr lang="en-US" sz="1500" b="1" dirty="0">
                <a:solidFill>
                  <a:srgbClr val="EDF2F7"/>
                </a:solidFill>
                <a:latin typeface="Arial" pitchFamily="34" charset="0"/>
                <a:ea typeface="Arial" pitchFamily="34" charset="-122"/>
                <a:cs typeface="Arial" pitchFamily="34" charset="-120"/>
              </a:rPr>
              <a:t>Streckengeschäft</a:t>
            </a:r>
            <a:endParaRPr lang="en-US" sz="1500" dirty="0"/>
          </a:p>
        </p:txBody>
      </p:sp>
      <p:sp>
        <p:nvSpPr>
          <p:cNvPr id="10" name="Text 8"/>
          <p:cNvSpPr/>
          <p:nvPr/>
        </p:nvSpPr>
        <p:spPr>
          <a:xfrm>
            <a:off x="758952" y="3200400"/>
            <a:ext cx="4978908" cy="100584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Der Kunde bestellt bei uns, der Schweizer Grossist liefert direkt an ihn. Kein gebundenes Kapital.</a:t>
            </a:r>
            <a:endParaRPr lang="en-US" sz="1100" dirty="0"/>
          </a:p>
        </p:txBody>
      </p:sp>
      <p:sp>
        <p:nvSpPr>
          <p:cNvPr id="11" name="Shape 9"/>
          <p:cNvSpPr/>
          <p:nvPr/>
        </p:nvSpPr>
        <p:spPr>
          <a:xfrm>
            <a:off x="6195060" y="2103120"/>
            <a:ext cx="5490972" cy="2286000"/>
          </a:xfrm>
          <a:prstGeom prst="roundRect">
            <a:avLst>
              <a:gd name="adj" fmla="val 2000"/>
            </a:avLst>
          </a:prstGeom>
          <a:solidFill>
            <a:srgbClr val="141B24"/>
          </a:solidFill>
          <a:ln w="9525">
            <a:solidFill>
              <a:srgbClr val="243040"/>
            </a:solidFill>
            <a:prstDash val="solid"/>
          </a:ln>
        </p:spPr>
      </p:sp>
      <p:sp>
        <p:nvSpPr>
          <p:cNvPr id="12" name="Text 10"/>
          <p:cNvSpPr/>
          <p:nvPr/>
        </p:nvSpPr>
        <p:spPr>
          <a:xfrm>
            <a:off x="6451092" y="2304288"/>
            <a:ext cx="4978908" cy="256032"/>
          </a:xfrm>
          <a:prstGeom prst="rect">
            <a:avLst/>
          </a:prstGeom>
          <a:noFill/>
          <a:ln/>
        </p:spPr>
        <p:txBody>
          <a:bodyPr wrap="square" lIns="0" tIns="0" rIns="0" bIns="0" rtlCol="0" anchor="ctr"/>
          <a:lstStyle/>
          <a:p>
            <a:pPr indent="0" marL="0">
              <a:buNone/>
            </a:pPr>
            <a:r>
              <a:rPr lang="en-US" sz="900" b="1" spc="200" kern="0" dirty="0">
                <a:solidFill>
                  <a:srgbClr val="F5A833"/>
                </a:solidFill>
                <a:latin typeface="Arial" pitchFamily="34" charset="0"/>
                <a:ea typeface="Arial" pitchFamily="34" charset="-122"/>
                <a:cs typeface="Arial" pitchFamily="34" charset="-120"/>
              </a:rPr>
              <a:t>REFURBISHED</a:t>
            </a:r>
            <a:endParaRPr lang="en-US" sz="900" dirty="0"/>
          </a:p>
        </p:txBody>
      </p:sp>
      <p:sp>
        <p:nvSpPr>
          <p:cNvPr id="13" name="Text 11"/>
          <p:cNvSpPr/>
          <p:nvPr/>
        </p:nvSpPr>
        <p:spPr>
          <a:xfrm>
            <a:off x="6451092" y="2606040"/>
            <a:ext cx="4978908" cy="566928"/>
          </a:xfrm>
          <a:prstGeom prst="rect">
            <a:avLst/>
          </a:prstGeom>
          <a:noFill/>
          <a:ln/>
        </p:spPr>
        <p:txBody>
          <a:bodyPr wrap="square" lIns="0" tIns="0" rIns="0" bIns="0" rtlCol="0" anchor="ctr"/>
          <a:lstStyle/>
          <a:p>
            <a:pPr indent="0" marL="0">
              <a:lnSpc>
                <a:spcPct val="105000"/>
              </a:lnSpc>
              <a:buNone/>
            </a:pPr>
            <a:r>
              <a:rPr lang="en-US" sz="1500" b="1" dirty="0">
                <a:solidFill>
                  <a:srgbClr val="EDF2F7"/>
                </a:solidFill>
                <a:latin typeface="Arial" pitchFamily="34" charset="0"/>
                <a:ea typeface="Arial" pitchFamily="34" charset="-122"/>
                <a:cs typeface="Arial" pitchFamily="34" charset="-120"/>
              </a:rPr>
              <a:t>Eigener Einkauf</a:t>
            </a:r>
            <a:endParaRPr lang="en-US" sz="1500" dirty="0"/>
          </a:p>
        </p:txBody>
      </p:sp>
      <p:sp>
        <p:nvSpPr>
          <p:cNvPr id="14" name="Text 12"/>
          <p:cNvSpPr/>
          <p:nvPr/>
        </p:nvSpPr>
        <p:spPr>
          <a:xfrm>
            <a:off x="6451092" y="3200400"/>
            <a:ext cx="4978908" cy="100584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Geprüfte Geräte im Lot eingekauft — hier lohnt sich das Lager, denn hier liegt die Marge.</a:t>
            </a:r>
            <a:endParaRPr lang="en-US" sz="1100" dirty="0"/>
          </a:p>
        </p:txBody>
      </p:sp>
      <p:sp>
        <p:nvSpPr>
          <p:cNvPr id="15" name="Text 13"/>
          <p:cNvSpPr/>
          <p:nvPr/>
        </p:nvSpPr>
        <p:spPr>
          <a:xfrm>
            <a:off x="502920" y="4709160"/>
            <a:ext cx="10515600" cy="685800"/>
          </a:xfrm>
          <a:prstGeom prst="rect">
            <a:avLst/>
          </a:prstGeom>
          <a:noFill/>
          <a:ln/>
        </p:spPr>
        <p:txBody>
          <a:bodyPr wrap="square" lIns="0" tIns="0" rIns="0" bIns="0" rtlCol="0" anchor="ctr"/>
          <a:lstStyle/>
          <a:p>
            <a:pPr indent="0" marL="0">
              <a:lnSpc>
                <a:spcPct val="120000"/>
              </a:lnSpc>
              <a:buNone/>
            </a:pPr>
            <a:r>
              <a:rPr lang="en-US" sz="1350" dirty="0">
                <a:solidFill>
                  <a:srgbClr val="8FA0B4"/>
                </a:solidFill>
                <a:latin typeface="Arial" pitchFamily="34" charset="0"/>
                <a:ea typeface="Arial" pitchFamily="34" charset="-122"/>
                <a:cs typeface="Arial" pitchFamily="34" charset="-120"/>
              </a:rPr>
              <a:t>Zwei Wege, ein Shop: Neuware bringt Kundschaft, refurbished bringt Marge.</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7" fill="hold">
                      <p:stCondLst>
                        <p:cond delay="indefinite"/>
                        <p:cond evt="onBegin" delay="0">
                          <p:tn val="2"/>
                        </p:cond>
                      </p:stCondLst>
                      <p:childTnLst>
                        <p:par>
                          <p:cTn id="36"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00"/>
                                        <p:tgtEl>
                                          <p:spTgt spid="11"/>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00"/>
                                        <p:tgtEl>
                                          <p:spTgt spid="12"/>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00"/>
                                        <p:tgtEl>
                                          <p:spTgt spid="13"/>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00"/>
                                        <p:tgtEl>
                                          <p:spTgt spid="14"/>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8</a:t>
            </a:r>
            <a:endParaRPr lang="en-US" sz="850" dirty="0"/>
          </a:p>
        </p:txBody>
      </p:sp>
      <p:sp>
        <p:nvSpPr>
          <p:cNvPr id="4" name="Text 2"/>
          <p:cNvSpPr/>
          <p:nvPr/>
        </p:nvSpPr>
        <p:spPr>
          <a:xfrm>
            <a:off x="1527048" y="1965960"/>
            <a:ext cx="9144000" cy="320040"/>
          </a:xfrm>
          <a:prstGeom prst="rect">
            <a:avLst/>
          </a:prstGeom>
          <a:noFill/>
          <a:ln/>
        </p:spPr>
        <p:txBody>
          <a:bodyPr wrap="square" lIns="0" tIns="0" rIns="0" bIns="0" rtlCol="0" anchor="ctr"/>
          <a:lstStyle/>
          <a:p>
            <a:pPr algn="ctr" indent="0" marL="0">
              <a:buNone/>
            </a:pPr>
            <a:r>
              <a:rPr lang="en-US" sz="1200" b="1" spc="500" kern="0" dirty="0">
                <a:solidFill>
                  <a:srgbClr val="5C6E82"/>
                </a:solidFill>
                <a:latin typeface="Arial" pitchFamily="34" charset="0"/>
                <a:ea typeface="Arial" pitchFamily="34" charset="-122"/>
                <a:cs typeface="Arial" pitchFamily="34" charset="-120"/>
              </a:rPr>
              <a:t>TEIL 2 VON 5</a:t>
            </a:r>
            <a:endParaRPr lang="en-US" sz="1200" dirty="0"/>
          </a:p>
        </p:txBody>
      </p:sp>
      <p:sp>
        <p:nvSpPr>
          <p:cNvPr id="5" name="Text 3"/>
          <p:cNvSpPr/>
          <p:nvPr/>
        </p:nvSpPr>
        <p:spPr>
          <a:xfrm>
            <a:off x="612648" y="2331720"/>
            <a:ext cx="10972800" cy="1737360"/>
          </a:xfrm>
          <a:prstGeom prst="rect">
            <a:avLst/>
          </a:prstGeom>
          <a:noFill/>
          <a:ln/>
        </p:spPr>
        <p:txBody>
          <a:bodyPr wrap="square" lIns="0" tIns="0" rIns="0" bIns="0" rtlCol="0" anchor="ctr"/>
          <a:lstStyle/>
          <a:p>
            <a:pPr algn="ctr" indent="0" marL="0">
              <a:buNone/>
            </a:pPr>
            <a:r>
              <a:rPr lang="en-US" sz="8400" b="1" dirty="0">
                <a:solidFill>
                  <a:srgbClr val="3ED6AC"/>
                </a:solidFill>
                <a:latin typeface="Arial" pitchFamily="34" charset="0"/>
                <a:ea typeface="Arial" pitchFamily="34" charset="-122"/>
                <a:cs typeface="Arial" pitchFamily="34" charset="-120"/>
              </a:rPr>
              <a:t>Rayaan</a:t>
            </a:r>
            <a:endParaRPr lang="en-US" sz="8400" dirty="0"/>
          </a:p>
        </p:txBody>
      </p:sp>
      <p:sp>
        <p:nvSpPr>
          <p:cNvPr id="6" name="Text 4"/>
          <p:cNvSpPr/>
          <p:nvPr/>
        </p:nvSpPr>
        <p:spPr>
          <a:xfrm>
            <a:off x="1527048" y="4206240"/>
            <a:ext cx="9144000" cy="502920"/>
          </a:xfrm>
          <a:prstGeom prst="rect">
            <a:avLst/>
          </a:prstGeom>
          <a:noFill/>
          <a:ln/>
        </p:spPr>
        <p:txBody>
          <a:bodyPr wrap="square" lIns="0" tIns="0" rIns="0" bIns="0" rtlCol="0" anchor="ctr"/>
          <a:lstStyle/>
          <a:p>
            <a:pPr algn="ctr" indent="0" marL="0">
              <a:buNone/>
            </a:pPr>
            <a:r>
              <a:rPr lang="en-US" sz="1900" dirty="0">
                <a:solidFill>
                  <a:srgbClr val="8FA0B4"/>
                </a:solidFill>
                <a:latin typeface="Arial" pitchFamily="34" charset="0"/>
                <a:ea typeface="Arial" pitchFamily="34" charset="-122"/>
                <a:cs typeface="Arial" pitchFamily="34" charset="-120"/>
              </a:rPr>
              <a:t>Markt, Kundschaft, Konkurrenz</a:t>
            </a:r>
            <a:endParaRPr lang="en-US" sz="1900" dirty="0"/>
          </a:p>
        </p:txBody>
      </p:sp>
      <p:sp>
        <p:nvSpPr>
          <p:cNvPr id="7" name="Text 5"/>
          <p:cNvSpPr/>
          <p:nvPr/>
        </p:nvSpPr>
        <p:spPr>
          <a:xfrm>
            <a:off x="1527048" y="4846320"/>
            <a:ext cx="9144000" cy="320040"/>
          </a:xfrm>
          <a:prstGeom prst="rect">
            <a:avLst/>
          </a:prstGeom>
          <a:noFill/>
          <a:ln/>
        </p:spPr>
        <p:txBody>
          <a:bodyPr wrap="square" lIns="0" tIns="0" rIns="0" bIns="0" rtlCol="0" anchor="ctr"/>
          <a:lstStyle/>
          <a:p>
            <a:pPr algn="ctr" indent="0" marL="0">
              <a:buNone/>
            </a:pPr>
            <a:r>
              <a:rPr lang="en-US" sz="1100" b="1" spc="300" kern="0" dirty="0">
                <a:solidFill>
                  <a:srgbClr val="5C6E82"/>
                </a:solidFill>
                <a:latin typeface="Arial" pitchFamily="34" charset="0"/>
                <a:ea typeface="Arial" pitchFamily="34" charset="-122"/>
                <a:cs typeface="Arial" pitchFamily="34" charset="-120"/>
              </a:rPr>
              <a:t>1–2 MINUTEN</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6" fill="hold">
                      <p:stCondLst>
                        <p:cond delay="indefinite"/>
                        <p:cond evt="onBegin" delay="0">
                          <p:tn val="2"/>
                        </p:cond>
                      </p:stCondLst>
                      <p:childTnLst>
                        <p:par>
                          <p:cTn id="15"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9</a:t>
            </a:r>
            <a:endParaRPr lang="en-US" sz="850" dirty="0"/>
          </a:p>
        </p:txBody>
      </p:sp>
      <p:sp>
        <p:nvSpPr>
          <p:cNvPr id="4" name="chrome-reserve"/>
          <p:cNvSpPr/>
          <p:nvPr/>
        </p:nvSpPr>
        <p:spPr>
          <a:xfrm>
            <a:off x="8778240" y="384048"/>
            <a:ext cx="2926080" cy="274320"/>
          </a:xfrm>
          <a:prstGeom prst="rect">
            <a:avLst/>
          </a:prstGeom>
          <a:noFill/>
          <a:ln/>
        </p:spPr>
        <p:txBody>
          <a:bodyPr wrap="square" lIns="0" tIns="0" rIns="0" bIns="0" rtlCol="0" anchor="ctr"/>
          <a:lstStyle/>
          <a:p>
            <a:pPr algn="r" indent="0" marL="0">
              <a:buNone/>
            </a:pPr>
            <a:r>
              <a:rPr lang="en-US" sz="900" b="1" spc="200" kern="0" dirty="0">
                <a:solidFill>
                  <a:srgbClr val="5C6E82"/>
                </a:solidFill>
                <a:latin typeface="Arial" pitchFamily="34" charset="0"/>
                <a:ea typeface="Arial" pitchFamily="34" charset="-122"/>
                <a:cs typeface="Arial" pitchFamily="34" charset="-120"/>
              </a:rPr>
              <a:t>RESERVE · NUR BEI NACHFRAGE</a:t>
            </a:r>
            <a:endParaRPr lang="en-US" sz="900" dirty="0"/>
          </a:p>
        </p:txBody>
      </p:sp>
      <p:sp>
        <p:nvSpPr>
          <p:cNvPr id="5" name="Text 3"/>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3ED6AC"/>
                </a:solidFill>
                <a:latin typeface="Arial" pitchFamily="34" charset="0"/>
                <a:ea typeface="Arial" pitchFamily="34" charset="-122"/>
                <a:cs typeface="Arial" pitchFamily="34" charset="-120"/>
              </a:rPr>
              <a:t>03 · DER MARKT</a:t>
            </a:r>
            <a:endParaRPr lang="en-US" sz="1050" dirty="0"/>
          </a:p>
        </p:txBody>
      </p:sp>
      <p:sp>
        <p:nvSpPr>
          <p:cNvPr id="6" name="Text 4"/>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Wir brauchen Krümel, keinen Kuchen</a:t>
            </a:r>
            <a:endParaRPr lang="en-US" sz="3000" dirty="0"/>
          </a:p>
        </p:txBody>
      </p:sp>
      <p:sp>
        <p:nvSpPr>
          <p:cNvPr id="7" name="Shape 5"/>
          <p:cNvSpPr/>
          <p:nvPr/>
        </p:nvSpPr>
        <p:spPr>
          <a:xfrm>
            <a:off x="502920" y="2103120"/>
            <a:ext cx="3575304" cy="1828800"/>
          </a:xfrm>
          <a:prstGeom prst="roundRect">
            <a:avLst>
              <a:gd name="adj" fmla="val 2500"/>
            </a:avLst>
          </a:prstGeom>
          <a:solidFill>
            <a:srgbClr val="141B24"/>
          </a:solidFill>
          <a:ln w="9525">
            <a:solidFill>
              <a:srgbClr val="243040"/>
            </a:solidFill>
            <a:prstDash val="solid"/>
          </a:ln>
        </p:spPr>
      </p:sp>
      <p:sp>
        <p:nvSpPr>
          <p:cNvPr id="8" name="Text 6"/>
          <p:cNvSpPr/>
          <p:nvPr/>
        </p:nvSpPr>
        <p:spPr>
          <a:xfrm>
            <a:off x="777240" y="2331720"/>
            <a:ext cx="3026664" cy="777240"/>
          </a:xfrm>
          <a:prstGeom prst="rect">
            <a:avLst/>
          </a:prstGeom>
          <a:noFill/>
          <a:ln/>
        </p:spPr>
        <p:txBody>
          <a:bodyPr wrap="square" lIns="0" tIns="0" rIns="0" bIns="0" rtlCol="0" anchor="ctr"/>
          <a:lstStyle/>
          <a:p>
            <a:pPr indent="0" marL="0">
              <a:buNone/>
            </a:pPr>
            <a:r>
              <a:rPr lang="en-US" sz="3400" b="1" dirty="0">
                <a:solidFill>
                  <a:srgbClr val="3ED6AC"/>
                </a:solidFill>
                <a:latin typeface="Arial" pitchFamily="34" charset="0"/>
                <a:ea typeface="Arial" pitchFamily="34" charset="-122"/>
                <a:cs typeface="Arial" pitchFamily="34" charset="-120"/>
              </a:rPr>
              <a:t>20</a:t>
            </a:r>
            <a:endParaRPr lang="en-US" sz="3400" dirty="0"/>
          </a:p>
        </p:txBody>
      </p:sp>
      <p:sp>
        <p:nvSpPr>
          <p:cNvPr id="9" name="Text 7"/>
          <p:cNvSpPr/>
          <p:nvPr/>
        </p:nvSpPr>
        <p:spPr>
          <a:xfrm>
            <a:off x="777240" y="3200400"/>
            <a:ext cx="3026664" cy="548640"/>
          </a:xfrm>
          <a:prstGeom prst="rect">
            <a:avLst/>
          </a:prstGeom>
          <a:noFill/>
          <a:ln/>
        </p:spPr>
        <p:txBody>
          <a:bodyPr wrap="square" lIns="0" tIns="0" rIns="0" bIns="0" rtlCol="0" anchor="ctr"/>
          <a:lstStyle/>
          <a:p>
            <a:pPr indent="0" marL="0">
              <a:lnSpc>
                <a:spcPct val="125000"/>
              </a:lnSpc>
              <a:buNone/>
            </a:pPr>
            <a:r>
              <a:rPr lang="en-US" sz="900" spc="150" kern="0" dirty="0">
                <a:solidFill>
                  <a:srgbClr val="5C6E82"/>
                </a:solidFill>
                <a:latin typeface="Arial" pitchFamily="34" charset="0"/>
                <a:ea typeface="Arial" pitchFamily="34" charset="-122"/>
                <a:cs typeface="Arial" pitchFamily="34" charset="-120"/>
              </a:rPr>
              <a:t>BESTELLUNGEN IM MONAT — ZIEL</a:t>
            </a:r>
            <a:endParaRPr lang="en-US" sz="900" dirty="0"/>
          </a:p>
        </p:txBody>
      </p:sp>
      <p:sp>
        <p:nvSpPr>
          <p:cNvPr id="10" name="Shape 8"/>
          <p:cNvSpPr/>
          <p:nvPr/>
        </p:nvSpPr>
        <p:spPr>
          <a:xfrm>
            <a:off x="4306824" y="2103120"/>
            <a:ext cx="3575304" cy="1828800"/>
          </a:xfrm>
          <a:prstGeom prst="roundRect">
            <a:avLst>
              <a:gd name="adj" fmla="val 2500"/>
            </a:avLst>
          </a:prstGeom>
          <a:solidFill>
            <a:srgbClr val="141B24"/>
          </a:solidFill>
          <a:ln w="9525">
            <a:solidFill>
              <a:srgbClr val="243040"/>
            </a:solidFill>
            <a:prstDash val="solid"/>
          </a:ln>
        </p:spPr>
      </p:sp>
      <p:sp>
        <p:nvSpPr>
          <p:cNvPr id="11" name="Text 9"/>
          <p:cNvSpPr/>
          <p:nvPr/>
        </p:nvSpPr>
        <p:spPr>
          <a:xfrm>
            <a:off x="4581144" y="2331720"/>
            <a:ext cx="3026664" cy="777240"/>
          </a:xfrm>
          <a:prstGeom prst="rect">
            <a:avLst/>
          </a:prstGeom>
          <a:noFill/>
          <a:ln/>
        </p:spPr>
        <p:txBody>
          <a:bodyPr wrap="square" lIns="0" tIns="0" rIns="0" bIns="0" rtlCol="0" anchor="ctr"/>
          <a:lstStyle/>
          <a:p>
            <a:pPr indent="0" marL="0">
              <a:buNone/>
            </a:pPr>
            <a:r>
              <a:rPr lang="en-US" sz="3400" b="1" dirty="0">
                <a:solidFill>
                  <a:srgbClr val="3ED6AC"/>
                </a:solidFill>
                <a:latin typeface="Arial" pitchFamily="34" charset="0"/>
                <a:ea typeface="Arial" pitchFamily="34" charset="-122"/>
                <a:cs typeface="Arial" pitchFamily="34" charset="-120"/>
              </a:rPr>
              <a:t>CHF 500</a:t>
            </a:r>
            <a:endParaRPr lang="en-US" sz="3400" dirty="0"/>
          </a:p>
        </p:txBody>
      </p:sp>
      <p:sp>
        <p:nvSpPr>
          <p:cNvPr id="12" name="Text 10"/>
          <p:cNvSpPr/>
          <p:nvPr/>
        </p:nvSpPr>
        <p:spPr>
          <a:xfrm>
            <a:off x="4581144" y="3200400"/>
            <a:ext cx="3026664" cy="548640"/>
          </a:xfrm>
          <a:prstGeom prst="rect">
            <a:avLst/>
          </a:prstGeom>
          <a:noFill/>
          <a:ln/>
        </p:spPr>
        <p:txBody>
          <a:bodyPr wrap="square" lIns="0" tIns="0" rIns="0" bIns="0" rtlCol="0" anchor="ctr"/>
          <a:lstStyle/>
          <a:p>
            <a:pPr indent="0" marL="0">
              <a:lnSpc>
                <a:spcPct val="125000"/>
              </a:lnSpc>
              <a:buNone/>
            </a:pPr>
            <a:r>
              <a:rPr lang="en-US" sz="900" spc="150" kern="0" dirty="0">
                <a:solidFill>
                  <a:srgbClr val="5C6E82"/>
                </a:solidFill>
                <a:latin typeface="Arial" pitchFamily="34" charset="0"/>
                <a:ea typeface="Arial" pitchFamily="34" charset="-122"/>
                <a:cs typeface="Arial" pitchFamily="34" charset="-120"/>
              </a:rPr>
              <a:t>DURCHSCHNITTSBESTELLUNG, ANNAHME</a:t>
            </a:r>
            <a:endParaRPr lang="en-US" sz="900" dirty="0"/>
          </a:p>
        </p:txBody>
      </p:sp>
      <p:sp>
        <p:nvSpPr>
          <p:cNvPr id="13" name="Shape 11"/>
          <p:cNvSpPr/>
          <p:nvPr/>
        </p:nvSpPr>
        <p:spPr>
          <a:xfrm>
            <a:off x="8110728" y="2103120"/>
            <a:ext cx="3575304" cy="1828800"/>
          </a:xfrm>
          <a:prstGeom prst="roundRect">
            <a:avLst>
              <a:gd name="adj" fmla="val 2500"/>
            </a:avLst>
          </a:prstGeom>
          <a:solidFill>
            <a:srgbClr val="141B24"/>
          </a:solidFill>
          <a:ln w="9525">
            <a:solidFill>
              <a:srgbClr val="243040"/>
            </a:solidFill>
            <a:prstDash val="solid"/>
          </a:ln>
        </p:spPr>
      </p:sp>
      <p:sp>
        <p:nvSpPr>
          <p:cNvPr id="14" name="Text 12"/>
          <p:cNvSpPr/>
          <p:nvPr/>
        </p:nvSpPr>
        <p:spPr>
          <a:xfrm>
            <a:off x="8385048" y="2331720"/>
            <a:ext cx="3026664" cy="777240"/>
          </a:xfrm>
          <a:prstGeom prst="rect">
            <a:avLst/>
          </a:prstGeom>
          <a:noFill/>
          <a:ln/>
        </p:spPr>
        <p:txBody>
          <a:bodyPr wrap="square" lIns="0" tIns="0" rIns="0" bIns="0" rtlCol="0" anchor="ctr"/>
          <a:lstStyle/>
          <a:p>
            <a:pPr indent="0" marL="0">
              <a:buNone/>
            </a:pPr>
            <a:r>
              <a:rPr lang="en-US" sz="3400" b="1" dirty="0">
                <a:solidFill>
                  <a:srgbClr val="3ED6AC"/>
                </a:solidFill>
                <a:latin typeface="Arial" pitchFamily="34" charset="0"/>
                <a:ea typeface="Arial" pitchFamily="34" charset="-122"/>
                <a:cs typeface="Arial" pitchFamily="34" charset="-120"/>
              </a:rPr>
              <a:t>CHF 10'000</a:t>
            </a:r>
            <a:endParaRPr lang="en-US" sz="3400" dirty="0"/>
          </a:p>
        </p:txBody>
      </p:sp>
      <p:sp>
        <p:nvSpPr>
          <p:cNvPr id="15" name="Text 13"/>
          <p:cNvSpPr/>
          <p:nvPr/>
        </p:nvSpPr>
        <p:spPr>
          <a:xfrm>
            <a:off x="8385048" y="3200400"/>
            <a:ext cx="3026664" cy="548640"/>
          </a:xfrm>
          <a:prstGeom prst="rect">
            <a:avLst/>
          </a:prstGeom>
          <a:noFill/>
          <a:ln/>
        </p:spPr>
        <p:txBody>
          <a:bodyPr wrap="square" lIns="0" tIns="0" rIns="0" bIns="0" rtlCol="0" anchor="ctr"/>
          <a:lstStyle/>
          <a:p>
            <a:pPr indent="0" marL="0">
              <a:lnSpc>
                <a:spcPct val="125000"/>
              </a:lnSpc>
              <a:buNone/>
            </a:pPr>
            <a:r>
              <a:rPr lang="en-US" sz="900" spc="150" kern="0" dirty="0">
                <a:solidFill>
                  <a:srgbClr val="5C6E82"/>
                </a:solidFill>
                <a:latin typeface="Arial" pitchFamily="34" charset="0"/>
                <a:ea typeface="Arial" pitchFamily="34" charset="-122"/>
                <a:cs typeface="Arial" pitchFamily="34" charset="-120"/>
              </a:rPr>
              <a:t>UMSATZ IM MONAT</a:t>
            </a:r>
            <a:endParaRPr lang="en-US" sz="900" dirty="0"/>
          </a:p>
        </p:txBody>
      </p:sp>
      <p:sp>
        <p:nvSpPr>
          <p:cNvPr id="16" name="Text 14"/>
          <p:cNvSpPr/>
          <p:nvPr/>
        </p:nvSpPr>
        <p:spPr>
          <a:xfrm>
            <a:off x="502920" y="4343400"/>
            <a:ext cx="10515600" cy="685800"/>
          </a:xfrm>
          <a:prstGeom prst="rect">
            <a:avLst/>
          </a:prstGeom>
          <a:noFill/>
          <a:ln/>
        </p:spPr>
        <p:txBody>
          <a:bodyPr wrap="square" lIns="0" tIns="0" rIns="0" bIns="0" rtlCol="0" anchor="ctr"/>
          <a:lstStyle/>
          <a:p>
            <a:pPr indent="0" marL="0">
              <a:lnSpc>
                <a:spcPct val="120000"/>
              </a:lnSpc>
              <a:buNone/>
            </a:pPr>
            <a:r>
              <a:rPr lang="en-US" sz="1350" dirty="0">
                <a:solidFill>
                  <a:srgbClr val="8FA0B4"/>
                </a:solidFill>
                <a:latin typeface="Arial" pitchFamily="34" charset="0"/>
                <a:ea typeface="Arial" pitchFamily="34" charset="-122"/>
                <a:cs typeface="Arial" pitchFamily="34" charset="-120"/>
              </a:rPr>
              <a:t>Fast jeder hat ein Smartphone, gewechselt wird alle drei bis vier Jahre. Von diesem Kuchen brauchen wir Krümel.</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40" fill="hold">
                      <p:stCondLst>
                        <p:cond delay="indefinite"/>
                        <p:cond evt="onBegin" delay="0">
                          <p:tn val="2"/>
                        </p:cond>
                      </p:stCondLst>
                      <p:childTnLst>
                        <p:par>
                          <p:cTn id="39"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00"/>
                                        <p:tgtEl>
                                          <p:spTgt spid="11"/>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00"/>
                                        <p:tgtEl>
                                          <p:spTgt spid="12"/>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00"/>
                                        <p:tgtEl>
                                          <p:spTgt spid="13"/>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00"/>
                                        <p:tgtEl>
                                          <p:spTgt spid="14"/>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00"/>
                                        <p:tgtEl>
                                          <p:spTgt spid="15"/>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10</a:t>
            </a:r>
            <a:endParaRPr lang="en-US" sz="850" dirty="0"/>
          </a:p>
        </p:txBody>
      </p:sp>
      <p:sp>
        <p:nvSpPr>
          <p:cNvPr id="4" name="chrome-reserve"/>
          <p:cNvSpPr/>
          <p:nvPr/>
        </p:nvSpPr>
        <p:spPr>
          <a:xfrm>
            <a:off x="8778240" y="384048"/>
            <a:ext cx="2926080" cy="274320"/>
          </a:xfrm>
          <a:prstGeom prst="rect">
            <a:avLst/>
          </a:prstGeom>
          <a:noFill/>
          <a:ln/>
        </p:spPr>
        <p:txBody>
          <a:bodyPr wrap="square" lIns="0" tIns="0" rIns="0" bIns="0" rtlCol="0" anchor="ctr"/>
          <a:lstStyle/>
          <a:p>
            <a:pPr algn="r" indent="0" marL="0">
              <a:buNone/>
            </a:pPr>
            <a:r>
              <a:rPr lang="en-US" sz="900" b="1" spc="200" kern="0" dirty="0">
                <a:solidFill>
                  <a:srgbClr val="5C6E82"/>
                </a:solidFill>
                <a:latin typeface="Arial" pitchFamily="34" charset="0"/>
                <a:ea typeface="Arial" pitchFamily="34" charset="-122"/>
                <a:cs typeface="Arial" pitchFamily="34" charset="-120"/>
              </a:rPr>
              <a:t>RESERVE · NUR BEI NACHFRAGE</a:t>
            </a:r>
            <a:endParaRPr lang="en-US" sz="900" dirty="0"/>
          </a:p>
        </p:txBody>
      </p:sp>
      <p:sp>
        <p:nvSpPr>
          <p:cNvPr id="5" name="Text 3"/>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3ED6AC"/>
                </a:solidFill>
                <a:latin typeface="Arial" pitchFamily="34" charset="0"/>
                <a:ea typeface="Arial" pitchFamily="34" charset="-122"/>
                <a:cs typeface="Arial" pitchFamily="34" charset="-120"/>
              </a:rPr>
              <a:t>04 · DIE KUNDSCHAFT</a:t>
            </a:r>
            <a:endParaRPr lang="en-US" sz="1050" dirty="0"/>
          </a:p>
        </p:txBody>
      </p:sp>
      <p:sp>
        <p:nvSpPr>
          <p:cNvPr id="6" name="Text 4"/>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Unsere Kundin hat einen Namen</a:t>
            </a:r>
            <a:endParaRPr lang="en-US" sz="3000" dirty="0"/>
          </a:p>
        </p:txBody>
      </p:sp>
      <p:sp>
        <p:nvSpPr>
          <p:cNvPr id="7" name="Shape 5"/>
          <p:cNvSpPr/>
          <p:nvPr/>
        </p:nvSpPr>
        <p:spPr>
          <a:xfrm>
            <a:off x="502920" y="2103120"/>
            <a:ext cx="3593592" cy="2468880"/>
          </a:xfrm>
          <a:prstGeom prst="roundRect">
            <a:avLst>
              <a:gd name="adj" fmla="val 1852"/>
            </a:avLst>
          </a:prstGeom>
          <a:solidFill>
            <a:srgbClr val="141B24"/>
          </a:solidFill>
          <a:ln w="9525">
            <a:solidFill>
              <a:srgbClr val="243040"/>
            </a:solidFill>
            <a:prstDash val="solid"/>
          </a:ln>
        </p:spPr>
      </p:sp>
      <p:sp>
        <p:nvSpPr>
          <p:cNvPr id="8" name="Text 6"/>
          <p:cNvSpPr/>
          <p:nvPr/>
        </p:nvSpPr>
        <p:spPr>
          <a:xfrm>
            <a:off x="758952" y="2304288"/>
            <a:ext cx="3081528" cy="256032"/>
          </a:xfrm>
          <a:prstGeom prst="rect">
            <a:avLst/>
          </a:prstGeom>
          <a:noFill/>
          <a:ln/>
        </p:spPr>
        <p:txBody>
          <a:bodyPr wrap="square" lIns="0" tIns="0" rIns="0" bIns="0" rtlCol="0" anchor="ctr"/>
          <a:lstStyle/>
          <a:p>
            <a:pPr indent="0" marL="0">
              <a:buNone/>
            </a:pPr>
            <a:r>
              <a:rPr lang="en-US" sz="900" b="1" spc="200" kern="0" dirty="0">
                <a:solidFill>
                  <a:srgbClr val="3ED6AC"/>
                </a:solidFill>
                <a:latin typeface="Arial" pitchFamily="34" charset="0"/>
                <a:ea typeface="Arial" pitchFamily="34" charset="-122"/>
                <a:cs typeface="Arial" pitchFamily="34" charset="-120"/>
              </a:rPr>
              <a:t>WER</a:t>
            </a:r>
            <a:endParaRPr lang="en-US" sz="900" dirty="0"/>
          </a:p>
        </p:txBody>
      </p:sp>
      <p:sp>
        <p:nvSpPr>
          <p:cNvPr id="9" name="Text 7"/>
          <p:cNvSpPr/>
          <p:nvPr/>
        </p:nvSpPr>
        <p:spPr>
          <a:xfrm>
            <a:off x="758952" y="2606040"/>
            <a:ext cx="3081528" cy="566928"/>
          </a:xfrm>
          <a:prstGeom prst="rect">
            <a:avLst/>
          </a:prstGeom>
          <a:noFill/>
          <a:ln/>
        </p:spPr>
        <p:txBody>
          <a:bodyPr wrap="square" lIns="0" tIns="0" rIns="0" bIns="0" rtlCol="0" anchor="ctr"/>
          <a:lstStyle/>
          <a:p>
            <a:pPr indent="0" marL="0">
              <a:lnSpc>
                <a:spcPct val="105000"/>
              </a:lnSpc>
              <a:buNone/>
            </a:pPr>
            <a:r>
              <a:rPr lang="en-US" sz="1500" b="1" dirty="0">
                <a:solidFill>
                  <a:srgbClr val="EDF2F7"/>
                </a:solidFill>
                <a:latin typeface="Arial" pitchFamily="34" charset="0"/>
                <a:ea typeface="Arial" pitchFamily="34" charset="-122"/>
                <a:cs typeface="Arial" pitchFamily="34" charset="-120"/>
              </a:rPr>
              <a:t>Nadia, 19</a:t>
            </a:r>
            <a:endParaRPr lang="en-US" sz="1500" dirty="0"/>
          </a:p>
        </p:txBody>
      </p:sp>
      <p:sp>
        <p:nvSpPr>
          <p:cNvPr id="10" name="Text 8"/>
          <p:cNvSpPr/>
          <p:nvPr/>
        </p:nvSpPr>
        <p:spPr>
          <a:xfrm>
            <a:off x="758952" y="3200400"/>
            <a:ext cx="3081528" cy="118872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Lehre fertig, Berufsmatur vor der Tür — und der Laptop stirbt.</a:t>
            </a:r>
            <a:endParaRPr lang="en-US" sz="1100" dirty="0"/>
          </a:p>
        </p:txBody>
      </p:sp>
      <p:sp>
        <p:nvSpPr>
          <p:cNvPr id="11" name="Shape 9"/>
          <p:cNvSpPr/>
          <p:nvPr/>
        </p:nvSpPr>
        <p:spPr>
          <a:xfrm>
            <a:off x="4297680" y="2103120"/>
            <a:ext cx="3593592" cy="2468880"/>
          </a:xfrm>
          <a:prstGeom prst="roundRect">
            <a:avLst>
              <a:gd name="adj" fmla="val 1852"/>
            </a:avLst>
          </a:prstGeom>
          <a:solidFill>
            <a:srgbClr val="141B24"/>
          </a:solidFill>
          <a:ln w="9525">
            <a:solidFill>
              <a:srgbClr val="243040"/>
            </a:solidFill>
            <a:prstDash val="solid"/>
          </a:ln>
        </p:spPr>
      </p:sp>
      <p:sp>
        <p:nvSpPr>
          <p:cNvPr id="12" name="Text 10"/>
          <p:cNvSpPr/>
          <p:nvPr/>
        </p:nvSpPr>
        <p:spPr>
          <a:xfrm>
            <a:off x="4553712" y="2304288"/>
            <a:ext cx="3081528" cy="256032"/>
          </a:xfrm>
          <a:prstGeom prst="rect">
            <a:avLst/>
          </a:prstGeom>
          <a:noFill/>
          <a:ln/>
        </p:spPr>
        <p:txBody>
          <a:bodyPr wrap="square" lIns="0" tIns="0" rIns="0" bIns="0" rtlCol="0" anchor="ctr"/>
          <a:lstStyle/>
          <a:p>
            <a:pPr indent="0" marL="0">
              <a:buNone/>
            </a:pPr>
            <a:r>
              <a:rPr lang="en-US" sz="900" b="1" spc="200" kern="0" dirty="0">
                <a:solidFill>
                  <a:srgbClr val="3ED6AC"/>
                </a:solidFill>
                <a:latin typeface="Arial" pitchFamily="34" charset="0"/>
                <a:ea typeface="Arial" pitchFamily="34" charset="-122"/>
                <a:cs typeface="Arial" pitchFamily="34" charset="-120"/>
              </a:rPr>
              <a:t>BUDGET</a:t>
            </a:r>
            <a:endParaRPr lang="en-US" sz="900" dirty="0"/>
          </a:p>
        </p:txBody>
      </p:sp>
      <p:sp>
        <p:nvSpPr>
          <p:cNvPr id="13" name="Text 11"/>
          <p:cNvSpPr/>
          <p:nvPr/>
        </p:nvSpPr>
        <p:spPr>
          <a:xfrm>
            <a:off x="4553712" y="2606040"/>
            <a:ext cx="3081528" cy="566928"/>
          </a:xfrm>
          <a:prstGeom prst="rect">
            <a:avLst/>
          </a:prstGeom>
          <a:noFill/>
          <a:ln/>
        </p:spPr>
        <p:txBody>
          <a:bodyPr wrap="square" lIns="0" tIns="0" rIns="0" bIns="0" rtlCol="0" anchor="ctr"/>
          <a:lstStyle/>
          <a:p>
            <a:pPr indent="0" marL="0">
              <a:lnSpc>
                <a:spcPct val="105000"/>
              </a:lnSpc>
              <a:buNone/>
            </a:pPr>
            <a:r>
              <a:rPr lang="en-US" sz="1500" b="1" dirty="0">
                <a:solidFill>
                  <a:srgbClr val="EDF2F7"/>
                </a:solidFill>
                <a:latin typeface="Arial" pitchFamily="34" charset="0"/>
                <a:ea typeface="Arial" pitchFamily="34" charset="-122"/>
                <a:cs typeface="Arial" pitchFamily="34" charset="-120"/>
              </a:rPr>
              <a:t>CHF 500, nicht 1'300</a:t>
            </a:r>
            <a:endParaRPr lang="en-US" sz="1500" dirty="0"/>
          </a:p>
        </p:txBody>
      </p:sp>
      <p:sp>
        <p:nvSpPr>
          <p:cNvPr id="14" name="Text 12"/>
          <p:cNvSpPr/>
          <p:nvPr/>
        </p:nvSpPr>
        <p:spPr>
          <a:xfrm>
            <a:off x="4553712" y="3200400"/>
            <a:ext cx="3081528" cy="118872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Dafür gibt es im Laden nur Plastik. Bei uns ein Business-Gerät, refurbished.</a:t>
            </a:r>
            <a:endParaRPr lang="en-US" sz="1100" dirty="0"/>
          </a:p>
        </p:txBody>
      </p:sp>
      <p:sp>
        <p:nvSpPr>
          <p:cNvPr id="15" name="Shape 13"/>
          <p:cNvSpPr/>
          <p:nvPr/>
        </p:nvSpPr>
        <p:spPr>
          <a:xfrm>
            <a:off x="8092440" y="2103120"/>
            <a:ext cx="3593592" cy="2468880"/>
          </a:xfrm>
          <a:prstGeom prst="roundRect">
            <a:avLst>
              <a:gd name="adj" fmla="val 1852"/>
            </a:avLst>
          </a:prstGeom>
          <a:solidFill>
            <a:srgbClr val="141B24"/>
          </a:solidFill>
          <a:ln w="9525">
            <a:solidFill>
              <a:srgbClr val="243040"/>
            </a:solidFill>
            <a:prstDash val="solid"/>
          </a:ln>
        </p:spPr>
      </p:sp>
      <p:sp>
        <p:nvSpPr>
          <p:cNvPr id="16" name="Text 14"/>
          <p:cNvSpPr/>
          <p:nvPr/>
        </p:nvSpPr>
        <p:spPr>
          <a:xfrm>
            <a:off x="8348472" y="2304288"/>
            <a:ext cx="3081528" cy="256032"/>
          </a:xfrm>
          <a:prstGeom prst="rect">
            <a:avLst/>
          </a:prstGeom>
          <a:noFill/>
          <a:ln/>
        </p:spPr>
        <p:txBody>
          <a:bodyPr wrap="square" lIns="0" tIns="0" rIns="0" bIns="0" rtlCol="0" anchor="ctr"/>
          <a:lstStyle/>
          <a:p>
            <a:pPr indent="0" marL="0">
              <a:buNone/>
            </a:pPr>
            <a:r>
              <a:rPr lang="en-US" sz="900" b="1" spc="200" kern="0" dirty="0">
                <a:solidFill>
                  <a:srgbClr val="3ED6AC"/>
                </a:solidFill>
                <a:latin typeface="Arial" pitchFamily="34" charset="0"/>
                <a:ea typeface="Arial" pitchFamily="34" charset="-122"/>
                <a:cs typeface="Arial" pitchFamily="34" charset="-120"/>
              </a:rPr>
              <a:t>WAS SIE BRAUCHT</a:t>
            </a:r>
            <a:endParaRPr lang="en-US" sz="900" dirty="0"/>
          </a:p>
        </p:txBody>
      </p:sp>
      <p:sp>
        <p:nvSpPr>
          <p:cNvPr id="17" name="Text 15"/>
          <p:cNvSpPr/>
          <p:nvPr/>
        </p:nvSpPr>
        <p:spPr>
          <a:xfrm>
            <a:off x="8348472" y="2606040"/>
            <a:ext cx="3081528" cy="566928"/>
          </a:xfrm>
          <a:prstGeom prst="rect">
            <a:avLst/>
          </a:prstGeom>
          <a:noFill/>
          <a:ln/>
        </p:spPr>
        <p:txBody>
          <a:bodyPr wrap="square" lIns="0" tIns="0" rIns="0" bIns="0" rtlCol="0" anchor="ctr"/>
          <a:lstStyle/>
          <a:p>
            <a:pPr indent="0" marL="0">
              <a:lnSpc>
                <a:spcPct val="105000"/>
              </a:lnSpc>
              <a:buNone/>
            </a:pPr>
            <a:r>
              <a:rPr lang="en-US" sz="1500" b="1" dirty="0">
                <a:solidFill>
                  <a:srgbClr val="EDF2F7"/>
                </a:solidFill>
                <a:latin typeface="Arial" pitchFamily="34" charset="0"/>
                <a:ea typeface="Arial" pitchFamily="34" charset="-122"/>
                <a:cs typeface="Arial" pitchFamily="34" charset="-120"/>
              </a:rPr>
              <a:t>Vertrauen</a:t>
            </a:r>
            <a:endParaRPr lang="en-US" sz="1500" dirty="0"/>
          </a:p>
        </p:txBody>
      </p:sp>
      <p:sp>
        <p:nvSpPr>
          <p:cNvPr id="18" name="Text 16"/>
          <p:cNvSpPr/>
          <p:nvPr/>
        </p:nvSpPr>
        <p:spPr>
          <a:xfrm>
            <a:off x="8348472" y="3200400"/>
            <a:ext cx="3081528" cy="118872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Geprüft, mit Garantie, von einer Schweizer Firma — nicht vom Marktplatz-Händler.</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46" fill="hold">
                      <p:stCondLst>
                        <p:cond delay="indefinite"/>
                        <p:cond evt="onBegin" delay="0">
                          <p:tn val="2"/>
                        </p:cond>
                      </p:stCondLst>
                      <p:childTnLst>
                        <p:par>
                          <p:cTn id="45"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00"/>
                                        <p:tgtEl>
                                          <p:spTgt spid="11"/>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00"/>
                                        <p:tgtEl>
                                          <p:spTgt spid="12"/>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00"/>
                                        <p:tgtEl>
                                          <p:spTgt spid="13"/>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00"/>
                                        <p:tgtEl>
                                          <p:spTgt spid="14"/>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00"/>
                                        <p:tgtEl>
                                          <p:spTgt spid="15"/>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400"/>
                                        <p:tgtEl>
                                          <p:spTgt spid="16"/>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11</a:t>
            </a:r>
            <a:endParaRPr lang="en-US" sz="850" dirty="0"/>
          </a:p>
        </p:txBody>
      </p:sp>
      <p:sp>
        <p:nvSpPr>
          <p:cNvPr id="4" name="Text 2"/>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3ED6AC"/>
                </a:solidFill>
                <a:latin typeface="Arial" pitchFamily="34" charset="0"/>
                <a:ea typeface="Arial" pitchFamily="34" charset="-122"/>
                <a:cs typeface="Arial" pitchFamily="34" charset="-120"/>
              </a:rPr>
              <a:t>05 · DER WETTBEWERB</a:t>
            </a:r>
            <a:endParaRPr lang="en-US" sz="1050" dirty="0"/>
          </a:p>
        </p:txBody>
      </p:sp>
      <p:sp>
        <p:nvSpPr>
          <p:cNvPr id="5" name="Text 3"/>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Gegen wen wir antreten</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965960"/>
          <a:ext cx="11183112" cy="914400"/>
        </p:xfrm>
        <a:graphic>
          <a:graphicData uri="http://schemas.openxmlformats.org/drawingml/2006/table">
            <a:tbl>
              <a:tblPr/>
              <a:tblGrid>
                <a:gridCol w="3108960"/>
                <a:gridCol w="4023360"/>
                <a:gridCol w="4050792"/>
              </a:tblGrid>
              <a:tr h="384048">
                <a:tc>
                  <a:txBody>
                    <a:bodyPr/>
                    <a:lstStyle/>
                    <a:p>
                      <a:pPr indent="0" marL="0">
                        <a:buNone/>
                      </a:pPr>
                      <a:r>
                        <a:rPr lang="en-US" sz="950" b="1" spc="150" kern="0" dirty="0">
                          <a:solidFill>
                            <a:srgbClr val="5C6E82"/>
                          </a:solidFill>
                          <a:latin typeface="Arial" pitchFamily="34" charset="0"/>
                          <a:ea typeface="Arial" pitchFamily="34" charset="-122"/>
                          <a:cs typeface="Arial" pitchFamily="34" charset="-120"/>
                        </a:rPr>
                        <a:t>WER</a:t>
                      </a:r>
                      <a:endParaRPr lang="en-US" sz="9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indent="0" marL="0">
                        <a:buNone/>
                      </a:pPr>
                      <a:r>
                        <a:rPr lang="en-US" sz="950" b="1" spc="150" kern="0" dirty="0">
                          <a:solidFill>
                            <a:srgbClr val="5C6E82"/>
                          </a:solidFill>
                          <a:latin typeface="Arial" pitchFamily="34" charset="0"/>
                          <a:ea typeface="Arial" pitchFamily="34" charset="-122"/>
                          <a:cs typeface="Arial" pitchFamily="34" charset="-120"/>
                        </a:rPr>
                        <a:t>STÄRKE</a:t>
                      </a:r>
                      <a:endParaRPr lang="en-US" sz="9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indent="0" marL="0">
                        <a:buNone/>
                      </a:pPr>
                      <a:r>
                        <a:rPr lang="en-US" sz="950" b="1" spc="150" kern="0" dirty="0">
                          <a:solidFill>
                            <a:srgbClr val="5C6E82"/>
                          </a:solidFill>
                          <a:latin typeface="Arial" pitchFamily="34" charset="0"/>
                          <a:ea typeface="Arial" pitchFamily="34" charset="-122"/>
                          <a:cs typeface="Arial" pitchFamily="34" charset="-120"/>
                        </a:rPr>
                        <a:t>SCHWÄCHE</a:t>
                      </a:r>
                      <a:endParaRPr lang="en-US" sz="9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r>
              <a:tr h="384048">
                <a:tc>
                  <a:txBody>
                    <a:bodyPr/>
                    <a:lstStyle/>
                    <a:p>
                      <a:pPr algn="l" indent="0" marL="0">
                        <a:buNone/>
                      </a:pPr>
                      <a:r>
                        <a:rPr lang="en-US" sz="1150" dirty="0">
                          <a:solidFill>
                            <a:srgbClr val="EDF2F7"/>
                          </a:solidFill>
                          <a:latin typeface="Arial" pitchFamily="34" charset="0"/>
                          <a:ea typeface="Arial" pitchFamily="34" charset="-122"/>
                          <a:cs typeface="Arial" pitchFamily="34" charset="-120"/>
                        </a:rPr>
                        <a:t>Digitec Galaxus</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l" indent="0" marL="0">
                        <a:buNone/>
                      </a:pPr>
                      <a:r>
                        <a:rPr lang="en-US" sz="1150" dirty="0">
                          <a:solidFill>
                            <a:srgbClr val="8FA0B4"/>
                          </a:solidFill>
                          <a:latin typeface="Arial" pitchFamily="34" charset="0"/>
                          <a:ea typeface="Arial" pitchFamily="34" charset="-122"/>
                          <a:cs typeface="Arial" pitchFamily="34" charset="-120"/>
                        </a:rPr>
                        <a:t>Riesiges Sortiment, Top-Logistik</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l" indent="0" marL="0">
                        <a:buNone/>
                      </a:pPr>
                      <a:r>
                        <a:rPr lang="en-US" sz="1150" dirty="0">
                          <a:solidFill>
                            <a:srgbClr val="8FA0B4"/>
                          </a:solidFill>
                          <a:latin typeface="Arial" pitchFamily="34" charset="0"/>
                          <a:ea typeface="Arial" pitchFamily="34" charset="-122"/>
                          <a:cs typeface="Arial" pitchFamily="34" charset="-120"/>
                        </a:rPr>
                        <a:t>Unpersönlich — refurbished ist dort Nische</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r>
              <a:tr h="384048">
                <a:tc>
                  <a:txBody>
                    <a:bodyPr/>
                    <a:lstStyle/>
                    <a:p>
                      <a:pPr algn="l" indent="0" marL="0">
                        <a:buNone/>
                      </a:pPr>
                      <a:r>
                        <a:rPr lang="en-US" sz="1150" dirty="0">
                          <a:solidFill>
                            <a:srgbClr val="EDF2F7"/>
                          </a:solidFill>
                          <a:latin typeface="Arial" pitchFamily="34" charset="0"/>
                          <a:ea typeface="Arial" pitchFamily="34" charset="-122"/>
                          <a:cs typeface="Arial" pitchFamily="34" charset="-120"/>
                        </a:rPr>
                        <a:t>MediaMarkt / Interdiscount</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l" indent="0" marL="0">
                        <a:buNone/>
                      </a:pPr>
                      <a:r>
                        <a:rPr lang="en-US" sz="1150" dirty="0">
                          <a:solidFill>
                            <a:srgbClr val="8FA0B4"/>
                          </a:solidFill>
                          <a:latin typeface="Arial" pitchFamily="34" charset="0"/>
                          <a:ea typeface="Arial" pitchFamily="34" charset="-122"/>
                          <a:cs typeface="Arial" pitchFamily="34" charset="-120"/>
                        </a:rPr>
                        <a:t>Läden zum Anfassen</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l" indent="0" marL="0">
                        <a:buNone/>
                      </a:pPr>
                      <a:r>
                        <a:rPr lang="en-US" sz="1150" dirty="0">
                          <a:solidFill>
                            <a:srgbClr val="8FA0B4"/>
                          </a:solidFill>
                          <a:latin typeface="Arial" pitchFamily="34" charset="0"/>
                          <a:ea typeface="Arial" pitchFamily="34" charset="-122"/>
                          <a:cs typeface="Arial" pitchFamily="34" charset="-120"/>
                        </a:rPr>
                        <a:t>Die Läden stecken im Preis — 10–15 % Struktur</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r>
              <a:tr h="384048">
                <a:tc>
                  <a:txBody>
                    <a:bodyPr/>
                    <a:lstStyle/>
                    <a:p>
                      <a:pPr algn="l" indent="0" marL="0">
                        <a:buNone/>
                      </a:pPr>
                      <a:r>
                        <a:rPr lang="en-US" sz="1150" dirty="0">
                          <a:solidFill>
                            <a:srgbClr val="EDF2F7"/>
                          </a:solidFill>
                          <a:latin typeface="Arial" pitchFamily="34" charset="0"/>
                          <a:ea typeface="Arial" pitchFamily="34" charset="-122"/>
                          <a:cs typeface="Arial" pitchFamily="34" charset="-120"/>
                        </a:rPr>
                        <a:t>Marktplatz-Händler (Ricardo &amp; Co.)</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l" indent="0" marL="0">
                        <a:buNone/>
                      </a:pPr>
                      <a:r>
                        <a:rPr lang="en-US" sz="1150" dirty="0">
                          <a:solidFill>
                            <a:srgbClr val="8FA0B4"/>
                          </a:solidFill>
                          <a:latin typeface="Arial" pitchFamily="34" charset="0"/>
                          <a:ea typeface="Arial" pitchFamily="34" charset="-122"/>
                          <a:cs typeface="Arial" pitchFamily="34" charset="-120"/>
                        </a:rPr>
                        <a:t>Billig</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l" indent="0" marL="0">
                        <a:buNone/>
                      </a:pPr>
                      <a:r>
                        <a:rPr lang="en-US" sz="1150" dirty="0">
                          <a:solidFill>
                            <a:srgbClr val="8FA0B4"/>
                          </a:solidFill>
                          <a:latin typeface="Arial" pitchFamily="34" charset="0"/>
                          <a:ea typeface="Arial" pitchFamily="34" charset="-122"/>
                          <a:cs typeface="Arial" pitchFamily="34" charset="-120"/>
                        </a:rPr>
                        <a:t>Keine Garantie, kein Impressum, kein Vertrauen</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r>
              <a:tr h="384048">
                <a:tc>
                  <a:txBody>
                    <a:bodyPr/>
                    <a:lstStyle/>
                    <a:p>
                      <a:pPr algn="l" indent="0" marL="0">
                        <a:buNone/>
                      </a:pPr>
                      <a:r>
                        <a:rPr lang="en-US" sz="1150" b="1" dirty="0">
                          <a:solidFill>
                            <a:srgbClr val="3ED6AC"/>
                          </a:solidFill>
                          <a:latin typeface="Arial" pitchFamily="34" charset="0"/>
                          <a:ea typeface="Arial" pitchFamily="34" charset="-122"/>
                          <a:cs typeface="Arial" pitchFamily="34" charset="-120"/>
                        </a:rPr>
                        <a:t>Fairtech Schweiz</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B2330"/>
                    </a:solidFill>
                  </a:tcPr>
                </a:tc>
                <a:tc>
                  <a:txBody>
                    <a:bodyPr/>
                    <a:lstStyle/>
                    <a:p>
                      <a:pPr algn="l" indent="0" marL="0">
                        <a:buNone/>
                      </a:pPr>
                      <a:r>
                        <a:rPr lang="en-US" sz="1150" b="1" dirty="0">
                          <a:solidFill>
                            <a:srgbClr val="EDF2F7"/>
                          </a:solidFill>
                          <a:latin typeface="Arial" pitchFamily="34" charset="0"/>
                          <a:ea typeface="Arial" pitchFamily="34" charset="-122"/>
                          <a:cs typeface="Arial" pitchFamily="34" charset="-120"/>
                        </a:rPr>
                        <a:t>Refurbished geprüft, 6 Produkte, persönlich</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B2330"/>
                    </a:solidFill>
                  </a:tcPr>
                </a:tc>
                <a:tc>
                  <a:txBody>
                    <a:bodyPr/>
                    <a:lstStyle/>
                    <a:p>
                      <a:pPr algn="l" indent="0" marL="0">
                        <a:buNone/>
                      </a:pPr>
                      <a:r>
                        <a:rPr lang="en-US" sz="1150" b="1" dirty="0">
                          <a:solidFill>
                            <a:srgbClr val="EDF2F7"/>
                          </a:solidFill>
                          <a:latin typeface="Arial" pitchFamily="34" charset="0"/>
                          <a:ea typeface="Arial" pitchFamily="34" charset="-122"/>
                          <a:cs typeface="Arial" pitchFamily="34" charset="-120"/>
                        </a:rPr>
                        <a:t>Neu — niemand kennt uns</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B2330"/>
                    </a:solidFill>
                  </a:tcPr>
                </a:tc>
              </a:tr>
            </a:tbl>
          </a:graphicData>
        </a:graphic>
      </p:graphicFrame>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3" fill="hold">
                      <p:stCondLst>
                        <p:cond delay="indefinite"/>
                        <p:cond evt="onBegin" delay="0">
                          <p:tn val="2"/>
                        </p:cond>
                      </p:stCondLst>
                      <p:childTnLst>
                        <p:par>
                          <p:cTn id="12"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12</a:t>
            </a:r>
            <a:endParaRPr lang="en-US" sz="850" dirty="0"/>
          </a:p>
        </p:txBody>
      </p:sp>
      <p:sp>
        <p:nvSpPr>
          <p:cNvPr id="4" name="chrome-reserve"/>
          <p:cNvSpPr/>
          <p:nvPr/>
        </p:nvSpPr>
        <p:spPr>
          <a:xfrm>
            <a:off x="8778240" y="384048"/>
            <a:ext cx="2926080" cy="274320"/>
          </a:xfrm>
          <a:prstGeom prst="rect">
            <a:avLst/>
          </a:prstGeom>
          <a:noFill/>
          <a:ln/>
        </p:spPr>
        <p:txBody>
          <a:bodyPr wrap="square" lIns="0" tIns="0" rIns="0" bIns="0" rtlCol="0" anchor="ctr"/>
          <a:lstStyle/>
          <a:p>
            <a:pPr algn="r" indent="0" marL="0">
              <a:buNone/>
            </a:pPr>
            <a:r>
              <a:rPr lang="en-US" sz="900" b="1" spc="200" kern="0" dirty="0">
                <a:solidFill>
                  <a:srgbClr val="5C6E82"/>
                </a:solidFill>
                <a:latin typeface="Arial" pitchFamily="34" charset="0"/>
                <a:ea typeface="Arial" pitchFamily="34" charset="-122"/>
                <a:cs typeface="Arial" pitchFamily="34" charset="-120"/>
              </a:rPr>
              <a:t>RESERVE · NUR BEI NACHFRAGE</a:t>
            </a:r>
            <a:endParaRPr lang="en-US" sz="900" dirty="0"/>
          </a:p>
        </p:txBody>
      </p:sp>
      <p:sp>
        <p:nvSpPr>
          <p:cNvPr id="5" name="Text 3"/>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3ED6AC"/>
                </a:solidFill>
                <a:latin typeface="Arial" pitchFamily="34" charset="0"/>
                <a:ea typeface="Arial" pitchFamily="34" charset="-122"/>
                <a:cs typeface="Arial" pitchFamily="34" charset="-120"/>
              </a:rPr>
              <a:t>05 · DIE FRAGE</a:t>
            </a:r>
            <a:endParaRPr lang="en-US" sz="1050" dirty="0"/>
          </a:p>
        </p:txBody>
      </p:sp>
      <p:sp>
        <p:nvSpPr>
          <p:cNvPr id="6" name="Text 4"/>
          <p:cNvSpPr/>
          <p:nvPr/>
        </p:nvSpPr>
        <p:spPr>
          <a:xfrm>
            <a:off x="502920" y="777240"/>
            <a:ext cx="11155680" cy="685800"/>
          </a:xfrm>
          <a:prstGeom prst="rect">
            <a:avLst/>
          </a:prstGeom>
          <a:noFill/>
          <a:ln/>
        </p:spPr>
        <p:txBody>
          <a:bodyPr wrap="square" lIns="0" tIns="0" rIns="0" bIns="0" rtlCol="0" anchor="ctr"/>
          <a:lstStyle/>
          <a:p>
            <a:pPr indent="0" marL="0">
              <a:buNone/>
            </a:pPr>
            <a:r>
              <a:rPr lang="en-US" sz="2600" b="1" dirty="0">
                <a:solidFill>
                  <a:srgbClr val="EDF2F7"/>
                </a:solidFill>
                <a:latin typeface="Arial" pitchFamily="34" charset="0"/>
                <a:ea typeface="Arial" pitchFamily="34" charset="-122"/>
                <a:cs typeface="Arial" pitchFamily="34" charset="-120"/>
              </a:rPr>
              <a:t>«Wie könnt ihr billiger sein als MediaMarkt?»</a:t>
            </a:r>
            <a:endParaRPr lang="en-US" sz="2600" dirty="0"/>
          </a:p>
        </p:txBody>
      </p:sp>
      <p:sp>
        <p:nvSpPr>
          <p:cNvPr id="7" name="Shape 5"/>
          <p:cNvSpPr/>
          <p:nvPr/>
        </p:nvSpPr>
        <p:spPr>
          <a:xfrm>
            <a:off x="502920" y="2057400"/>
            <a:ext cx="3593592" cy="2286000"/>
          </a:xfrm>
          <a:prstGeom prst="roundRect">
            <a:avLst>
              <a:gd name="adj" fmla="val 2000"/>
            </a:avLst>
          </a:prstGeom>
          <a:solidFill>
            <a:srgbClr val="141B24"/>
          </a:solidFill>
          <a:ln w="9525">
            <a:solidFill>
              <a:srgbClr val="243040"/>
            </a:solidFill>
            <a:prstDash val="solid"/>
          </a:ln>
        </p:spPr>
      </p:sp>
      <p:sp>
        <p:nvSpPr>
          <p:cNvPr id="8" name="Text 6"/>
          <p:cNvSpPr/>
          <p:nvPr/>
        </p:nvSpPr>
        <p:spPr>
          <a:xfrm>
            <a:off x="758952" y="2258568"/>
            <a:ext cx="3081528" cy="256032"/>
          </a:xfrm>
          <a:prstGeom prst="rect">
            <a:avLst/>
          </a:prstGeom>
          <a:noFill/>
          <a:ln/>
        </p:spPr>
        <p:txBody>
          <a:bodyPr wrap="square" lIns="0" tIns="0" rIns="0" bIns="0" rtlCol="0" anchor="ctr"/>
          <a:lstStyle/>
          <a:p>
            <a:pPr indent="0" marL="0">
              <a:buNone/>
            </a:pPr>
            <a:r>
              <a:rPr lang="en-US" sz="900" b="1" spc="200" kern="0" dirty="0">
                <a:solidFill>
                  <a:srgbClr val="3ED6AC"/>
                </a:solidFill>
                <a:latin typeface="Arial" pitchFamily="34" charset="0"/>
                <a:ea typeface="Arial" pitchFamily="34" charset="-122"/>
                <a:cs typeface="Arial" pitchFamily="34" charset="-120"/>
              </a:rPr>
              <a:t>1 · STRUKTUR</a:t>
            </a:r>
            <a:endParaRPr lang="en-US" sz="900" dirty="0"/>
          </a:p>
        </p:txBody>
      </p:sp>
      <p:sp>
        <p:nvSpPr>
          <p:cNvPr id="9" name="Text 7"/>
          <p:cNvSpPr/>
          <p:nvPr/>
        </p:nvSpPr>
        <p:spPr>
          <a:xfrm>
            <a:off x="758952" y="2560320"/>
            <a:ext cx="3081528" cy="566928"/>
          </a:xfrm>
          <a:prstGeom prst="rect">
            <a:avLst/>
          </a:prstGeom>
          <a:noFill/>
          <a:ln/>
        </p:spPr>
        <p:txBody>
          <a:bodyPr wrap="square" lIns="0" tIns="0" rIns="0" bIns="0" rtlCol="0" anchor="ctr"/>
          <a:lstStyle/>
          <a:p>
            <a:pPr indent="0" marL="0">
              <a:lnSpc>
                <a:spcPct val="105000"/>
              </a:lnSpc>
              <a:buNone/>
            </a:pPr>
            <a:r>
              <a:rPr lang="en-US" sz="1500" b="1" dirty="0">
                <a:solidFill>
                  <a:srgbClr val="EDF2F7"/>
                </a:solidFill>
                <a:latin typeface="Arial" pitchFamily="34" charset="0"/>
                <a:ea typeface="Arial" pitchFamily="34" charset="-122"/>
                <a:cs typeface="Arial" pitchFamily="34" charset="-120"/>
              </a:rPr>
              <a:t>Keine Läden</a:t>
            </a:r>
            <a:endParaRPr lang="en-US" sz="1500" dirty="0"/>
          </a:p>
        </p:txBody>
      </p:sp>
      <p:sp>
        <p:nvSpPr>
          <p:cNvPr id="10" name="Text 8"/>
          <p:cNvSpPr/>
          <p:nvPr/>
        </p:nvSpPr>
        <p:spPr>
          <a:xfrm>
            <a:off x="758952" y="3154680"/>
            <a:ext cx="3081528" cy="100584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Keine Miete, kein Verkaufspersonal, kein Licht. 10–15 % Kosten, die wir nie haben.</a:t>
            </a:r>
            <a:endParaRPr lang="en-US" sz="1100" dirty="0"/>
          </a:p>
        </p:txBody>
      </p:sp>
      <p:sp>
        <p:nvSpPr>
          <p:cNvPr id="11" name="Shape 9"/>
          <p:cNvSpPr/>
          <p:nvPr/>
        </p:nvSpPr>
        <p:spPr>
          <a:xfrm>
            <a:off x="4297680" y="2057400"/>
            <a:ext cx="3593592" cy="2286000"/>
          </a:xfrm>
          <a:prstGeom prst="roundRect">
            <a:avLst>
              <a:gd name="adj" fmla="val 2000"/>
            </a:avLst>
          </a:prstGeom>
          <a:solidFill>
            <a:srgbClr val="141B24"/>
          </a:solidFill>
          <a:ln w="9525">
            <a:solidFill>
              <a:srgbClr val="243040"/>
            </a:solidFill>
            <a:prstDash val="solid"/>
          </a:ln>
        </p:spPr>
      </p:sp>
      <p:sp>
        <p:nvSpPr>
          <p:cNvPr id="12" name="Text 10"/>
          <p:cNvSpPr/>
          <p:nvPr/>
        </p:nvSpPr>
        <p:spPr>
          <a:xfrm>
            <a:off x="4553712" y="2258568"/>
            <a:ext cx="3081528" cy="256032"/>
          </a:xfrm>
          <a:prstGeom prst="rect">
            <a:avLst/>
          </a:prstGeom>
          <a:noFill/>
          <a:ln/>
        </p:spPr>
        <p:txBody>
          <a:bodyPr wrap="square" lIns="0" tIns="0" rIns="0" bIns="0" rtlCol="0" anchor="ctr"/>
          <a:lstStyle/>
          <a:p>
            <a:pPr indent="0" marL="0">
              <a:buNone/>
            </a:pPr>
            <a:r>
              <a:rPr lang="en-US" sz="900" b="1" spc="200" kern="0" dirty="0">
                <a:solidFill>
                  <a:srgbClr val="3ED6AC"/>
                </a:solidFill>
                <a:latin typeface="Arial" pitchFamily="34" charset="0"/>
                <a:ea typeface="Arial" pitchFamily="34" charset="-122"/>
                <a:cs typeface="Arial" pitchFamily="34" charset="-120"/>
              </a:rPr>
              <a:t>2 · SORTIMENT</a:t>
            </a:r>
            <a:endParaRPr lang="en-US" sz="900" dirty="0"/>
          </a:p>
        </p:txBody>
      </p:sp>
      <p:sp>
        <p:nvSpPr>
          <p:cNvPr id="13" name="Text 11"/>
          <p:cNvSpPr/>
          <p:nvPr/>
        </p:nvSpPr>
        <p:spPr>
          <a:xfrm>
            <a:off x="4553712" y="2560320"/>
            <a:ext cx="3081528" cy="566928"/>
          </a:xfrm>
          <a:prstGeom prst="rect">
            <a:avLst/>
          </a:prstGeom>
          <a:noFill/>
          <a:ln/>
        </p:spPr>
        <p:txBody>
          <a:bodyPr wrap="square" lIns="0" tIns="0" rIns="0" bIns="0" rtlCol="0" anchor="ctr"/>
          <a:lstStyle/>
          <a:p>
            <a:pPr indent="0" marL="0">
              <a:lnSpc>
                <a:spcPct val="105000"/>
              </a:lnSpc>
              <a:buNone/>
            </a:pPr>
            <a:r>
              <a:rPr lang="en-US" sz="1500" b="1" dirty="0">
                <a:solidFill>
                  <a:srgbClr val="EDF2F7"/>
                </a:solidFill>
                <a:latin typeface="Arial" pitchFamily="34" charset="0"/>
                <a:ea typeface="Arial" pitchFamily="34" charset="-122"/>
                <a:cs typeface="Arial" pitchFamily="34" charset="-120"/>
              </a:rPr>
              <a:t>6 statt 6'000</a:t>
            </a:r>
            <a:endParaRPr lang="en-US" sz="1500" dirty="0"/>
          </a:p>
        </p:txBody>
      </p:sp>
      <p:sp>
        <p:nvSpPr>
          <p:cNvPr id="14" name="Text 12"/>
          <p:cNvSpPr/>
          <p:nvPr/>
        </p:nvSpPr>
        <p:spPr>
          <a:xfrm>
            <a:off x="4553712" y="3154680"/>
            <a:ext cx="3081528" cy="100584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Kein totes Lager, keine Liquidationsrabatte, kein Katalog, den niemand liest.</a:t>
            </a:r>
            <a:endParaRPr lang="en-US" sz="1100" dirty="0"/>
          </a:p>
        </p:txBody>
      </p:sp>
      <p:sp>
        <p:nvSpPr>
          <p:cNvPr id="15" name="Shape 13"/>
          <p:cNvSpPr/>
          <p:nvPr/>
        </p:nvSpPr>
        <p:spPr>
          <a:xfrm>
            <a:off x="8092440" y="2057400"/>
            <a:ext cx="3593592" cy="2286000"/>
          </a:xfrm>
          <a:prstGeom prst="roundRect">
            <a:avLst>
              <a:gd name="adj" fmla="val 2000"/>
            </a:avLst>
          </a:prstGeom>
          <a:solidFill>
            <a:srgbClr val="141B24"/>
          </a:solidFill>
          <a:ln w="9525">
            <a:solidFill>
              <a:srgbClr val="243040"/>
            </a:solidFill>
            <a:prstDash val="solid"/>
          </a:ln>
        </p:spPr>
      </p:sp>
      <p:sp>
        <p:nvSpPr>
          <p:cNvPr id="16" name="Text 14"/>
          <p:cNvSpPr/>
          <p:nvPr/>
        </p:nvSpPr>
        <p:spPr>
          <a:xfrm>
            <a:off x="8348472" y="2258568"/>
            <a:ext cx="3081528" cy="256032"/>
          </a:xfrm>
          <a:prstGeom prst="rect">
            <a:avLst/>
          </a:prstGeom>
          <a:noFill/>
          <a:ln/>
        </p:spPr>
        <p:txBody>
          <a:bodyPr wrap="square" lIns="0" tIns="0" rIns="0" bIns="0" rtlCol="0" anchor="ctr"/>
          <a:lstStyle/>
          <a:p>
            <a:pPr indent="0" marL="0">
              <a:buNone/>
            </a:pPr>
            <a:r>
              <a:rPr lang="en-US" sz="900" b="1" spc="200" kern="0" dirty="0">
                <a:solidFill>
                  <a:srgbClr val="3ED6AC"/>
                </a:solidFill>
                <a:latin typeface="Arial" pitchFamily="34" charset="0"/>
                <a:ea typeface="Arial" pitchFamily="34" charset="-122"/>
                <a:cs typeface="Arial" pitchFamily="34" charset="-120"/>
              </a:rPr>
              <a:t>3 · DER HEBEL</a:t>
            </a:r>
            <a:endParaRPr lang="en-US" sz="900" dirty="0"/>
          </a:p>
        </p:txBody>
      </p:sp>
      <p:sp>
        <p:nvSpPr>
          <p:cNvPr id="17" name="Text 15"/>
          <p:cNvSpPr/>
          <p:nvPr/>
        </p:nvSpPr>
        <p:spPr>
          <a:xfrm>
            <a:off x="8348472" y="2560320"/>
            <a:ext cx="3081528" cy="566928"/>
          </a:xfrm>
          <a:prstGeom prst="rect">
            <a:avLst/>
          </a:prstGeom>
          <a:noFill/>
          <a:ln/>
        </p:spPr>
        <p:txBody>
          <a:bodyPr wrap="square" lIns="0" tIns="0" rIns="0" bIns="0" rtlCol="0" anchor="ctr"/>
          <a:lstStyle/>
          <a:p>
            <a:pPr indent="0" marL="0">
              <a:lnSpc>
                <a:spcPct val="105000"/>
              </a:lnSpc>
              <a:buNone/>
            </a:pPr>
            <a:r>
              <a:rPr lang="en-US" sz="1500" b="1" dirty="0">
                <a:solidFill>
                  <a:srgbClr val="EDF2F7"/>
                </a:solidFill>
                <a:latin typeface="Arial" pitchFamily="34" charset="0"/>
                <a:ea typeface="Arial" pitchFamily="34" charset="-122"/>
                <a:cs typeface="Arial" pitchFamily="34" charset="-120"/>
              </a:rPr>
              <a:t>Refurbished</a:t>
            </a:r>
            <a:endParaRPr lang="en-US" sz="1500" dirty="0"/>
          </a:p>
        </p:txBody>
      </p:sp>
      <p:sp>
        <p:nvSpPr>
          <p:cNvPr id="18" name="Text 16"/>
          <p:cNvSpPr/>
          <p:nvPr/>
        </p:nvSpPr>
        <p:spPr>
          <a:xfrm>
            <a:off x="8348472" y="3154680"/>
            <a:ext cx="3081528" cy="100584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Hier entscheidet nicht die Einkaufsmenge, sondern Prüfung und Vertrauen.</a:t>
            </a:r>
            <a:endParaRPr lang="en-US" sz="1100" dirty="0"/>
          </a:p>
        </p:txBody>
      </p:sp>
      <p:sp>
        <p:nvSpPr>
          <p:cNvPr id="19" name="Text 17"/>
          <p:cNvSpPr/>
          <p:nvPr/>
        </p:nvSpPr>
        <p:spPr>
          <a:xfrm>
            <a:off x="502920" y="4663440"/>
            <a:ext cx="10515600" cy="457200"/>
          </a:xfrm>
          <a:prstGeom prst="rect">
            <a:avLst/>
          </a:prstGeom>
          <a:noFill/>
          <a:ln/>
        </p:spPr>
        <p:txBody>
          <a:bodyPr wrap="square" lIns="0" tIns="0" rIns="0" bIns="0" rtlCol="0" anchor="ctr"/>
          <a:lstStyle/>
          <a:p>
            <a:pPr indent="0" marL="0">
              <a:buNone/>
            </a:pPr>
            <a:r>
              <a:rPr lang="en-US" sz="1350" b="1" dirty="0">
                <a:solidFill>
                  <a:srgbClr val="EDF2F7"/>
                </a:solidFill>
                <a:latin typeface="Arial" pitchFamily="34" charset="0"/>
                <a:ea typeface="Arial" pitchFamily="34" charset="-122"/>
                <a:cs typeface="Arial" pitchFamily="34" charset="-120"/>
              </a:rPr>
              <a:t>Ehrlich gesagt: </a:t>
            </a:r>
            <a:pPr indent="0" marL="0">
              <a:buNone/>
            </a:pPr>
            <a:r>
              <a:rPr lang="en-US" sz="1350" dirty="0">
                <a:solidFill>
                  <a:srgbClr val="8FA0B4"/>
                </a:solidFill>
                <a:latin typeface="Arial" pitchFamily="34" charset="0"/>
                <a:ea typeface="Arial" pitchFamily="34" charset="-122"/>
                <a:cs typeface="Arial" pitchFamily="34" charset="-120"/>
              </a:rPr>
              <a:t>beim Einkauf verlieren wir gegen die Grossen. Bei der Struktur gewinnen wir.</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49" fill="hold">
                      <p:stCondLst>
                        <p:cond delay="indefinite"/>
                        <p:cond evt="onBegin" delay="0">
                          <p:tn val="2"/>
                        </p:cond>
                      </p:stCondLst>
                      <p:childTnLst>
                        <p:par>
                          <p:cTn id="48"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00"/>
                                        <p:tgtEl>
                                          <p:spTgt spid="11"/>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00"/>
                                        <p:tgtEl>
                                          <p:spTgt spid="12"/>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00"/>
                                        <p:tgtEl>
                                          <p:spTgt spid="13"/>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00"/>
                                        <p:tgtEl>
                                          <p:spTgt spid="14"/>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00"/>
                                        <p:tgtEl>
                                          <p:spTgt spid="15"/>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400"/>
                                        <p:tgtEl>
                                          <p:spTgt spid="16"/>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par>
                                <p:cTn id="45" presetID="10" presetClass="entr" presetSubtype="0" fill="hold" grpId="0" nodeType="afterEffect">
                                  <p:stCondLst>
                                    <p:cond delay="182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13</a:t>
            </a:r>
            <a:endParaRPr lang="en-US" sz="850" dirty="0"/>
          </a:p>
        </p:txBody>
      </p:sp>
      <p:sp>
        <p:nvSpPr>
          <p:cNvPr id="4" name="Text 2"/>
          <p:cNvSpPr/>
          <p:nvPr/>
        </p:nvSpPr>
        <p:spPr>
          <a:xfrm>
            <a:off x="1527048" y="1965960"/>
            <a:ext cx="9144000" cy="320040"/>
          </a:xfrm>
          <a:prstGeom prst="rect">
            <a:avLst/>
          </a:prstGeom>
          <a:noFill/>
          <a:ln/>
        </p:spPr>
        <p:txBody>
          <a:bodyPr wrap="square" lIns="0" tIns="0" rIns="0" bIns="0" rtlCol="0" anchor="ctr"/>
          <a:lstStyle/>
          <a:p>
            <a:pPr algn="ctr" indent="0" marL="0">
              <a:buNone/>
            </a:pPr>
            <a:r>
              <a:rPr lang="en-US" sz="1200" b="1" spc="500" kern="0" dirty="0">
                <a:solidFill>
                  <a:srgbClr val="5C6E82"/>
                </a:solidFill>
                <a:latin typeface="Arial" pitchFamily="34" charset="0"/>
                <a:ea typeface="Arial" pitchFamily="34" charset="-122"/>
                <a:cs typeface="Arial" pitchFamily="34" charset="-120"/>
              </a:rPr>
              <a:t>TEIL 3 VON 5</a:t>
            </a:r>
            <a:endParaRPr lang="en-US" sz="1200" dirty="0"/>
          </a:p>
        </p:txBody>
      </p:sp>
      <p:sp>
        <p:nvSpPr>
          <p:cNvPr id="5" name="Text 3"/>
          <p:cNvSpPr/>
          <p:nvPr/>
        </p:nvSpPr>
        <p:spPr>
          <a:xfrm>
            <a:off x="612648" y="2331720"/>
            <a:ext cx="10972800" cy="1737360"/>
          </a:xfrm>
          <a:prstGeom prst="rect">
            <a:avLst/>
          </a:prstGeom>
          <a:noFill/>
          <a:ln/>
        </p:spPr>
        <p:txBody>
          <a:bodyPr wrap="square" lIns="0" tIns="0" rIns="0" bIns="0" rtlCol="0" anchor="ctr"/>
          <a:lstStyle/>
          <a:p>
            <a:pPr algn="ctr" indent="0" marL="0">
              <a:buNone/>
            </a:pPr>
            <a:r>
              <a:rPr lang="en-US" sz="8400" b="1" dirty="0">
                <a:solidFill>
                  <a:srgbClr val="F4647A"/>
                </a:solidFill>
                <a:latin typeface="Arial" pitchFamily="34" charset="0"/>
                <a:ea typeface="Arial" pitchFamily="34" charset="-122"/>
                <a:cs typeface="Arial" pitchFamily="34" charset="-120"/>
              </a:rPr>
              <a:t>Fernando</a:t>
            </a:r>
            <a:endParaRPr lang="en-US" sz="8400" dirty="0"/>
          </a:p>
        </p:txBody>
      </p:sp>
      <p:sp>
        <p:nvSpPr>
          <p:cNvPr id="6" name="Text 4"/>
          <p:cNvSpPr/>
          <p:nvPr/>
        </p:nvSpPr>
        <p:spPr>
          <a:xfrm>
            <a:off x="1527048" y="4206240"/>
            <a:ext cx="9144000" cy="502920"/>
          </a:xfrm>
          <a:prstGeom prst="rect">
            <a:avLst/>
          </a:prstGeom>
          <a:noFill/>
          <a:ln/>
        </p:spPr>
        <p:txBody>
          <a:bodyPr wrap="square" lIns="0" tIns="0" rIns="0" bIns="0" rtlCol="0" anchor="ctr"/>
          <a:lstStyle/>
          <a:p>
            <a:pPr algn="ctr" indent="0" marL="0">
              <a:buNone/>
            </a:pPr>
            <a:r>
              <a:rPr lang="en-US" sz="1900" dirty="0">
                <a:solidFill>
                  <a:srgbClr val="8FA0B4"/>
                </a:solidFill>
                <a:latin typeface="Arial" pitchFamily="34" charset="0"/>
                <a:ea typeface="Arial" pitchFamily="34" charset="-122"/>
                <a:cs typeface="Arial" pitchFamily="34" charset="-120"/>
              </a:rPr>
              <a:t>Sortiment und Preise</a:t>
            </a:r>
            <a:endParaRPr lang="en-US" sz="1900" dirty="0"/>
          </a:p>
        </p:txBody>
      </p:sp>
      <p:sp>
        <p:nvSpPr>
          <p:cNvPr id="7" name="Text 5"/>
          <p:cNvSpPr/>
          <p:nvPr/>
        </p:nvSpPr>
        <p:spPr>
          <a:xfrm>
            <a:off x="1527048" y="4846320"/>
            <a:ext cx="9144000" cy="320040"/>
          </a:xfrm>
          <a:prstGeom prst="rect">
            <a:avLst/>
          </a:prstGeom>
          <a:noFill/>
          <a:ln/>
        </p:spPr>
        <p:txBody>
          <a:bodyPr wrap="square" lIns="0" tIns="0" rIns="0" bIns="0" rtlCol="0" anchor="ctr"/>
          <a:lstStyle/>
          <a:p>
            <a:pPr algn="ctr" indent="0" marL="0">
              <a:buNone/>
            </a:pPr>
            <a:r>
              <a:rPr lang="en-US" sz="1100" b="1" spc="300" kern="0" dirty="0">
                <a:solidFill>
                  <a:srgbClr val="5C6E82"/>
                </a:solidFill>
                <a:latin typeface="Arial" pitchFamily="34" charset="0"/>
                <a:ea typeface="Arial" pitchFamily="34" charset="-122"/>
                <a:cs typeface="Arial" pitchFamily="34" charset="-120"/>
              </a:rPr>
              <a:t>1–2 MINUTEN</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6" fill="hold">
                      <p:stCondLst>
                        <p:cond delay="indefinite"/>
                        <p:cond evt="onBegin" delay="0">
                          <p:tn val="2"/>
                        </p:cond>
                      </p:stCondLst>
                      <p:childTnLst>
                        <p:par>
                          <p:cTn id="15"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14</a:t>
            </a:r>
            <a:endParaRPr lang="en-US" sz="850" dirty="0"/>
          </a:p>
        </p:txBody>
      </p:sp>
      <p:sp>
        <p:nvSpPr>
          <p:cNvPr id="4" name="Text 2"/>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F4647A"/>
                </a:solidFill>
                <a:latin typeface="Arial" pitchFamily="34" charset="0"/>
                <a:ea typeface="Arial" pitchFamily="34" charset="-122"/>
                <a:cs typeface="Arial" pitchFamily="34" charset="-120"/>
              </a:rPr>
              <a:t>06 · DAS SORTIMENT</a:t>
            </a:r>
            <a:endParaRPr lang="en-US" sz="1050" dirty="0"/>
          </a:p>
        </p:txBody>
      </p:sp>
      <p:sp>
        <p:nvSpPr>
          <p:cNvPr id="5" name="Text 3"/>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Sechs Produkte. Nicht sechstausend.</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83112" cy="914400"/>
        </p:xfrm>
        <a:graphic>
          <a:graphicData uri="http://schemas.openxmlformats.org/drawingml/2006/table">
            <a:tbl>
              <a:tblPr/>
              <a:tblGrid>
                <a:gridCol w="5120640"/>
                <a:gridCol w="2011680"/>
                <a:gridCol w="2011680"/>
                <a:gridCol w="2039112"/>
              </a:tblGrid>
              <a:tr h="384048">
                <a:tc>
                  <a:txBody>
                    <a:bodyPr/>
                    <a:lstStyle/>
                    <a:p>
                      <a:pPr indent="0" marL="0">
                        <a:buNone/>
                      </a:pPr>
                      <a:r>
                        <a:rPr lang="en-US" sz="950" b="1" spc="150" kern="0" dirty="0">
                          <a:solidFill>
                            <a:srgbClr val="5C6E82"/>
                          </a:solidFill>
                          <a:latin typeface="Arial" pitchFamily="34" charset="0"/>
                          <a:ea typeface="Arial" pitchFamily="34" charset="-122"/>
                          <a:cs typeface="Arial" pitchFamily="34" charset="-120"/>
                        </a:rPr>
                        <a:t>PRODUKT</a:t>
                      </a:r>
                      <a:endParaRPr lang="en-US" sz="9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indent="0" marL="0">
                        <a:buNone/>
                      </a:pPr>
                      <a:r>
                        <a:rPr lang="en-US" sz="950" b="1" spc="150" kern="0" dirty="0">
                          <a:solidFill>
                            <a:srgbClr val="5C6E82"/>
                          </a:solidFill>
                          <a:latin typeface="Arial" pitchFamily="34" charset="0"/>
                          <a:ea typeface="Arial" pitchFamily="34" charset="-122"/>
                          <a:cs typeface="Arial" pitchFamily="34" charset="-120"/>
                        </a:rPr>
                        <a:t>BEI UNS</a:t>
                      </a:r>
                      <a:endParaRPr lang="en-US" sz="9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indent="0" marL="0">
                        <a:buNone/>
                      </a:pPr>
                      <a:r>
                        <a:rPr lang="en-US" sz="950" b="1" spc="150" kern="0" dirty="0">
                          <a:solidFill>
                            <a:srgbClr val="5C6E82"/>
                          </a:solidFill>
                          <a:latin typeface="Arial" pitchFamily="34" charset="0"/>
                          <a:ea typeface="Arial" pitchFamily="34" charset="-122"/>
                          <a:cs typeface="Arial" pitchFamily="34" charset="-120"/>
                        </a:rPr>
                        <a:t>ANDERSWO</a:t>
                      </a:r>
                      <a:endParaRPr lang="en-US" sz="9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indent="0" marL="0">
                        <a:buNone/>
                      </a:pPr>
                      <a:r>
                        <a:rPr lang="en-US" sz="950" b="1" spc="150" kern="0" dirty="0">
                          <a:solidFill>
                            <a:srgbClr val="5C6E82"/>
                          </a:solidFill>
                          <a:latin typeface="Arial" pitchFamily="34" charset="0"/>
                          <a:ea typeface="Arial" pitchFamily="34" charset="-122"/>
                          <a:cs typeface="Arial" pitchFamily="34" charset="-120"/>
                        </a:rPr>
                        <a:t>MARGE</a:t>
                      </a:r>
                      <a:endParaRPr lang="en-US" sz="9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r>
              <a:tr h="384048">
                <a:tc>
                  <a:txBody>
                    <a:bodyPr/>
                    <a:lstStyle/>
                    <a:p>
                      <a:pPr algn="l" indent="0" marL="0">
                        <a:buNone/>
                      </a:pPr>
                      <a:r>
                        <a:rPr lang="en-US" sz="1150" dirty="0">
                          <a:solidFill>
                            <a:srgbClr val="EDF2F7"/>
                          </a:solidFill>
                          <a:latin typeface="Arial" pitchFamily="34" charset="0"/>
                          <a:ea typeface="Arial" pitchFamily="34" charset="-122"/>
                          <a:cs typeface="Arial" pitchFamily="34" charset="-120"/>
                        </a:rPr>
                        <a:t>iPhone 16, 128 GB · neu</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r" indent="0" marL="0">
                        <a:buNone/>
                      </a:pPr>
                      <a:r>
                        <a:rPr lang="en-US" sz="1150" dirty="0">
                          <a:solidFill>
                            <a:srgbClr val="8FA0B4"/>
                          </a:solidFill>
                          <a:latin typeface="Arial" pitchFamily="34" charset="0"/>
                          <a:ea typeface="Arial" pitchFamily="34" charset="-122"/>
                          <a:cs typeface="Arial" pitchFamily="34" charset="-120"/>
                        </a:rPr>
                        <a:t>799</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r" indent="0" marL="0">
                        <a:buNone/>
                      </a:pPr>
                      <a:r>
                        <a:rPr lang="en-US" sz="1150" dirty="0">
                          <a:solidFill>
                            <a:srgbClr val="8FA0B4"/>
                          </a:solidFill>
                          <a:latin typeface="Arial" pitchFamily="34" charset="0"/>
                          <a:ea typeface="Arial" pitchFamily="34" charset="-122"/>
                          <a:cs typeface="Arial" pitchFamily="34" charset="-120"/>
                        </a:rPr>
                        <a:t>849</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r" indent="0" marL="0">
                        <a:buNone/>
                      </a:pPr>
                      <a:r>
                        <a:rPr lang="en-US" sz="1150" dirty="0">
                          <a:solidFill>
                            <a:srgbClr val="8FA0B4"/>
                          </a:solidFill>
                          <a:latin typeface="Arial" pitchFamily="34" charset="0"/>
                          <a:ea typeface="Arial" pitchFamily="34" charset="-122"/>
                          <a:cs typeface="Arial" pitchFamily="34" charset="-120"/>
                        </a:rPr>
                        <a:t>~4 %</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r>
              <a:tr h="384048">
                <a:tc>
                  <a:txBody>
                    <a:bodyPr/>
                    <a:lstStyle/>
                    <a:p>
                      <a:pPr algn="l" indent="0" marL="0">
                        <a:buNone/>
                      </a:pPr>
                      <a:r>
                        <a:rPr lang="en-US" sz="1150" dirty="0">
                          <a:solidFill>
                            <a:srgbClr val="EDF2F7"/>
                          </a:solidFill>
                          <a:latin typeface="Arial" pitchFamily="34" charset="0"/>
                          <a:ea typeface="Arial" pitchFamily="34" charset="-122"/>
                          <a:cs typeface="Arial" pitchFamily="34" charset="-120"/>
                        </a:rPr>
                        <a:t>MacBook Air M3 13″, 256 GB · neu</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r" indent="0" marL="0">
                        <a:buNone/>
                      </a:pPr>
                      <a:r>
                        <a:rPr lang="en-US" sz="1150" dirty="0">
                          <a:solidFill>
                            <a:srgbClr val="8FA0B4"/>
                          </a:solidFill>
                          <a:latin typeface="Arial" pitchFamily="34" charset="0"/>
                          <a:ea typeface="Arial" pitchFamily="34" charset="-122"/>
                          <a:cs typeface="Arial" pitchFamily="34" charset="-120"/>
                        </a:rPr>
                        <a:t>1'229</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r" indent="0" marL="0">
                        <a:buNone/>
                      </a:pPr>
                      <a:r>
                        <a:rPr lang="en-US" sz="1150" dirty="0">
                          <a:solidFill>
                            <a:srgbClr val="8FA0B4"/>
                          </a:solidFill>
                          <a:latin typeface="Arial" pitchFamily="34" charset="0"/>
                          <a:ea typeface="Arial" pitchFamily="34" charset="-122"/>
                          <a:cs typeface="Arial" pitchFamily="34" charset="-120"/>
                        </a:rPr>
                        <a:t>1'299</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r" indent="0" marL="0">
                        <a:buNone/>
                      </a:pPr>
                      <a:r>
                        <a:rPr lang="en-US" sz="1150" dirty="0">
                          <a:solidFill>
                            <a:srgbClr val="8FA0B4"/>
                          </a:solidFill>
                          <a:latin typeface="Arial" pitchFamily="34" charset="0"/>
                          <a:ea typeface="Arial" pitchFamily="34" charset="-122"/>
                          <a:cs typeface="Arial" pitchFamily="34" charset="-120"/>
                        </a:rPr>
                        <a:t>~4 %</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r>
              <a:tr h="384048">
                <a:tc>
                  <a:txBody>
                    <a:bodyPr/>
                    <a:lstStyle/>
                    <a:p>
                      <a:pPr algn="l" indent="0" marL="0">
                        <a:buNone/>
                      </a:pPr>
                      <a:r>
                        <a:rPr lang="en-US" sz="1150" dirty="0">
                          <a:solidFill>
                            <a:srgbClr val="EDF2F7"/>
                          </a:solidFill>
                          <a:latin typeface="Arial" pitchFamily="34" charset="0"/>
                          <a:ea typeface="Arial" pitchFamily="34" charset="-122"/>
                          <a:cs typeface="Arial" pitchFamily="34" charset="-120"/>
                        </a:rPr>
                        <a:t>AirPods Pro 2 · neu</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r" indent="0" marL="0">
                        <a:buNone/>
                      </a:pPr>
                      <a:r>
                        <a:rPr lang="en-US" sz="1150" dirty="0">
                          <a:solidFill>
                            <a:srgbClr val="8FA0B4"/>
                          </a:solidFill>
                          <a:latin typeface="Arial" pitchFamily="34" charset="0"/>
                          <a:ea typeface="Arial" pitchFamily="34" charset="-122"/>
                          <a:cs typeface="Arial" pitchFamily="34" charset="-120"/>
                        </a:rPr>
                        <a:t>219</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r" indent="0" marL="0">
                        <a:buNone/>
                      </a:pPr>
                      <a:r>
                        <a:rPr lang="en-US" sz="1150" dirty="0">
                          <a:solidFill>
                            <a:srgbClr val="8FA0B4"/>
                          </a:solidFill>
                          <a:latin typeface="Arial" pitchFamily="34" charset="0"/>
                          <a:ea typeface="Arial" pitchFamily="34" charset="-122"/>
                          <a:cs typeface="Arial" pitchFamily="34" charset="-120"/>
                        </a:rPr>
                        <a:t>279</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r" indent="0" marL="0">
                        <a:buNone/>
                      </a:pPr>
                      <a:r>
                        <a:rPr lang="en-US" sz="1150" dirty="0">
                          <a:solidFill>
                            <a:srgbClr val="8FA0B4"/>
                          </a:solidFill>
                          <a:latin typeface="Arial" pitchFamily="34" charset="0"/>
                          <a:ea typeface="Arial" pitchFamily="34" charset="-122"/>
                          <a:cs typeface="Arial" pitchFamily="34" charset="-120"/>
                        </a:rPr>
                        <a:t>~10 %</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r>
              <a:tr h="384048">
                <a:tc>
                  <a:txBody>
                    <a:bodyPr/>
                    <a:lstStyle/>
                    <a:p>
                      <a:pPr algn="l" indent="0" marL="0">
                        <a:buNone/>
                      </a:pPr>
                      <a:r>
                        <a:rPr lang="en-US" sz="1150" dirty="0">
                          <a:solidFill>
                            <a:srgbClr val="EDF2F7"/>
                          </a:solidFill>
                          <a:latin typeface="Arial" pitchFamily="34" charset="0"/>
                          <a:ea typeface="Arial" pitchFamily="34" charset="-122"/>
                          <a:cs typeface="Arial" pitchFamily="34" charset="-120"/>
                        </a:rPr>
                        <a:t>iPhone 14, 128 GB · refurbished A</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r" indent="0" marL="0">
                        <a:buNone/>
                      </a:pPr>
                      <a:r>
                        <a:rPr lang="en-US" sz="1150" dirty="0">
                          <a:solidFill>
                            <a:srgbClr val="8FA0B4"/>
                          </a:solidFill>
                          <a:latin typeface="Arial" pitchFamily="34" charset="0"/>
                          <a:ea typeface="Arial" pitchFamily="34" charset="-122"/>
                          <a:cs typeface="Arial" pitchFamily="34" charset="-120"/>
                        </a:rPr>
                        <a:t>449</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r" indent="0" marL="0">
                        <a:buNone/>
                      </a:pPr>
                      <a:r>
                        <a:rPr lang="en-US" sz="1150" dirty="0">
                          <a:solidFill>
                            <a:srgbClr val="8FA0B4"/>
                          </a:solidFill>
                          <a:latin typeface="Arial" pitchFamily="34" charset="0"/>
                          <a:ea typeface="Arial" pitchFamily="34" charset="-122"/>
                          <a:cs typeface="Arial" pitchFamily="34" charset="-120"/>
                        </a:rPr>
                        <a:t>749 neu</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r" indent="0" marL="0">
                        <a:buNone/>
                      </a:pPr>
                      <a:r>
                        <a:rPr lang="en-US" sz="1150" dirty="0">
                          <a:solidFill>
                            <a:srgbClr val="8FA0B4"/>
                          </a:solidFill>
                          <a:latin typeface="Arial" pitchFamily="34" charset="0"/>
                          <a:ea typeface="Arial" pitchFamily="34" charset="-122"/>
                          <a:cs typeface="Arial" pitchFamily="34" charset="-120"/>
                        </a:rPr>
                        <a:t>~20 %</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r>
              <a:tr h="384048">
                <a:tc>
                  <a:txBody>
                    <a:bodyPr/>
                    <a:lstStyle/>
                    <a:p>
                      <a:pPr algn="l" indent="0" marL="0">
                        <a:buNone/>
                      </a:pPr>
                      <a:r>
                        <a:rPr lang="en-US" sz="1150" dirty="0">
                          <a:solidFill>
                            <a:srgbClr val="EDF2F7"/>
                          </a:solidFill>
                          <a:latin typeface="Arial" pitchFamily="34" charset="0"/>
                          <a:ea typeface="Arial" pitchFamily="34" charset="-122"/>
                          <a:cs typeface="Arial" pitchFamily="34" charset="-120"/>
                        </a:rPr>
                        <a:t>iPhone 13, 128 GB · refurbished A</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r" indent="0" marL="0">
                        <a:buNone/>
                      </a:pPr>
                      <a:r>
                        <a:rPr lang="en-US" sz="1150" dirty="0">
                          <a:solidFill>
                            <a:srgbClr val="8FA0B4"/>
                          </a:solidFill>
                          <a:latin typeface="Arial" pitchFamily="34" charset="0"/>
                          <a:ea typeface="Arial" pitchFamily="34" charset="-122"/>
                          <a:cs typeface="Arial" pitchFamily="34" charset="-120"/>
                        </a:rPr>
                        <a:t>359</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r" indent="0" marL="0">
                        <a:buNone/>
                      </a:pPr>
                      <a:r>
                        <a:rPr lang="en-US" sz="1150" dirty="0">
                          <a:solidFill>
                            <a:srgbClr val="8FA0B4"/>
                          </a:solidFill>
                          <a:latin typeface="Arial" pitchFamily="34" charset="0"/>
                          <a:ea typeface="Arial" pitchFamily="34" charset="-122"/>
                          <a:cs typeface="Arial" pitchFamily="34" charset="-120"/>
                        </a:rPr>
                        <a:t>—</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c>
                  <a:txBody>
                    <a:bodyPr/>
                    <a:lstStyle/>
                    <a:p>
                      <a:pPr algn="r" indent="0" marL="0">
                        <a:buNone/>
                      </a:pPr>
                      <a:r>
                        <a:rPr lang="en-US" sz="1150" dirty="0">
                          <a:solidFill>
                            <a:srgbClr val="8FA0B4"/>
                          </a:solidFill>
                          <a:latin typeface="Arial" pitchFamily="34" charset="0"/>
                          <a:ea typeface="Arial" pitchFamily="34" charset="-122"/>
                          <a:cs typeface="Arial" pitchFamily="34" charset="-120"/>
                        </a:rPr>
                        <a:t>~22 %</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41B24"/>
                    </a:solidFill>
                  </a:tcPr>
                </a:tc>
              </a:tr>
              <a:tr h="384048">
                <a:tc>
                  <a:txBody>
                    <a:bodyPr/>
                    <a:lstStyle/>
                    <a:p>
                      <a:pPr algn="l" indent="0" marL="0">
                        <a:buNone/>
                      </a:pPr>
                      <a:r>
                        <a:rPr lang="en-US" sz="1150" b="1" dirty="0">
                          <a:solidFill>
                            <a:srgbClr val="F4647A"/>
                          </a:solidFill>
                          <a:latin typeface="Arial" pitchFamily="34" charset="0"/>
                          <a:ea typeface="Arial" pitchFamily="34" charset="-122"/>
                          <a:cs typeface="Arial" pitchFamily="34" charset="-120"/>
                        </a:rPr>
                        <a:t>Business-Notebook i5/16 GB · refurbished A</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B2330"/>
                    </a:solidFill>
                  </a:tcPr>
                </a:tc>
                <a:tc>
                  <a:txBody>
                    <a:bodyPr/>
                    <a:lstStyle/>
                    <a:p>
                      <a:pPr algn="r" indent="0" marL="0">
                        <a:buNone/>
                      </a:pPr>
                      <a:r>
                        <a:rPr lang="en-US" sz="1150" b="1" dirty="0">
                          <a:solidFill>
                            <a:srgbClr val="EDF2F7"/>
                          </a:solidFill>
                          <a:latin typeface="Arial" pitchFamily="34" charset="0"/>
                          <a:ea typeface="Arial" pitchFamily="34" charset="-122"/>
                          <a:cs typeface="Arial" pitchFamily="34" charset="-120"/>
                        </a:rPr>
                        <a:t>429</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B2330"/>
                    </a:solidFill>
                  </a:tcPr>
                </a:tc>
                <a:tc>
                  <a:txBody>
                    <a:bodyPr/>
                    <a:lstStyle/>
                    <a:p>
                      <a:pPr algn="r" indent="0" marL="0">
                        <a:buNone/>
                      </a:pPr>
                      <a:r>
                        <a:rPr lang="en-US" sz="1150" b="1" dirty="0">
                          <a:solidFill>
                            <a:srgbClr val="EDF2F7"/>
                          </a:solidFill>
                          <a:latin typeface="Arial" pitchFamily="34" charset="0"/>
                          <a:ea typeface="Arial" pitchFamily="34" charset="-122"/>
                          <a:cs typeface="Arial" pitchFamily="34" charset="-120"/>
                        </a:rPr>
                        <a:t>~1'100 neu</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B2330"/>
                    </a:solidFill>
                  </a:tcPr>
                </a:tc>
                <a:tc>
                  <a:txBody>
                    <a:bodyPr/>
                    <a:lstStyle/>
                    <a:p>
                      <a:pPr algn="r" indent="0" marL="0">
                        <a:buNone/>
                      </a:pPr>
                      <a:r>
                        <a:rPr lang="en-US" sz="1150" b="1" dirty="0">
                          <a:solidFill>
                            <a:srgbClr val="EDF2F7"/>
                          </a:solidFill>
                          <a:latin typeface="Arial" pitchFamily="34" charset="0"/>
                          <a:ea typeface="Arial" pitchFamily="34" charset="-122"/>
                          <a:cs typeface="Arial" pitchFamily="34" charset="-120"/>
                        </a:rPr>
                        <a:t>~25 %</a:t>
                      </a:r>
                      <a:endParaRPr lang="en-US" sz="1150" dirty="0">
                        <a:latin typeface="Arial" charset="0"/>
                        <a:ea typeface="Arial" charset="0"/>
                        <a:cs typeface="Arial" charset="0"/>
                      </a:endParaRPr>
                    </a:p>
                  </a:txBody>
                  <a:tcPr marL="82296" marR="82296" marT="82296" marB="82296" anchor="ctr">
                    <a:lnL w="9525" cap="flat" cmpd="sng" algn="ctr">
                      <a:solidFill>
                        <a:srgbClr val="243040"/>
                      </a:solidFill>
                      <a:prstDash val="solid"/>
                      <a:round/>
                      <a:headEnd type="none" w="med" len="med"/>
                      <a:tailEnd type="none" w="med" len="med"/>
                    </a:lnL>
                    <a:lnR w="9525" cap="flat" cmpd="sng" algn="ctr">
                      <a:solidFill>
                        <a:srgbClr val="243040"/>
                      </a:solidFill>
                      <a:prstDash val="solid"/>
                      <a:round/>
                      <a:headEnd type="none" w="med" len="med"/>
                      <a:tailEnd type="none" w="med" len="med"/>
                    </a:lnR>
                    <a:lnT w="9525" cap="flat" cmpd="sng" algn="ctr">
                      <a:solidFill>
                        <a:srgbClr val="243040"/>
                      </a:solidFill>
                      <a:prstDash val="solid"/>
                      <a:round/>
                      <a:headEnd type="none" w="med" len="med"/>
                      <a:tailEnd type="none" w="med" len="med"/>
                    </a:lnT>
                    <a:lnB w="9525" cap="flat" cmpd="sng" algn="ctr">
                      <a:solidFill>
                        <a:srgbClr val="243040"/>
                      </a:solidFill>
                      <a:prstDash val="solid"/>
                      <a:round/>
                      <a:headEnd type="none" w="med" len="med"/>
                      <a:tailEnd type="none" w="med" len="med"/>
                    </a:lnB>
                    <a:solidFill>
                      <a:srgbClr val="1B2330"/>
                    </a:solidFill>
                  </a:tcPr>
                </a:tc>
              </a:tr>
            </a:tbl>
          </a:graphicData>
        </a:graphic>
      </p:graphicFrame>
      <p:sp>
        <p:nvSpPr>
          <p:cNvPr id="7" name="Text 4"/>
          <p:cNvSpPr/>
          <p:nvPr/>
        </p:nvSpPr>
        <p:spPr>
          <a:xfrm>
            <a:off x="502920" y="5806440"/>
            <a:ext cx="10515600" cy="274320"/>
          </a:xfrm>
          <a:prstGeom prst="rect">
            <a:avLst/>
          </a:prstGeom>
          <a:noFill/>
          <a:ln/>
        </p:spPr>
        <p:txBody>
          <a:bodyPr wrap="square" lIns="0" tIns="0" rIns="0" bIns="0" rtlCol="0" anchor="ctr"/>
          <a:lstStyle/>
          <a:p>
            <a:pPr indent="0" marL="0">
              <a:buNone/>
            </a:pPr>
            <a:r>
              <a:rPr lang="en-US" sz="950" dirty="0">
                <a:solidFill>
                  <a:srgbClr val="5C6E82"/>
                </a:solidFill>
                <a:latin typeface="Arial" pitchFamily="34" charset="0"/>
                <a:ea typeface="Arial" pitchFamily="34" charset="-122"/>
                <a:cs typeface="Arial" pitchFamily="34" charset="-120"/>
              </a:rPr>
              <a:t>Alle Preise in CHF inkl. 8.1 % MWST. Vergleichspreise: Stand am Vortag, mit Screenshot belegt.</a:t>
            </a:r>
            <a:endParaRPr lang="en-US" sz="9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6" fill="hold">
                      <p:stCondLst>
                        <p:cond delay="indefinite"/>
                        <p:cond evt="onBegin" delay="0">
                          <p:tn val="2"/>
                        </p:cond>
                      </p:stCondLst>
                      <p:childTnLst>
                        <p:par>
                          <p:cTn id="15"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00"/>
                                        <p:tgtEl>
                                          <p:spTgt spid="15"/>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5" grpId="0"/>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15</a:t>
            </a:r>
            <a:endParaRPr lang="en-US" sz="850" dirty="0"/>
          </a:p>
        </p:txBody>
      </p:sp>
      <p:sp>
        <p:nvSpPr>
          <p:cNvPr id="4" name="chrome-reserve"/>
          <p:cNvSpPr/>
          <p:nvPr/>
        </p:nvSpPr>
        <p:spPr>
          <a:xfrm>
            <a:off x="8778240" y="384048"/>
            <a:ext cx="2926080" cy="274320"/>
          </a:xfrm>
          <a:prstGeom prst="rect">
            <a:avLst/>
          </a:prstGeom>
          <a:noFill/>
          <a:ln/>
        </p:spPr>
        <p:txBody>
          <a:bodyPr wrap="square" lIns="0" tIns="0" rIns="0" bIns="0" rtlCol="0" anchor="ctr"/>
          <a:lstStyle/>
          <a:p>
            <a:pPr algn="r" indent="0" marL="0">
              <a:buNone/>
            </a:pPr>
            <a:r>
              <a:rPr lang="en-US" sz="900" b="1" spc="200" kern="0" dirty="0">
                <a:solidFill>
                  <a:srgbClr val="5C6E82"/>
                </a:solidFill>
                <a:latin typeface="Arial" pitchFamily="34" charset="0"/>
                <a:ea typeface="Arial" pitchFamily="34" charset="-122"/>
                <a:cs typeface="Arial" pitchFamily="34" charset="-120"/>
              </a:rPr>
              <a:t>RESERVE · NUR BEI NACHFRAGE</a:t>
            </a:r>
            <a:endParaRPr lang="en-US" sz="900" dirty="0"/>
          </a:p>
        </p:txBody>
      </p:sp>
      <p:sp>
        <p:nvSpPr>
          <p:cNvPr id="5" name="Text 3"/>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F4647A"/>
                </a:solidFill>
                <a:latin typeface="Arial" pitchFamily="34" charset="0"/>
                <a:ea typeface="Arial" pitchFamily="34" charset="-122"/>
                <a:cs typeface="Arial" pitchFamily="34" charset="-120"/>
              </a:rPr>
              <a:t>07 · DIE KALKULATION</a:t>
            </a:r>
            <a:endParaRPr lang="en-US" sz="1050" dirty="0"/>
          </a:p>
        </p:txBody>
      </p:sp>
      <p:sp>
        <p:nvSpPr>
          <p:cNvPr id="6" name="Text 4"/>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Was an einem iPhone hängen bleibt</a:t>
            </a:r>
            <a:endParaRPr lang="en-US" sz="3000" dirty="0"/>
          </a:p>
        </p:txBody>
      </p:sp>
      <p:sp>
        <p:nvSpPr>
          <p:cNvPr id="7" name="Shape 5"/>
          <p:cNvSpPr/>
          <p:nvPr/>
        </p:nvSpPr>
        <p:spPr>
          <a:xfrm>
            <a:off x="502920" y="2103120"/>
            <a:ext cx="2672334" cy="1737360"/>
          </a:xfrm>
          <a:prstGeom prst="roundRect">
            <a:avLst>
              <a:gd name="adj" fmla="val 2632"/>
            </a:avLst>
          </a:prstGeom>
          <a:solidFill>
            <a:srgbClr val="141B24"/>
          </a:solidFill>
          <a:ln w="9525">
            <a:solidFill>
              <a:srgbClr val="243040"/>
            </a:solidFill>
            <a:prstDash val="solid"/>
          </a:ln>
        </p:spPr>
      </p:sp>
      <p:sp>
        <p:nvSpPr>
          <p:cNvPr id="8" name="Text 6"/>
          <p:cNvSpPr/>
          <p:nvPr/>
        </p:nvSpPr>
        <p:spPr>
          <a:xfrm>
            <a:off x="704088" y="2267712"/>
            <a:ext cx="548640" cy="274320"/>
          </a:xfrm>
          <a:prstGeom prst="rect">
            <a:avLst/>
          </a:prstGeom>
          <a:noFill/>
          <a:ln/>
        </p:spPr>
        <p:txBody>
          <a:bodyPr wrap="square" lIns="0" tIns="0" rIns="0" bIns="0" rtlCol="0" anchor="ctr"/>
          <a:lstStyle/>
          <a:p>
            <a:pPr indent="0" marL="0">
              <a:buNone/>
            </a:pPr>
            <a:r>
              <a:rPr lang="en-US" sz="1100" b="1" dirty="0">
                <a:solidFill>
                  <a:srgbClr val="F4647A"/>
                </a:solidFill>
                <a:latin typeface="Arial" pitchFamily="34" charset="0"/>
                <a:ea typeface="Arial" pitchFamily="34" charset="-122"/>
                <a:cs typeface="Arial" pitchFamily="34" charset="-120"/>
              </a:rPr>
              <a:t>1</a:t>
            </a:r>
            <a:endParaRPr lang="en-US" sz="1100" dirty="0"/>
          </a:p>
        </p:txBody>
      </p:sp>
      <p:sp>
        <p:nvSpPr>
          <p:cNvPr id="9" name="Text 7"/>
          <p:cNvSpPr/>
          <p:nvPr/>
        </p:nvSpPr>
        <p:spPr>
          <a:xfrm>
            <a:off x="704088" y="2560320"/>
            <a:ext cx="2269998" cy="365760"/>
          </a:xfrm>
          <a:prstGeom prst="rect">
            <a:avLst/>
          </a:prstGeom>
          <a:noFill/>
          <a:ln/>
        </p:spPr>
        <p:txBody>
          <a:bodyPr wrap="square" lIns="0" tIns="0" rIns="0" bIns="0" rtlCol="0" anchor="ctr"/>
          <a:lstStyle/>
          <a:p>
            <a:pPr indent="0" marL="0">
              <a:buNone/>
            </a:pPr>
            <a:r>
              <a:rPr lang="en-US" sz="1350" b="1" dirty="0">
                <a:solidFill>
                  <a:srgbClr val="EDF2F7"/>
                </a:solidFill>
                <a:latin typeface="Arial" pitchFamily="34" charset="0"/>
                <a:ea typeface="Arial" pitchFamily="34" charset="-122"/>
                <a:cs typeface="Arial" pitchFamily="34" charset="-120"/>
              </a:rPr>
              <a:t>Einkauf</a:t>
            </a:r>
            <a:endParaRPr lang="en-US" sz="1350" dirty="0"/>
          </a:p>
        </p:txBody>
      </p:sp>
      <p:sp>
        <p:nvSpPr>
          <p:cNvPr id="10" name="Text 8"/>
          <p:cNvSpPr/>
          <p:nvPr/>
        </p:nvSpPr>
        <p:spPr>
          <a:xfrm>
            <a:off x="704088" y="2944368"/>
            <a:ext cx="2269998" cy="731520"/>
          </a:xfrm>
          <a:prstGeom prst="rect">
            <a:avLst/>
          </a:prstGeom>
          <a:noFill/>
          <a:ln/>
        </p:spPr>
        <p:txBody>
          <a:bodyPr wrap="square" lIns="0" tIns="0" rIns="0" bIns="0" rtlCol="0" anchor="ctr"/>
          <a:lstStyle/>
          <a:p>
            <a:pPr indent="0" marL="0">
              <a:lnSpc>
                <a:spcPct val="115000"/>
              </a:lnSpc>
              <a:buNone/>
            </a:pPr>
            <a:r>
              <a:rPr lang="en-US" sz="1000" dirty="0">
                <a:solidFill>
                  <a:srgbClr val="8FA0B4"/>
                </a:solidFill>
                <a:latin typeface="Arial" pitchFamily="34" charset="0"/>
                <a:ea typeface="Arial" pitchFamily="34" charset="-122"/>
                <a:cs typeface="Arial" pitchFamily="34" charset="-120"/>
              </a:rPr>
              <a:t>CHF 745 beim Schweizer Grossisten</a:t>
            </a:r>
            <a:endParaRPr lang="en-US" sz="1000" dirty="0"/>
          </a:p>
        </p:txBody>
      </p:sp>
      <p:sp>
        <p:nvSpPr>
          <p:cNvPr id="11" name="Shape 9"/>
          <p:cNvSpPr/>
          <p:nvPr/>
        </p:nvSpPr>
        <p:spPr>
          <a:xfrm>
            <a:off x="3339846" y="2103120"/>
            <a:ext cx="2672334" cy="1737360"/>
          </a:xfrm>
          <a:prstGeom prst="roundRect">
            <a:avLst>
              <a:gd name="adj" fmla="val 2632"/>
            </a:avLst>
          </a:prstGeom>
          <a:solidFill>
            <a:srgbClr val="141B24"/>
          </a:solidFill>
          <a:ln w="9525">
            <a:solidFill>
              <a:srgbClr val="243040"/>
            </a:solidFill>
            <a:prstDash val="solid"/>
          </a:ln>
        </p:spPr>
      </p:sp>
      <p:sp>
        <p:nvSpPr>
          <p:cNvPr id="12" name="Text 10"/>
          <p:cNvSpPr/>
          <p:nvPr/>
        </p:nvSpPr>
        <p:spPr>
          <a:xfrm>
            <a:off x="3541014" y="2267712"/>
            <a:ext cx="548640" cy="274320"/>
          </a:xfrm>
          <a:prstGeom prst="rect">
            <a:avLst/>
          </a:prstGeom>
          <a:noFill/>
          <a:ln/>
        </p:spPr>
        <p:txBody>
          <a:bodyPr wrap="square" lIns="0" tIns="0" rIns="0" bIns="0" rtlCol="0" anchor="ctr"/>
          <a:lstStyle/>
          <a:p>
            <a:pPr indent="0" marL="0">
              <a:buNone/>
            </a:pPr>
            <a:r>
              <a:rPr lang="en-US" sz="1100" b="1" dirty="0">
                <a:solidFill>
                  <a:srgbClr val="F4647A"/>
                </a:solidFill>
                <a:latin typeface="Arial" pitchFamily="34" charset="0"/>
                <a:ea typeface="Arial" pitchFamily="34" charset="-122"/>
                <a:cs typeface="Arial" pitchFamily="34" charset="-120"/>
              </a:rPr>
              <a:t>2</a:t>
            </a:r>
            <a:endParaRPr lang="en-US" sz="1100" dirty="0"/>
          </a:p>
        </p:txBody>
      </p:sp>
      <p:sp>
        <p:nvSpPr>
          <p:cNvPr id="13" name="Text 11"/>
          <p:cNvSpPr/>
          <p:nvPr/>
        </p:nvSpPr>
        <p:spPr>
          <a:xfrm>
            <a:off x="3541014" y="2560320"/>
            <a:ext cx="2269998" cy="365760"/>
          </a:xfrm>
          <a:prstGeom prst="rect">
            <a:avLst/>
          </a:prstGeom>
          <a:noFill/>
          <a:ln/>
        </p:spPr>
        <p:txBody>
          <a:bodyPr wrap="square" lIns="0" tIns="0" rIns="0" bIns="0" rtlCol="0" anchor="ctr"/>
          <a:lstStyle/>
          <a:p>
            <a:pPr indent="0" marL="0">
              <a:buNone/>
            </a:pPr>
            <a:r>
              <a:rPr lang="en-US" sz="1350" b="1" dirty="0">
                <a:solidFill>
                  <a:srgbClr val="EDF2F7"/>
                </a:solidFill>
                <a:latin typeface="Arial" pitchFamily="34" charset="0"/>
                <a:ea typeface="Arial" pitchFamily="34" charset="-122"/>
                <a:cs typeface="Arial" pitchFamily="34" charset="-120"/>
              </a:rPr>
              <a:t>+ Kosten</a:t>
            </a:r>
            <a:endParaRPr lang="en-US" sz="1350" dirty="0"/>
          </a:p>
        </p:txBody>
      </p:sp>
      <p:sp>
        <p:nvSpPr>
          <p:cNvPr id="14" name="Text 12"/>
          <p:cNvSpPr/>
          <p:nvPr/>
        </p:nvSpPr>
        <p:spPr>
          <a:xfrm>
            <a:off x="3541014" y="2944368"/>
            <a:ext cx="2269998" cy="731520"/>
          </a:xfrm>
          <a:prstGeom prst="rect">
            <a:avLst/>
          </a:prstGeom>
          <a:noFill/>
          <a:ln/>
        </p:spPr>
        <p:txBody>
          <a:bodyPr wrap="square" lIns="0" tIns="0" rIns="0" bIns="0" rtlCol="0" anchor="ctr"/>
          <a:lstStyle/>
          <a:p>
            <a:pPr indent="0" marL="0">
              <a:lnSpc>
                <a:spcPct val="115000"/>
              </a:lnSpc>
              <a:buNone/>
            </a:pPr>
            <a:r>
              <a:rPr lang="en-US" sz="1000" dirty="0">
                <a:solidFill>
                  <a:srgbClr val="8FA0B4"/>
                </a:solidFill>
                <a:latin typeface="Arial" pitchFamily="34" charset="0"/>
                <a:ea typeface="Arial" pitchFamily="34" charset="-122"/>
                <a:cs typeface="Arial" pitchFamily="34" charset="-120"/>
              </a:rPr>
              <a:t>Zahlungsgebühr und Versand, CHF 27</a:t>
            </a:r>
            <a:endParaRPr lang="en-US" sz="1000" dirty="0"/>
          </a:p>
        </p:txBody>
      </p:sp>
      <p:sp>
        <p:nvSpPr>
          <p:cNvPr id="15" name="Shape 13"/>
          <p:cNvSpPr/>
          <p:nvPr/>
        </p:nvSpPr>
        <p:spPr>
          <a:xfrm>
            <a:off x="6176772" y="2103120"/>
            <a:ext cx="2672334" cy="1737360"/>
          </a:xfrm>
          <a:prstGeom prst="roundRect">
            <a:avLst>
              <a:gd name="adj" fmla="val 2632"/>
            </a:avLst>
          </a:prstGeom>
          <a:solidFill>
            <a:srgbClr val="141B24"/>
          </a:solidFill>
          <a:ln w="9525">
            <a:solidFill>
              <a:srgbClr val="243040"/>
            </a:solidFill>
            <a:prstDash val="solid"/>
          </a:ln>
        </p:spPr>
      </p:sp>
      <p:sp>
        <p:nvSpPr>
          <p:cNvPr id="16" name="Text 14"/>
          <p:cNvSpPr/>
          <p:nvPr/>
        </p:nvSpPr>
        <p:spPr>
          <a:xfrm>
            <a:off x="6377940" y="2267712"/>
            <a:ext cx="548640" cy="274320"/>
          </a:xfrm>
          <a:prstGeom prst="rect">
            <a:avLst/>
          </a:prstGeom>
          <a:noFill/>
          <a:ln/>
        </p:spPr>
        <p:txBody>
          <a:bodyPr wrap="square" lIns="0" tIns="0" rIns="0" bIns="0" rtlCol="0" anchor="ctr"/>
          <a:lstStyle/>
          <a:p>
            <a:pPr indent="0" marL="0">
              <a:buNone/>
            </a:pPr>
            <a:r>
              <a:rPr lang="en-US" sz="1100" b="1" dirty="0">
                <a:solidFill>
                  <a:srgbClr val="F4647A"/>
                </a:solidFill>
                <a:latin typeface="Arial" pitchFamily="34" charset="0"/>
                <a:ea typeface="Arial" pitchFamily="34" charset="-122"/>
                <a:cs typeface="Arial" pitchFamily="34" charset="-120"/>
              </a:rPr>
              <a:t>3</a:t>
            </a:r>
            <a:endParaRPr lang="en-US" sz="1100" dirty="0"/>
          </a:p>
        </p:txBody>
      </p:sp>
      <p:sp>
        <p:nvSpPr>
          <p:cNvPr id="17" name="Text 15"/>
          <p:cNvSpPr/>
          <p:nvPr/>
        </p:nvSpPr>
        <p:spPr>
          <a:xfrm>
            <a:off x="6377940" y="2560320"/>
            <a:ext cx="2269998" cy="365760"/>
          </a:xfrm>
          <a:prstGeom prst="rect">
            <a:avLst/>
          </a:prstGeom>
          <a:noFill/>
          <a:ln/>
        </p:spPr>
        <p:txBody>
          <a:bodyPr wrap="square" lIns="0" tIns="0" rIns="0" bIns="0" rtlCol="0" anchor="ctr"/>
          <a:lstStyle/>
          <a:p>
            <a:pPr indent="0" marL="0">
              <a:buNone/>
            </a:pPr>
            <a:r>
              <a:rPr lang="en-US" sz="1350" b="1" dirty="0">
                <a:solidFill>
                  <a:srgbClr val="EDF2F7"/>
                </a:solidFill>
                <a:latin typeface="Arial" pitchFamily="34" charset="0"/>
                <a:ea typeface="Arial" pitchFamily="34" charset="-122"/>
                <a:cs typeface="Arial" pitchFamily="34" charset="-120"/>
              </a:rPr>
              <a:t>+ Marge</a:t>
            </a:r>
            <a:endParaRPr lang="en-US" sz="1350" dirty="0"/>
          </a:p>
        </p:txBody>
      </p:sp>
      <p:sp>
        <p:nvSpPr>
          <p:cNvPr id="18" name="Text 16"/>
          <p:cNvSpPr/>
          <p:nvPr/>
        </p:nvSpPr>
        <p:spPr>
          <a:xfrm>
            <a:off x="6377940" y="2944368"/>
            <a:ext cx="2269998" cy="731520"/>
          </a:xfrm>
          <a:prstGeom prst="rect">
            <a:avLst/>
          </a:prstGeom>
          <a:noFill/>
          <a:ln/>
        </p:spPr>
        <p:txBody>
          <a:bodyPr wrap="square" lIns="0" tIns="0" rIns="0" bIns="0" rtlCol="0" anchor="ctr"/>
          <a:lstStyle/>
          <a:p>
            <a:pPr indent="0" marL="0">
              <a:lnSpc>
                <a:spcPct val="115000"/>
              </a:lnSpc>
              <a:buNone/>
            </a:pPr>
            <a:r>
              <a:rPr lang="en-US" sz="1000" dirty="0">
                <a:solidFill>
                  <a:srgbClr val="8FA0B4"/>
                </a:solidFill>
                <a:latin typeface="Arial" pitchFamily="34" charset="0"/>
                <a:ea typeface="Arial" pitchFamily="34" charset="-122"/>
                <a:cs typeface="Arial" pitchFamily="34" charset="-120"/>
              </a:rPr>
              <a:t>CHF 27 — gut 3 %</a:t>
            </a:r>
            <a:endParaRPr lang="en-US" sz="1000" dirty="0"/>
          </a:p>
        </p:txBody>
      </p:sp>
      <p:sp>
        <p:nvSpPr>
          <p:cNvPr id="19" name="Shape 17"/>
          <p:cNvSpPr/>
          <p:nvPr/>
        </p:nvSpPr>
        <p:spPr>
          <a:xfrm>
            <a:off x="9013698" y="2103120"/>
            <a:ext cx="2672334" cy="1737360"/>
          </a:xfrm>
          <a:prstGeom prst="roundRect">
            <a:avLst>
              <a:gd name="adj" fmla="val 2632"/>
            </a:avLst>
          </a:prstGeom>
          <a:solidFill>
            <a:srgbClr val="141B24"/>
          </a:solidFill>
          <a:ln w="9525">
            <a:solidFill>
              <a:srgbClr val="243040"/>
            </a:solidFill>
            <a:prstDash val="solid"/>
          </a:ln>
        </p:spPr>
      </p:sp>
      <p:sp>
        <p:nvSpPr>
          <p:cNvPr id="20" name="Text 18"/>
          <p:cNvSpPr/>
          <p:nvPr/>
        </p:nvSpPr>
        <p:spPr>
          <a:xfrm>
            <a:off x="9214866" y="2267712"/>
            <a:ext cx="548640" cy="274320"/>
          </a:xfrm>
          <a:prstGeom prst="rect">
            <a:avLst/>
          </a:prstGeom>
          <a:noFill/>
          <a:ln/>
        </p:spPr>
        <p:txBody>
          <a:bodyPr wrap="square" lIns="0" tIns="0" rIns="0" bIns="0" rtlCol="0" anchor="ctr"/>
          <a:lstStyle/>
          <a:p>
            <a:pPr indent="0" marL="0">
              <a:buNone/>
            </a:pPr>
            <a:r>
              <a:rPr lang="en-US" sz="1100" b="1" dirty="0">
                <a:solidFill>
                  <a:srgbClr val="F4647A"/>
                </a:solidFill>
                <a:latin typeface="Arial" pitchFamily="34" charset="0"/>
                <a:ea typeface="Arial" pitchFamily="34" charset="-122"/>
                <a:cs typeface="Arial" pitchFamily="34" charset="-120"/>
              </a:rPr>
              <a:t>4</a:t>
            </a:r>
            <a:endParaRPr lang="en-US" sz="1100" dirty="0"/>
          </a:p>
        </p:txBody>
      </p:sp>
      <p:sp>
        <p:nvSpPr>
          <p:cNvPr id="21" name="Text 19"/>
          <p:cNvSpPr/>
          <p:nvPr/>
        </p:nvSpPr>
        <p:spPr>
          <a:xfrm>
            <a:off x="9214866" y="2560320"/>
            <a:ext cx="2269998" cy="365760"/>
          </a:xfrm>
          <a:prstGeom prst="rect">
            <a:avLst/>
          </a:prstGeom>
          <a:noFill/>
          <a:ln/>
        </p:spPr>
        <p:txBody>
          <a:bodyPr wrap="square" lIns="0" tIns="0" rIns="0" bIns="0" rtlCol="0" anchor="ctr"/>
          <a:lstStyle/>
          <a:p>
            <a:pPr indent="0" marL="0">
              <a:buNone/>
            </a:pPr>
            <a:r>
              <a:rPr lang="en-US" sz="1350" b="1" dirty="0">
                <a:solidFill>
                  <a:srgbClr val="EDF2F7"/>
                </a:solidFill>
                <a:latin typeface="Arial" pitchFamily="34" charset="0"/>
                <a:ea typeface="Arial" pitchFamily="34" charset="-122"/>
                <a:cs typeface="Arial" pitchFamily="34" charset="-120"/>
              </a:rPr>
              <a:t>= Verkauf</a:t>
            </a:r>
            <a:endParaRPr lang="en-US" sz="1350" dirty="0"/>
          </a:p>
        </p:txBody>
      </p:sp>
      <p:sp>
        <p:nvSpPr>
          <p:cNvPr id="22" name="Text 20"/>
          <p:cNvSpPr/>
          <p:nvPr/>
        </p:nvSpPr>
        <p:spPr>
          <a:xfrm>
            <a:off x="9214866" y="2944368"/>
            <a:ext cx="2269998" cy="731520"/>
          </a:xfrm>
          <a:prstGeom prst="rect">
            <a:avLst/>
          </a:prstGeom>
          <a:noFill/>
          <a:ln/>
        </p:spPr>
        <p:txBody>
          <a:bodyPr wrap="square" lIns="0" tIns="0" rIns="0" bIns="0" rtlCol="0" anchor="ctr"/>
          <a:lstStyle/>
          <a:p>
            <a:pPr indent="0" marL="0">
              <a:lnSpc>
                <a:spcPct val="115000"/>
              </a:lnSpc>
              <a:buNone/>
            </a:pPr>
            <a:r>
              <a:rPr lang="en-US" sz="1000" dirty="0">
                <a:solidFill>
                  <a:srgbClr val="8FA0B4"/>
                </a:solidFill>
                <a:latin typeface="Arial" pitchFamily="34" charset="0"/>
                <a:ea typeface="Arial" pitchFamily="34" charset="-122"/>
                <a:cs typeface="Arial" pitchFamily="34" charset="-120"/>
              </a:rPr>
              <a:t>CHF 799 inkl. MWST</a:t>
            </a:r>
            <a:endParaRPr lang="en-US" sz="1000" dirty="0"/>
          </a:p>
        </p:txBody>
      </p:sp>
      <p:sp>
        <p:nvSpPr>
          <p:cNvPr id="23" name="Text 21"/>
          <p:cNvSpPr/>
          <p:nvPr/>
        </p:nvSpPr>
        <p:spPr>
          <a:xfrm>
            <a:off x="502920" y="4297680"/>
            <a:ext cx="10515600" cy="685800"/>
          </a:xfrm>
          <a:prstGeom prst="rect">
            <a:avLst/>
          </a:prstGeom>
          <a:noFill/>
          <a:ln/>
        </p:spPr>
        <p:txBody>
          <a:bodyPr wrap="square" lIns="0" tIns="0" rIns="0" bIns="0" rtlCol="0" anchor="ctr"/>
          <a:lstStyle/>
          <a:p>
            <a:pPr indent="0" marL="0">
              <a:lnSpc>
                <a:spcPct val="120000"/>
              </a:lnSpc>
              <a:buNone/>
            </a:pPr>
            <a:r>
              <a:rPr lang="en-US" sz="1350" dirty="0">
                <a:solidFill>
                  <a:srgbClr val="8FA0B4"/>
                </a:solidFill>
                <a:latin typeface="Arial" pitchFamily="34" charset="0"/>
                <a:ea typeface="Arial" pitchFamily="34" charset="-122"/>
                <a:cs typeface="Arial" pitchFamily="34" charset="-120"/>
              </a:rPr>
              <a:t>27 Franken an einem 800-Franken-Handy. Neuware bringt Kundschaft — leben kann man davon nicht.</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61" fill="hold">
                      <p:stCondLst>
                        <p:cond delay="indefinite"/>
                        <p:cond evt="onBegin" delay="0">
                          <p:tn val="2"/>
                        </p:cond>
                      </p:stCondLst>
                      <p:childTnLst>
                        <p:par>
                          <p:cTn id="60"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00"/>
                                        <p:tgtEl>
                                          <p:spTgt spid="11"/>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00"/>
                                        <p:tgtEl>
                                          <p:spTgt spid="12"/>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00"/>
                                        <p:tgtEl>
                                          <p:spTgt spid="13"/>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00"/>
                                        <p:tgtEl>
                                          <p:spTgt spid="14"/>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00"/>
                                        <p:tgtEl>
                                          <p:spTgt spid="15"/>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400"/>
                                        <p:tgtEl>
                                          <p:spTgt spid="16"/>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par>
                                <p:cTn id="45" presetID="10" presetClass="entr" presetSubtype="0" fill="hold" grpId="0" nodeType="afterEffect">
                                  <p:stCondLst>
                                    <p:cond delay="182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childTnLst>
                                </p:cTn>
                              </p:par>
                              <p:par>
                                <p:cTn id="48" presetID="10" presetClass="entr" presetSubtype="0" fill="hold" grpId="0" nodeType="afterEffect">
                                  <p:stCondLst>
                                    <p:cond delay="195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childTnLst>
                                </p:cTn>
                              </p:par>
                              <p:par>
                                <p:cTn id="51" presetID="10" presetClass="entr" presetSubtype="0" fill="hold" grpId="0" nodeType="afterEffect">
                                  <p:stCondLst>
                                    <p:cond delay="208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00"/>
                                        <p:tgtEl>
                                          <p:spTgt spid="21"/>
                                        </p:tgtEl>
                                      </p:cBhvr>
                                    </p:animEffect>
                                  </p:childTnLst>
                                </p:cTn>
                              </p:par>
                              <p:par>
                                <p:cTn id="54" presetID="10" presetClass="entr" presetSubtype="0" fill="hold" grpId="0" nodeType="afterEffect">
                                  <p:stCondLst>
                                    <p:cond delay="221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400"/>
                                        <p:tgtEl>
                                          <p:spTgt spid="22"/>
                                        </p:tgtEl>
                                      </p:cBhvr>
                                    </p:animEffect>
                                  </p:childTnLst>
                                </p:cTn>
                              </p:par>
                              <p:par>
                                <p:cTn id="57" presetID="10" presetClass="entr" presetSubtype="0" fill="hold" grpId="0" nodeType="afterEffect">
                                  <p:stCondLst>
                                    <p:cond delay="234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16</a:t>
            </a:r>
            <a:endParaRPr lang="en-US" sz="850" dirty="0"/>
          </a:p>
        </p:txBody>
      </p:sp>
      <p:sp>
        <p:nvSpPr>
          <p:cNvPr id="4" name="Text 2"/>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F4647A"/>
                </a:solidFill>
                <a:latin typeface="Arial" pitchFamily="34" charset="0"/>
                <a:ea typeface="Arial" pitchFamily="34" charset="-122"/>
                <a:cs typeface="Arial" pitchFamily="34" charset="-120"/>
              </a:rPr>
              <a:t>08 · DER HEBEL</a:t>
            </a:r>
            <a:endParaRPr lang="en-US" sz="1050" dirty="0"/>
          </a:p>
        </p:txBody>
      </p:sp>
      <p:sp>
        <p:nvSpPr>
          <p:cNvPr id="5" name="Text 3"/>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Das Geld liegt im zweiten Leben</a:t>
            </a:r>
            <a:endParaRPr lang="en-US" sz="3000" dirty="0"/>
          </a:p>
        </p:txBody>
      </p:sp>
      <p:sp>
        <p:nvSpPr>
          <p:cNvPr id="6" name="Shape 4"/>
          <p:cNvSpPr/>
          <p:nvPr/>
        </p:nvSpPr>
        <p:spPr>
          <a:xfrm>
            <a:off x="502920" y="1965960"/>
            <a:ext cx="3575304" cy="1691640"/>
          </a:xfrm>
          <a:prstGeom prst="roundRect">
            <a:avLst>
              <a:gd name="adj" fmla="val 2703"/>
            </a:avLst>
          </a:prstGeom>
          <a:solidFill>
            <a:srgbClr val="141B24"/>
          </a:solidFill>
          <a:ln w="9525">
            <a:solidFill>
              <a:srgbClr val="243040"/>
            </a:solidFill>
            <a:prstDash val="solid"/>
          </a:ln>
        </p:spPr>
      </p:sp>
      <p:sp>
        <p:nvSpPr>
          <p:cNvPr id="7" name="Text 5"/>
          <p:cNvSpPr/>
          <p:nvPr/>
        </p:nvSpPr>
        <p:spPr>
          <a:xfrm>
            <a:off x="777240" y="2194560"/>
            <a:ext cx="3026664" cy="777240"/>
          </a:xfrm>
          <a:prstGeom prst="rect">
            <a:avLst/>
          </a:prstGeom>
          <a:noFill/>
          <a:ln/>
        </p:spPr>
        <p:txBody>
          <a:bodyPr wrap="square" lIns="0" tIns="0" rIns="0" bIns="0" rtlCol="0" anchor="ctr"/>
          <a:lstStyle/>
          <a:p>
            <a:pPr indent="0" marL="0">
              <a:buNone/>
            </a:pPr>
            <a:r>
              <a:rPr lang="en-US" sz="3400" b="1" dirty="0">
                <a:solidFill>
                  <a:srgbClr val="F4647A"/>
                </a:solidFill>
                <a:latin typeface="Arial" pitchFamily="34" charset="0"/>
                <a:ea typeface="Arial" pitchFamily="34" charset="-122"/>
                <a:cs typeface="Arial" pitchFamily="34" charset="-120"/>
              </a:rPr>
              <a:t>CHF 300</a:t>
            </a:r>
            <a:endParaRPr lang="en-US" sz="3400" dirty="0"/>
          </a:p>
        </p:txBody>
      </p:sp>
      <p:sp>
        <p:nvSpPr>
          <p:cNvPr id="8" name="Text 6"/>
          <p:cNvSpPr/>
          <p:nvPr/>
        </p:nvSpPr>
        <p:spPr>
          <a:xfrm>
            <a:off x="777240" y="3063240"/>
            <a:ext cx="3026664" cy="548640"/>
          </a:xfrm>
          <a:prstGeom prst="rect">
            <a:avLst/>
          </a:prstGeom>
          <a:noFill/>
          <a:ln/>
        </p:spPr>
        <p:txBody>
          <a:bodyPr wrap="square" lIns="0" tIns="0" rIns="0" bIns="0" rtlCol="0" anchor="ctr"/>
          <a:lstStyle/>
          <a:p>
            <a:pPr indent="0" marL="0">
              <a:lnSpc>
                <a:spcPct val="125000"/>
              </a:lnSpc>
              <a:buNone/>
            </a:pPr>
            <a:r>
              <a:rPr lang="en-US" sz="900" spc="150" kern="0" dirty="0">
                <a:solidFill>
                  <a:srgbClr val="5C6E82"/>
                </a:solidFill>
                <a:latin typeface="Arial" pitchFamily="34" charset="0"/>
                <a:ea typeface="Arial" pitchFamily="34" charset="-122"/>
                <a:cs typeface="Arial" pitchFamily="34" charset="-120"/>
              </a:rPr>
              <a:t>SPART DER KUNDE BEIM IPHONE 14</a:t>
            </a:r>
            <a:endParaRPr lang="en-US" sz="900" dirty="0"/>
          </a:p>
        </p:txBody>
      </p:sp>
      <p:sp>
        <p:nvSpPr>
          <p:cNvPr id="9" name="Shape 7"/>
          <p:cNvSpPr/>
          <p:nvPr/>
        </p:nvSpPr>
        <p:spPr>
          <a:xfrm>
            <a:off x="4306824" y="1965960"/>
            <a:ext cx="3575304" cy="1691640"/>
          </a:xfrm>
          <a:prstGeom prst="roundRect">
            <a:avLst>
              <a:gd name="adj" fmla="val 2703"/>
            </a:avLst>
          </a:prstGeom>
          <a:solidFill>
            <a:srgbClr val="141B24"/>
          </a:solidFill>
          <a:ln w="9525">
            <a:solidFill>
              <a:srgbClr val="243040"/>
            </a:solidFill>
            <a:prstDash val="solid"/>
          </a:ln>
        </p:spPr>
      </p:sp>
      <p:sp>
        <p:nvSpPr>
          <p:cNvPr id="10" name="Text 8"/>
          <p:cNvSpPr/>
          <p:nvPr/>
        </p:nvSpPr>
        <p:spPr>
          <a:xfrm>
            <a:off x="4581144" y="2194560"/>
            <a:ext cx="3026664" cy="777240"/>
          </a:xfrm>
          <a:prstGeom prst="rect">
            <a:avLst/>
          </a:prstGeom>
          <a:noFill/>
          <a:ln/>
        </p:spPr>
        <p:txBody>
          <a:bodyPr wrap="square" lIns="0" tIns="0" rIns="0" bIns="0" rtlCol="0" anchor="ctr"/>
          <a:lstStyle/>
          <a:p>
            <a:pPr indent="0" marL="0">
              <a:buNone/>
            </a:pPr>
            <a:r>
              <a:rPr lang="en-US" sz="3400" b="1" dirty="0">
                <a:solidFill>
                  <a:srgbClr val="F4647A"/>
                </a:solidFill>
                <a:latin typeface="Arial" pitchFamily="34" charset="0"/>
                <a:ea typeface="Arial" pitchFamily="34" charset="-122"/>
                <a:cs typeface="Arial" pitchFamily="34" charset="-120"/>
              </a:rPr>
              <a:t>4 %</a:t>
            </a:r>
            <a:endParaRPr lang="en-US" sz="3400" dirty="0"/>
          </a:p>
        </p:txBody>
      </p:sp>
      <p:sp>
        <p:nvSpPr>
          <p:cNvPr id="11" name="Text 9"/>
          <p:cNvSpPr/>
          <p:nvPr/>
        </p:nvSpPr>
        <p:spPr>
          <a:xfrm>
            <a:off x="4581144" y="3063240"/>
            <a:ext cx="3026664" cy="548640"/>
          </a:xfrm>
          <a:prstGeom prst="rect">
            <a:avLst/>
          </a:prstGeom>
          <a:noFill/>
          <a:ln/>
        </p:spPr>
        <p:txBody>
          <a:bodyPr wrap="square" lIns="0" tIns="0" rIns="0" bIns="0" rtlCol="0" anchor="ctr"/>
          <a:lstStyle/>
          <a:p>
            <a:pPr indent="0" marL="0">
              <a:lnSpc>
                <a:spcPct val="125000"/>
              </a:lnSpc>
              <a:buNone/>
            </a:pPr>
            <a:r>
              <a:rPr lang="en-US" sz="900" spc="150" kern="0" dirty="0">
                <a:solidFill>
                  <a:srgbClr val="5C6E82"/>
                </a:solidFill>
                <a:latin typeface="Arial" pitchFamily="34" charset="0"/>
                <a:ea typeface="Arial" pitchFamily="34" charset="-122"/>
                <a:cs typeface="Arial" pitchFamily="34" charset="-120"/>
              </a:rPr>
              <a:t>MARGE BEI NEUWARE</a:t>
            </a:r>
            <a:endParaRPr lang="en-US" sz="900" dirty="0"/>
          </a:p>
        </p:txBody>
      </p:sp>
      <p:sp>
        <p:nvSpPr>
          <p:cNvPr id="12" name="Shape 10"/>
          <p:cNvSpPr/>
          <p:nvPr/>
        </p:nvSpPr>
        <p:spPr>
          <a:xfrm>
            <a:off x="8110728" y="1965960"/>
            <a:ext cx="3575304" cy="1691640"/>
          </a:xfrm>
          <a:prstGeom prst="roundRect">
            <a:avLst>
              <a:gd name="adj" fmla="val 2703"/>
            </a:avLst>
          </a:prstGeom>
          <a:solidFill>
            <a:srgbClr val="141B24"/>
          </a:solidFill>
          <a:ln w="9525">
            <a:solidFill>
              <a:srgbClr val="243040"/>
            </a:solidFill>
            <a:prstDash val="solid"/>
          </a:ln>
        </p:spPr>
      </p:sp>
      <p:sp>
        <p:nvSpPr>
          <p:cNvPr id="13" name="Text 11"/>
          <p:cNvSpPr/>
          <p:nvPr/>
        </p:nvSpPr>
        <p:spPr>
          <a:xfrm>
            <a:off x="8385048" y="2194560"/>
            <a:ext cx="3026664" cy="777240"/>
          </a:xfrm>
          <a:prstGeom prst="rect">
            <a:avLst/>
          </a:prstGeom>
          <a:noFill/>
          <a:ln/>
        </p:spPr>
        <p:txBody>
          <a:bodyPr wrap="square" lIns="0" tIns="0" rIns="0" bIns="0" rtlCol="0" anchor="ctr"/>
          <a:lstStyle/>
          <a:p>
            <a:pPr indent="0" marL="0">
              <a:buNone/>
            </a:pPr>
            <a:r>
              <a:rPr lang="en-US" sz="3400" b="1" dirty="0">
                <a:solidFill>
                  <a:srgbClr val="F4647A"/>
                </a:solidFill>
                <a:latin typeface="Arial" pitchFamily="34" charset="0"/>
                <a:ea typeface="Arial" pitchFamily="34" charset="-122"/>
                <a:cs typeface="Arial" pitchFamily="34" charset="-120"/>
              </a:rPr>
              <a:t>20 %+</a:t>
            </a:r>
            <a:endParaRPr lang="en-US" sz="3400" dirty="0"/>
          </a:p>
        </p:txBody>
      </p:sp>
      <p:sp>
        <p:nvSpPr>
          <p:cNvPr id="14" name="Text 12"/>
          <p:cNvSpPr/>
          <p:nvPr/>
        </p:nvSpPr>
        <p:spPr>
          <a:xfrm>
            <a:off x="8385048" y="3063240"/>
            <a:ext cx="3026664" cy="548640"/>
          </a:xfrm>
          <a:prstGeom prst="rect">
            <a:avLst/>
          </a:prstGeom>
          <a:noFill/>
          <a:ln/>
        </p:spPr>
        <p:txBody>
          <a:bodyPr wrap="square" lIns="0" tIns="0" rIns="0" bIns="0" rtlCol="0" anchor="ctr"/>
          <a:lstStyle/>
          <a:p>
            <a:pPr indent="0" marL="0">
              <a:lnSpc>
                <a:spcPct val="125000"/>
              </a:lnSpc>
              <a:buNone/>
            </a:pPr>
            <a:r>
              <a:rPr lang="en-US" sz="900" spc="150" kern="0" dirty="0">
                <a:solidFill>
                  <a:srgbClr val="5C6E82"/>
                </a:solidFill>
                <a:latin typeface="Arial" pitchFamily="34" charset="0"/>
                <a:ea typeface="Arial" pitchFamily="34" charset="-122"/>
                <a:cs typeface="Arial" pitchFamily="34" charset="-120"/>
              </a:rPr>
              <a:t>MARGE BEI REFURBISHED</a:t>
            </a:r>
            <a:endParaRPr lang="en-US" sz="900" dirty="0"/>
          </a:p>
        </p:txBody>
      </p:sp>
      <p:sp>
        <p:nvSpPr>
          <p:cNvPr id="15" name="Shape 13"/>
          <p:cNvSpPr/>
          <p:nvPr/>
        </p:nvSpPr>
        <p:spPr>
          <a:xfrm>
            <a:off x="548640" y="4206240"/>
            <a:ext cx="128016" cy="128016"/>
          </a:xfrm>
          <a:prstGeom prst="rect">
            <a:avLst/>
          </a:prstGeom>
          <a:solidFill>
            <a:srgbClr val="F4647A"/>
          </a:solidFill>
          <a:ln/>
        </p:spPr>
      </p:sp>
      <p:sp>
        <p:nvSpPr>
          <p:cNvPr id="16" name="Text 14"/>
          <p:cNvSpPr/>
          <p:nvPr/>
        </p:nvSpPr>
        <p:spPr>
          <a:xfrm>
            <a:off x="914400" y="4114800"/>
            <a:ext cx="10515600" cy="685800"/>
          </a:xfrm>
          <a:prstGeom prst="rect">
            <a:avLst/>
          </a:prstGeom>
          <a:noFill/>
          <a:ln/>
        </p:spPr>
        <p:txBody>
          <a:bodyPr wrap="square" lIns="0" tIns="0" rIns="0" bIns="0" rtlCol="0" anchor="t"/>
          <a:lstStyle/>
          <a:p>
            <a:pPr indent="0" marL="0">
              <a:lnSpc>
                <a:spcPct val="115000"/>
              </a:lnSpc>
              <a:buNone/>
            </a:pPr>
            <a:r>
              <a:rPr lang="en-US" sz="1400" b="1" dirty="0">
                <a:solidFill>
                  <a:srgbClr val="EDF2F7"/>
                </a:solidFill>
                <a:latin typeface="Arial" pitchFamily="34" charset="0"/>
                <a:ea typeface="Arial" pitchFamily="34" charset="-122"/>
                <a:cs typeface="Arial" pitchFamily="34" charset="-120"/>
              </a:rPr>
              <a:t>Neuware ist das Schaufenster — </a:t>
            </a:r>
            <a:pPr indent="0" marL="0">
              <a:lnSpc>
                <a:spcPct val="115000"/>
              </a:lnSpc>
              <a:buNone/>
            </a:pPr>
            <a:r>
              <a:rPr lang="en-US" sz="1300" dirty="0">
                <a:solidFill>
                  <a:srgbClr val="8FA0B4"/>
                </a:solidFill>
                <a:latin typeface="Arial" pitchFamily="34" charset="0"/>
                <a:ea typeface="Arial" pitchFamily="34" charset="-122"/>
                <a:cs typeface="Arial" pitchFamily="34" charset="-120"/>
              </a:rPr>
              <a:t>sie bringt die Kundschaft über den Preisvergleich.</a:t>
            </a:r>
            <a:endParaRPr lang="en-US" sz="1400" dirty="0"/>
          </a:p>
        </p:txBody>
      </p:sp>
      <p:sp>
        <p:nvSpPr>
          <p:cNvPr id="17" name="Shape 15"/>
          <p:cNvSpPr/>
          <p:nvPr/>
        </p:nvSpPr>
        <p:spPr>
          <a:xfrm>
            <a:off x="548640" y="4983480"/>
            <a:ext cx="128016" cy="128016"/>
          </a:xfrm>
          <a:prstGeom prst="rect">
            <a:avLst/>
          </a:prstGeom>
          <a:solidFill>
            <a:srgbClr val="F4647A"/>
          </a:solidFill>
          <a:ln/>
        </p:spPr>
      </p:sp>
      <p:sp>
        <p:nvSpPr>
          <p:cNvPr id="18" name="Text 16"/>
          <p:cNvSpPr/>
          <p:nvPr/>
        </p:nvSpPr>
        <p:spPr>
          <a:xfrm>
            <a:off x="914400" y="4892040"/>
            <a:ext cx="10515600" cy="685800"/>
          </a:xfrm>
          <a:prstGeom prst="rect">
            <a:avLst/>
          </a:prstGeom>
          <a:noFill/>
          <a:ln/>
        </p:spPr>
        <p:txBody>
          <a:bodyPr wrap="square" lIns="0" tIns="0" rIns="0" bIns="0" rtlCol="0" anchor="t"/>
          <a:lstStyle/>
          <a:p>
            <a:pPr indent="0" marL="0">
              <a:lnSpc>
                <a:spcPct val="115000"/>
              </a:lnSpc>
              <a:buNone/>
            </a:pPr>
            <a:r>
              <a:rPr lang="en-US" sz="1400" b="1" dirty="0">
                <a:solidFill>
                  <a:srgbClr val="EDF2F7"/>
                </a:solidFill>
                <a:latin typeface="Arial" pitchFamily="34" charset="0"/>
                <a:ea typeface="Arial" pitchFamily="34" charset="-122"/>
                <a:cs typeface="Arial" pitchFamily="34" charset="-120"/>
              </a:rPr>
              <a:t>Refurbished ist das Geschäft — </a:t>
            </a:r>
            <a:pPr indent="0" marL="0">
              <a:lnSpc>
                <a:spcPct val="115000"/>
              </a:lnSpc>
              <a:buNone/>
            </a:pPr>
            <a:r>
              <a:rPr lang="en-US" sz="1300" dirty="0">
                <a:solidFill>
                  <a:srgbClr val="8FA0B4"/>
                </a:solidFill>
                <a:latin typeface="Arial" pitchFamily="34" charset="0"/>
                <a:ea typeface="Arial" pitchFamily="34" charset="-122"/>
                <a:cs typeface="Arial" pitchFamily="34" charset="-120"/>
              </a:rPr>
              <a:t>geprüft, Grad A, mit Garantie. Hier bleibt die Marge.</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49" fill="hold">
                      <p:stCondLst>
                        <p:cond delay="indefinite"/>
                        <p:cond evt="onBegin" delay="0">
                          <p:tn val="2"/>
                        </p:cond>
                      </p:stCondLst>
                      <p:childTnLst>
                        <p:par>
                          <p:cTn id="48"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00"/>
                                        <p:tgtEl>
                                          <p:spTgt spid="8"/>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00"/>
                                        <p:tgtEl>
                                          <p:spTgt spid="9"/>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00"/>
                                        <p:tgtEl>
                                          <p:spTgt spid="10"/>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00"/>
                                        <p:tgtEl>
                                          <p:spTgt spid="11"/>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00"/>
                                        <p:tgtEl>
                                          <p:spTgt spid="12"/>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00"/>
                                        <p:tgtEl>
                                          <p:spTgt spid="13"/>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00"/>
                                        <p:tgtEl>
                                          <p:spTgt spid="14"/>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00"/>
                                        <p:tgtEl>
                                          <p:spTgt spid="15"/>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00"/>
                                        <p:tgtEl>
                                          <p:spTgt spid="16"/>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00"/>
                                        <p:tgtEl>
                                          <p:spTgt spid="17"/>
                                        </p:tgtEl>
                                      </p:cBhvr>
                                    </p:animEffect>
                                  </p:childTnLst>
                                </p:cTn>
                              </p:par>
                              <p:par>
                                <p:cTn id="45" presetID="10" presetClass="entr" presetSubtype="0" fill="hold" grpId="0" nodeType="afterEffect">
                                  <p:stCondLst>
                                    <p:cond delay="182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17</a:t>
            </a:r>
            <a:endParaRPr lang="en-US" sz="850" dirty="0"/>
          </a:p>
        </p:txBody>
      </p:sp>
      <p:sp>
        <p:nvSpPr>
          <p:cNvPr id="4" name="Text 2"/>
          <p:cNvSpPr/>
          <p:nvPr/>
        </p:nvSpPr>
        <p:spPr>
          <a:xfrm>
            <a:off x="1527048" y="1965960"/>
            <a:ext cx="9144000" cy="320040"/>
          </a:xfrm>
          <a:prstGeom prst="rect">
            <a:avLst/>
          </a:prstGeom>
          <a:noFill/>
          <a:ln/>
        </p:spPr>
        <p:txBody>
          <a:bodyPr wrap="square" lIns="0" tIns="0" rIns="0" bIns="0" rtlCol="0" anchor="ctr"/>
          <a:lstStyle/>
          <a:p>
            <a:pPr algn="ctr" indent="0" marL="0">
              <a:buNone/>
            </a:pPr>
            <a:r>
              <a:rPr lang="en-US" sz="1200" b="1" spc="500" kern="0" dirty="0">
                <a:solidFill>
                  <a:srgbClr val="5C6E82"/>
                </a:solidFill>
                <a:latin typeface="Arial" pitchFamily="34" charset="0"/>
                <a:ea typeface="Arial" pitchFamily="34" charset="-122"/>
                <a:cs typeface="Arial" pitchFamily="34" charset="-120"/>
              </a:rPr>
              <a:t>TEIL 4 VON 5</a:t>
            </a:r>
            <a:endParaRPr lang="en-US" sz="1200" dirty="0"/>
          </a:p>
        </p:txBody>
      </p:sp>
      <p:sp>
        <p:nvSpPr>
          <p:cNvPr id="5" name="Text 3"/>
          <p:cNvSpPr/>
          <p:nvPr/>
        </p:nvSpPr>
        <p:spPr>
          <a:xfrm>
            <a:off x="612648" y="2331720"/>
            <a:ext cx="10972800" cy="1737360"/>
          </a:xfrm>
          <a:prstGeom prst="rect">
            <a:avLst/>
          </a:prstGeom>
          <a:noFill/>
          <a:ln/>
        </p:spPr>
        <p:txBody>
          <a:bodyPr wrap="square" lIns="0" tIns="0" rIns="0" bIns="0" rtlCol="0" anchor="ctr"/>
          <a:lstStyle/>
          <a:p>
            <a:pPr algn="ctr" indent="0" marL="0">
              <a:buNone/>
            </a:pPr>
            <a:r>
              <a:rPr lang="en-US" sz="8400" b="1" dirty="0">
                <a:solidFill>
                  <a:srgbClr val="6699FF"/>
                </a:solidFill>
                <a:latin typeface="Arial" pitchFamily="34" charset="0"/>
                <a:ea typeface="Arial" pitchFamily="34" charset="-122"/>
                <a:cs typeface="Arial" pitchFamily="34" charset="-120"/>
              </a:rPr>
              <a:t>Samed</a:t>
            </a:r>
            <a:endParaRPr lang="en-US" sz="8400" dirty="0"/>
          </a:p>
        </p:txBody>
      </p:sp>
      <p:sp>
        <p:nvSpPr>
          <p:cNvPr id="6" name="Text 4"/>
          <p:cNvSpPr/>
          <p:nvPr/>
        </p:nvSpPr>
        <p:spPr>
          <a:xfrm>
            <a:off x="1527048" y="4206240"/>
            <a:ext cx="9144000" cy="502920"/>
          </a:xfrm>
          <a:prstGeom prst="rect">
            <a:avLst/>
          </a:prstGeom>
          <a:noFill/>
          <a:ln/>
        </p:spPr>
        <p:txBody>
          <a:bodyPr wrap="square" lIns="0" tIns="0" rIns="0" bIns="0" rtlCol="0" anchor="ctr"/>
          <a:lstStyle/>
          <a:p>
            <a:pPr algn="ctr" indent="0" marL="0">
              <a:buNone/>
            </a:pPr>
            <a:r>
              <a:rPr lang="en-US" sz="1900" dirty="0">
                <a:solidFill>
                  <a:srgbClr val="8FA0B4"/>
                </a:solidFill>
                <a:latin typeface="Arial" pitchFamily="34" charset="0"/>
                <a:ea typeface="Arial" pitchFamily="34" charset="-122"/>
                <a:cs typeface="Arial" pitchFamily="34" charset="-120"/>
              </a:rPr>
              <a:t>Shopify und Abwicklung</a:t>
            </a:r>
            <a:endParaRPr lang="en-US" sz="1900" dirty="0"/>
          </a:p>
        </p:txBody>
      </p:sp>
      <p:sp>
        <p:nvSpPr>
          <p:cNvPr id="7" name="Text 5"/>
          <p:cNvSpPr/>
          <p:nvPr/>
        </p:nvSpPr>
        <p:spPr>
          <a:xfrm>
            <a:off x="1527048" y="4846320"/>
            <a:ext cx="9144000" cy="320040"/>
          </a:xfrm>
          <a:prstGeom prst="rect">
            <a:avLst/>
          </a:prstGeom>
          <a:noFill/>
          <a:ln/>
        </p:spPr>
        <p:txBody>
          <a:bodyPr wrap="square" lIns="0" tIns="0" rIns="0" bIns="0" rtlCol="0" anchor="ctr"/>
          <a:lstStyle/>
          <a:p>
            <a:pPr algn="ctr" indent="0" marL="0">
              <a:buNone/>
            </a:pPr>
            <a:r>
              <a:rPr lang="en-US" sz="1100" b="1" spc="300" kern="0" dirty="0">
                <a:solidFill>
                  <a:srgbClr val="5C6E82"/>
                </a:solidFill>
                <a:latin typeface="Arial" pitchFamily="34" charset="0"/>
                <a:ea typeface="Arial" pitchFamily="34" charset="-122"/>
                <a:cs typeface="Arial" pitchFamily="34" charset="-120"/>
              </a:rPr>
              <a:t>1–2 MINUTEN</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6" fill="hold">
                      <p:stCondLst>
                        <p:cond delay="indefinite"/>
                        <p:cond evt="onBegin" delay="0">
                          <p:tn val="2"/>
                        </p:cond>
                      </p:stCondLst>
                      <p:childTnLst>
                        <p:par>
                          <p:cTn id="15"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18</a:t>
            </a:r>
            <a:endParaRPr lang="en-US" sz="850" dirty="0"/>
          </a:p>
        </p:txBody>
      </p:sp>
      <p:sp>
        <p:nvSpPr>
          <p:cNvPr id="4" name="Text 2"/>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6699FF"/>
                </a:solidFill>
                <a:latin typeface="Arial" pitchFamily="34" charset="0"/>
                <a:ea typeface="Arial" pitchFamily="34" charset="-122"/>
                <a:cs typeface="Arial" pitchFamily="34" charset="-120"/>
              </a:rPr>
              <a:t>09 · DIE TECHNIK</a:t>
            </a:r>
            <a:endParaRPr lang="en-US" sz="1050" dirty="0"/>
          </a:p>
        </p:txBody>
      </p:sp>
      <p:sp>
        <p:nvSpPr>
          <p:cNvPr id="5" name="Text 3"/>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Warum Shopify</a:t>
            </a:r>
            <a:endParaRPr lang="en-US" sz="3000" dirty="0"/>
          </a:p>
        </p:txBody>
      </p:sp>
      <p:sp>
        <p:nvSpPr>
          <p:cNvPr id="6" name="Shape 4"/>
          <p:cNvSpPr/>
          <p:nvPr/>
        </p:nvSpPr>
        <p:spPr>
          <a:xfrm>
            <a:off x="548640" y="2194560"/>
            <a:ext cx="128016" cy="128016"/>
          </a:xfrm>
          <a:prstGeom prst="rect">
            <a:avLst/>
          </a:prstGeom>
          <a:solidFill>
            <a:srgbClr val="6699FF"/>
          </a:solidFill>
          <a:ln/>
        </p:spPr>
      </p:sp>
      <p:sp>
        <p:nvSpPr>
          <p:cNvPr id="7" name="Text 5"/>
          <p:cNvSpPr/>
          <p:nvPr/>
        </p:nvSpPr>
        <p:spPr>
          <a:xfrm>
            <a:off x="914400" y="2103120"/>
            <a:ext cx="10515600" cy="914400"/>
          </a:xfrm>
          <a:prstGeom prst="rect">
            <a:avLst/>
          </a:prstGeom>
          <a:noFill/>
          <a:ln/>
        </p:spPr>
        <p:txBody>
          <a:bodyPr wrap="square" lIns="0" tIns="0" rIns="0" bIns="0" rtlCol="0" anchor="t"/>
          <a:lstStyle/>
          <a:p>
            <a:pPr indent="0" marL="0">
              <a:lnSpc>
                <a:spcPct val="115000"/>
              </a:lnSpc>
              <a:buNone/>
            </a:pPr>
            <a:r>
              <a:rPr lang="en-US" sz="1400" b="1" dirty="0">
                <a:solidFill>
                  <a:srgbClr val="EDF2F7"/>
                </a:solidFill>
                <a:latin typeface="Arial" pitchFamily="34" charset="0"/>
                <a:ea typeface="Arial" pitchFamily="34" charset="-122"/>
                <a:cs typeface="Arial" pitchFamily="34" charset="-120"/>
              </a:rPr>
              <a:t>Zahlung ist gelöst. </a:t>
            </a:r>
            <a:pPr indent="0" marL="0">
              <a:lnSpc>
                <a:spcPct val="115000"/>
              </a:lnSpc>
              <a:buNone/>
            </a:pPr>
            <a:r>
              <a:rPr lang="en-US" sz="1300" dirty="0">
                <a:solidFill>
                  <a:srgbClr val="8FA0B4"/>
                </a:solidFill>
                <a:latin typeface="Arial" pitchFamily="34" charset="0"/>
                <a:ea typeface="Arial" pitchFamily="34" charset="-122"/>
                <a:cs typeface="Arial" pitchFamily="34" charset="-120"/>
              </a:rPr>
              <a:t>TWINT und Karte — ohne eine Zeile Code.</a:t>
            </a:r>
            <a:endParaRPr lang="en-US" sz="1400" dirty="0"/>
          </a:p>
        </p:txBody>
      </p:sp>
      <p:sp>
        <p:nvSpPr>
          <p:cNvPr id="8" name="Shape 6"/>
          <p:cNvSpPr/>
          <p:nvPr/>
        </p:nvSpPr>
        <p:spPr>
          <a:xfrm>
            <a:off x="548640" y="3200400"/>
            <a:ext cx="128016" cy="128016"/>
          </a:xfrm>
          <a:prstGeom prst="rect">
            <a:avLst/>
          </a:prstGeom>
          <a:solidFill>
            <a:srgbClr val="6699FF"/>
          </a:solidFill>
          <a:ln/>
        </p:spPr>
      </p:sp>
      <p:sp>
        <p:nvSpPr>
          <p:cNvPr id="9" name="Text 7"/>
          <p:cNvSpPr/>
          <p:nvPr/>
        </p:nvSpPr>
        <p:spPr>
          <a:xfrm>
            <a:off x="914400" y="3108960"/>
            <a:ext cx="10515600" cy="914400"/>
          </a:xfrm>
          <a:prstGeom prst="rect">
            <a:avLst/>
          </a:prstGeom>
          <a:noFill/>
          <a:ln/>
        </p:spPr>
        <p:txBody>
          <a:bodyPr wrap="square" lIns="0" tIns="0" rIns="0" bIns="0" rtlCol="0" anchor="t"/>
          <a:lstStyle/>
          <a:p>
            <a:pPr indent="0" marL="0">
              <a:lnSpc>
                <a:spcPct val="115000"/>
              </a:lnSpc>
              <a:buNone/>
            </a:pPr>
            <a:r>
              <a:rPr lang="en-US" sz="1400" b="1" dirty="0">
                <a:solidFill>
                  <a:srgbClr val="EDF2F7"/>
                </a:solidFill>
                <a:latin typeface="Arial" pitchFamily="34" charset="0"/>
                <a:ea typeface="Arial" pitchFamily="34" charset="-122"/>
                <a:cs typeface="Arial" pitchFamily="34" charset="-120"/>
              </a:rPr>
              <a:t>Lager, Bestellungen, Versandetiketten </a:t>
            </a:r>
            <a:pPr indent="0" marL="0">
              <a:lnSpc>
                <a:spcPct val="115000"/>
              </a:lnSpc>
              <a:buNone/>
            </a:pPr>
            <a:r>
              <a:rPr lang="en-US" sz="1300" dirty="0">
                <a:solidFill>
                  <a:srgbClr val="8FA0B4"/>
                </a:solidFill>
                <a:latin typeface="Arial" pitchFamily="34" charset="0"/>
                <a:ea typeface="Arial" pitchFamily="34" charset="-122"/>
                <a:cs typeface="Arial" pitchFamily="34" charset="-120"/>
              </a:rPr>
              <a:t>sind eingebaut. Wir bauen nichts davon selber.</a:t>
            </a:r>
            <a:endParaRPr lang="en-US" sz="1400" dirty="0"/>
          </a:p>
        </p:txBody>
      </p:sp>
      <p:sp>
        <p:nvSpPr>
          <p:cNvPr id="10" name="Shape 8"/>
          <p:cNvSpPr/>
          <p:nvPr/>
        </p:nvSpPr>
        <p:spPr>
          <a:xfrm>
            <a:off x="548640" y="4206240"/>
            <a:ext cx="128016" cy="128016"/>
          </a:xfrm>
          <a:prstGeom prst="rect">
            <a:avLst/>
          </a:prstGeom>
          <a:solidFill>
            <a:srgbClr val="6699FF"/>
          </a:solidFill>
          <a:ln/>
        </p:spPr>
      </p:sp>
      <p:sp>
        <p:nvSpPr>
          <p:cNvPr id="11" name="Text 9"/>
          <p:cNvSpPr/>
          <p:nvPr/>
        </p:nvSpPr>
        <p:spPr>
          <a:xfrm>
            <a:off x="914400" y="4114800"/>
            <a:ext cx="10515600" cy="914400"/>
          </a:xfrm>
          <a:prstGeom prst="rect">
            <a:avLst/>
          </a:prstGeom>
          <a:noFill/>
          <a:ln/>
        </p:spPr>
        <p:txBody>
          <a:bodyPr wrap="square" lIns="0" tIns="0" rIns="0" bIns="0" rtlCol="0" anchor="t"/>
          <a:lstStyle/>
          <a:p>
            <a:pPr indent="0" marL="0">
              <a:lnSpc>
                <a:spcPct val="115000"/>
              </a:lnSpc>
              <a:buNone/>
            </a:pPr>
            <a:r>
              <a:rPr lang="en-US" sz="1400" b="1" dirty="0">
                <a:solidFill>
                  <a:srgbClr val="EDF2F7"/>
                </a:solidFill>
                <a:latin typeface="Arial" pitchFamily="34" charset="0"/>
                <a:ea typeface="Arial" pitchFamily="34" charset="-122"/>
                <a:cs typeface="Arial" pitchFamily="34" charset="-120"/>
              </a:rPr>
              <a:t>Kosten: </a:t>
            </a:r>
            <a:pPr indent="0" marL="0">
              <a:lnSpc>
                <a:spcPct val="115000"/>
              </a:lnSpc>
              <a:buNone/>
            </a:pPr>
            <a:r>
              <a:rPr lang="en-US" sz="1300" dirty="0">
                <a:solidFill>
                  <a:srgbClr val="8FA0B4"/>
                </a:solidFill>
                <a:latin typeface="Arial" pitchFamily="34" charset="0"/>
                <a:ea typeface="Arial" pitchFamily="34" charset="-122"/>
                <a:cs typeface="Arial" pitchFamily="34" charset="-120"/>
              </a:rPr>
              <a:t>die ersten drei Monate CHF 1 im Monat, danach rund CHF 36.</a:t>
            </a:r>
            <a:endParaRPr lang="en-US" sz="1400" dirty="0"/>
          </a:p>
        </p:txBody>
      </p:sp>
      <p:sp>
        <p:nvSpPr>
          <p:cNvPr id="12" name="Shape 10"/>
          <p:cNvSpPr/>
          <p:nvPr/>
        </p:nvSpPr>
        <p:spPr>
          <a:xfrm>
            <a:off x="548640" y="5212080"/>
            <a:ext cx="128016" cy="128016"/>
          </a:xfrm>
          <a:prstGeom prst="rect">
            <a:avLst/>
          </a:prstGeom>
          <a:solidFill>
            <a:srgbClr val="6699FF"/>
          </a:solidFill>
          <a:ln/>
        </p:spPr>
      </p:sp>
      <p:sp>
        <p:nvSpPr>
          <p:cNvPr id="13" name="Text 11"/>
          <p:cNvSpPr/>
          <p:nvPr/>
        </p:nvSpPr>
        <p:spPr>
          <a:xfrm>
            <a:off x="914400" y="5120640"/>
            <a:ext cx="10515600" cy="914400"/>
          </a:xfrm>
          <a:prstGeom prst="rect">
            <a:avLst/>
          </a:prstGeom>
          <a:noFill/>
          <a:ln/>
        </p:spPr>
        <p:txBody>
          <a:bodyPr wrap="square" lIns="0" tIns="0" rIns="0" bIns="0" rtlCol="0" anchor="t"/>
          <a:lstStyle/>
          <a:p>
            <a:pPr indent="0" marL="0">
              <a:lnSpc>
                <a:spcPct val="115000"/>
              </a:lnSpc>
              <a:buNone/>
            </a:pPr>
            <a:r>
              <a:rPr lang="en-US" sz="1400" b="1" dirty="0">
                <a:solidFill>
                  <a:srgbClr val="EDF2F7"/>
                </a:solidFill>
                <a:latin typeface="Arial" pitchFamily="34" charset="0"/>
                <a:ea typeface="Arial" pitchFamily="34" charset="-122"/>
                <a:cs typeface="Arial" pitchFamily="34" charset="-120"/>
              </a:rPr>
              <a:t>Ein Shop ist kein Programmierprojekt — </a:t>
            </a:r>
            <a:pPr indent="0" marL="0">
              <a:lnSpc>
                <a:spcPct val="115000"/>
              </a:lnSpc>
              <a:buNone/>
            </a:pPr>
            <a:r>
              <a:rPr lang="en-US" sz="1300" dirty="0">
                <a:solidFill>
                  <a:srgbClr val="8FA0B4"/>
                </a:solidFill>
                <a:latin typeface="Arial" pitchFamily="34" charset="0"/>
                <a:ea typeface="Arial" pitchFamily="34" charset="-122"/>
                <a:cs typeface="Arial" pitchFamily="34" charset="-120"/>
              </a:rPr>
              <a:t>er ist ein Verkaufsprojekt. Darum bauen wir ihn nicht selber.</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4" fill="hold">
                      <p:stCondLst>
                        <p:cond delay="indefinite"/>
                        <p:cond evt="onBegin" delay="0">
                          <p:tn val="2"/>
                        </p:cond>
                      </p:stCondLst>
                      <p:childTnLst>
                        <p:par>
                          <p:cTn id="33"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00"/>
                                        <p:tgtEl>
                                          <p:spTgt spid="8"/>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00"/>
                                        <p:tgtEl>
                                          <p:spTgt spid="9"/>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00"/>
                                        <p:tgtEl>
                                          <p:spTgt spid="10"/>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00"/>
                                        <p:tgtEl>
                                          <p:spTgt spid="11"/>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00"/>
                                        <p:tgtEl>
                                          <p:spTgt spid="12"/>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19</a:t>
            </a:r>
            <a:endParaRPr lang="en-US" sz="850" dirty="0"/>
          </a:p>
        </p:txBody>
      </p:sp>
      <p:sp>
        <p:nvSpPr>
          <p:cNvPr id="4" name="chrome-reserve"/>
          <p:cNvSpPr/>
          <p:nvPr/>
        </p:nvSpPr>
        <p:spPr>
          <a:xfrm>
            <a:off x="8778240" y="384048"/>
            <a:ext cx="2926080" cy="274320"/>
          </a:xfrm>
          <a:prstGeom prst="rect">
            <a:avLst/>
          </a:prstGeom>
          <a:noFill/>
          <a:ln/>
        </p:spPr>
        <p:txBody>
          <a:bodyPr wrap="square" lIns="0" tIns="0" rIns="0" bIns="0" rtlCol="0" anchor="ctr"/>
          <a:lstStyle/>
          <a:p>
            <a:pPr algn="r" indent="0" marL="0">
              <a:buNone/>
            </a:pPr>
            <a:r>
              <a:rPr lang="en-US" sz="900" b="1" spc="200" kern="0" dirty="0">
                <a:solidFill>
                  <a:srgbClr val="5C6E82"/>
                </a:solidFill>
                <a:latin typeface="Arial" pitchFamily="34" charset="0"/>
                <a:ea typeface="Arial" pitchFamily="34" charset="-122"/>
                <a:cs typeface="Arial" pitchFamily="34" charset="-120"/>
              </a:rPr>
              <a:t>RESERVE · NUR BEI NACHFRAGE</a:t>
            </a:r>
            <a:endParaRPr lang="en-US" sz="900" dirty="0"/>
          </a:p>
        </p:txBody>
      </p:sp>
      <p:sp>
        <p:nvSpPr>
          <p:cNvPr id="5" name="Text 3"/>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6699FF"/>
                </a:solidFill>
                <a:latin typeface="Arial" pitchFamily="34" charset="0"/>
                <a:ea typeface="Arial" pitchFamily="34" charset="-122"/>
                <a:cs typeface="Arial" pitchFamily="34" charset="-120"/>
              </a:rPr>
              <a:t>10 · SELBER MACHEN</a:t>
            </a:r>
            <a:endParaRPr lang="en-US" sz="1050" dirty="0"/>
          </a:p>
        </p:txBody>
      </p:sp>
      <p:sp>
        <p:nvSpPr>
          <p:cNvPr id="6" name="Text 4"/>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In fünf Schritten zum eigenen Shop</a:t>
            </a:r>
            <a:endParaRPr lang="en-US" sz="3000" dirty="0"/>
          </a:p>
        </p:txBody>
      </p:sp>
      <p:sp>
        <p:nvSpPr>
          <p:cNvPr id="7" name="Shape 5"/>
          <p:cNvSpPr/>
          <p:nvPr/>
        </p:nvSpPr>
        <p:spPr>
          <a:xfrm>
            <a:off x="502920" y="2103120"/>
            <a:ext cx="2104949" cy="1828800"/>
          </a:xfrm>
          <a:prstGeom prst="roundRect">
            <a:avLst>
              <a:gd name="adj" fmla="val 2500"/>
            </a:avLst>
          </a:prstGeom>
          <a:solidFill>
            <a:srgbClr val="141B24"/>
          </a:solidFill>
          <a:ln w="9525">
            <a:solidFill>
              <a:srgbClr val="243040"/>
            </a:solidFill>
            <a:prstDash val="solid"/>
          </a:ln>
        </p:spPr>
      </p:sp>
      <p:sp>
        <p:nvSpPr>
          <p:cNvPr id="8" name="Text 6"/>
          <p:cNvSpPr/>
          <p:nvPr/>
        </p:nvSpPr>
        <p:spPr>
          <a:xfrm>
            <a:off x="704088" y="2267712"/>
            <a:ext cx="548640" cy="274320"/>
          </a:xfrm>
          <a:prstGeom prst="rect">
            <a:avLst/>
          </a:prstGeom>
          <a:noFill/>
          <a:ln/>
        </p:spPr>
        <p:txBody>
          <a:bodyPr wrap="square" lIns="0" tIns="0" rIns="0" bIns="0" rtlCol="0" anchor="ctr"/>
          <a:lstStyle/>
          <a:p>
            <a:pPr indent="0" marL="0">
              <a:buNone/>
            </a:pPr>
            <a:r>
              <a:rPr lang="en-US" sz="1100" b="1" dirty="0">
                <a:solidFill>
                  <a:srgbClr val="6699FF"/>
                </a:solidFill>
                <a:latin typeface="Arial" pitchFamily="34" charset="0"/>
                <a:ea typeface="Arial" pitchFamily="34" charset="-122"/>
                <a:cs typeface="Arial" pitchFamily="34" charset="-120"/>
              </a:rPr>
              <a:t>1</a:t>
            </a:r>
            <a:endParaRPr lang="en-US" sz="1100" dirty="0"/>
          </a:p>
        </p:txBody>
      </p:sp>
      <p:sp>
        <p:nvSpPr>
          <p:cNvPr id="9" name="Text 7"/>
          <p:cNvSpPr/>
          <p:nvPr/>
        </p:nvSpPr>
        <p:spPr>
          <a:xfrm>
            <a:off x="704088" y="2560320"/>
            <a:ext cx="1702613" cy="365760"/>
          </a:xfrm>
          <a:prstGeom prst="rect">
            <a:avLst/>
          </a:prstGeom>
          <a:noFill/>
          <a:ln/>
        </p:spPr>
        <p:txBody>
          <a:bodyPr wrap="square" lIns="0" tIns="0" rIns="0" bIns="0" rtlCol="0" anchor="ctr"/>
          <a:lstStyle/>
          <a:p>
            <a:pPr indent="0" marL="0">
              <a:buNone/>
            </a:pPr>
            <a:r>
              <a:rPr lang="en-US" sz="1350" b="1" dirty="0">
                <a:solidFill>
                  <a:srgbClr val="EDF2F7"/>
                </a:solidFill>
                <a:latin typeface="Arial" pitchFamily="34" charset="0"/>
                <a:ea typeface="Arial" pitchFamily="34" charset="-122"/>
                <a:cs typeface="Arial" pitchFamily="34" charset="-120"/>
              </a:rPr>
              <a:t>Konto</a:t>
            </a:r>
            <a:endParaRPr lang="en-US" sz="1350" dirty="0"/>
          </a:p>
        </p:txBody>
      </p:sp>
      <p:sp>
        <p:nvSpPr>
          <p:cNvPr id="10" name="Text 8"/>
          <p:cNvSpPr/>
          <p:nvPr/>
        </p:nvSpPr>
        <p:spPr>
          <a:xfrm>
            <a:off x="704088" y="2944368"/>
            <a:ext cx="1702613" cy="822960"/>
          </a:xfrm>
          <a:prstGeom prst="rect">
            <a:avLst/>
          </a:prstGeom>
          <a:noFill/>
          <a:ln/>
        </p:spPr>
        <p:txBody>
          <a:bodyPr wrap="square" lIns="0" tIns="0" rIns="0" bIns="0" rtlCol="0" anchor="ctr"/>
          <a:lstStyle/>
          <a:p>
            <a:pPr indent="0" marL="0">
              <a:lnSpc>
                <a:spcPct val="115000"/>
              </a:lnSpc>
              <a:buNone/>
            </a:pPr>
            <a:r>
              <a:rPr lang="en-US" sz="1000" dirty="0">
                <a:solidFill>
                  <a:srgbClr val="8FA0B4"/>
                </a:solidFill>
                <a:latin typeface="Arial" pitchFamily="34" charset="0"/>
                <a:ea typeface="Arial" pitchFamily="34" charset="-122"/>
                <a:cs typeface="Arial" pitchFamily="34" charset="-120"/>
              </a:rPr>
              <a:t>shopify.com — 3 Tage gratis, dann CHF 1/Monat</a:t>
            </a:r>
            <a:endParaRPr lang="en-US" sz="1000" dirty="0"/>
          </a:p>
        </p:txBody>
      </p:sp>
      <p:sp>
        <p:nvSpPr>
          <p:cNvPr id="11" name="Shape 9"/>
          <p:cNvSpPr/>
          <p:nvPr/>
        </p:nvSpPr>
        <p:spPr>
          <a:xfrm>
            <a:off x="2772461" y="2103120"/>
            <a:ext cx="2104949" cy="1828800"/>
          </a:xfrm>
          <a:prstGeom prst="roundRect">
            <a:avLst>
              <a:gd name="adj" fmla="val 2500"/>
            </a:avLst>
          </a:prstGeom>
          <a:solidFill>
            <a:srgbClr val="141B24"/>
          </a:solidFill>
          <a:ln w="9525">
            <a:solidFill>
              <a:srgbClr val="243040"/>
            </a:solidFill>
            <a:prstDash val="solid"/>
          </a:ln>
        </p:spPr>
      </p:sp>
      <p:sp>
        <p:nvSpPr>
          <p:cNvPr id="12" name="Text 10"/>
          <p:cNvSpPr/>
          <p:nvPr/>
        </p:nvSpPr>
        <p:spPr>
          <a:xfrm>
            <a:off x="2973629" y="2267712"/>
            <a:ext cx="548640" cy="274320"/>
          </a:xfrm>
          <a:prstGeom prst="rect">
            <a:avLst/>
          </a:prstGeom>
          <a:noFill/>
          <a:ln/>
        </p:spPr>
        <p:txBody>
          <a:bodyPr wrap="square" lIns="0" tIns="0" rIns="0" bIns="0" rtlCol="0" anchor="ctr"/>
          <a:lstStyle/>
          <a:p>
            <a:pPr indent="0" marL="0">
              <a:buNone/>
            </a:pPr>
            <a:r>
              <a:rPr lang="en-US" sz="1100" b="1" dirty="0">
                <a:solidFill>
                  <a:srgbClr val="6699FF"/>
                </a:solidFill>
                <a:latin typeface="Arial" pitchFamily="34" charset="0"/>
                <a:ea typeface="Arial" pitchFamily="34" charset="-122"/>
                <a:cs typeface="Arial" pitchFamily="34" charset="-120"/>
              </a:rPr>
              <a:t>2</a:t>
            </a:r>
            <a:endParaRPr lang="en-US" sz="1100" dirty="0"/>
          </a:p>
        </p:txBody>
      </p:sp>
      <p:sp>
        <p:nvSpPr>
          <p:cNvPr id="13" name="Text 11"/>
          <p:cNvSpPr/>
          <p:nvPr/>
        </p:nvSpPr>
        <p:spPr>
          <a:xfrm>
            <a:off x="2973629" y="2560320"/>
            <a:ext cx="1702613" cy="365760"/>
          </a:xfrm>
          <a:prstGeom prst="rect">
            <a:avLst/>
          </a:prstGeom>
          <a:noFill/>
          <a:ln/>
        </p:spPr>
        <p:txBody>
          <a:bodyPr wrap="square" lIns="0" tIns="0" rIns="0" bIns="0" rtlCol="0" anchor="ctr"/>
          <a:lstStyle/>
          <a:p>
            <a:pPr indent="0" marL="0">
              <a:buNone/>
            </a:pPr>
            <a:r>
              <a:rPr lang="en-US" sz="1350" b="1" dirty="0">
                <a:solidFill>
                  <a:srgbClr val="EDF2F7"/>
                </a:solidFill>
                <a:latin typeface="Arial" pitchFamily="34" charset="0"/>
                <a:ea typeface="Arial" pitchFamily="34" charset="-122"/>
                <a:cs typeface="Arial" pitchFamily="34" charset="-120"/>
              </a:rPr>
              <a:t>Produkte</a:t>
            </a:r>
            <a:endParaRPr lang="en-US" sz="1350" dirty="0"/>
          </a:p>
        </p:txBody>
      </p:sp>
      <p:sp>
        <p:nvSpPr>
          <p:cNvPr id="14" name="Text 12"/>
          <p:cNvSpPr/>
          <p:nvPr/>
        </p:nvSpPr>
        <p:spPr>
          <a:xfrm>
            <a:off x="2973629" y="2944368"/>
            <a:ext cx="1702613" cy="822960"/>
          </a:xfrm>
          <a:prstGeom prst="rect">
            <a:avLst/>
          </a:prstGeom>
          <a:noFill/>
          <a:ln/>
        </p:spPr>
        <p:txBody>
          <a:bodyPr wrap="square" lIns="0" tIns="0" rIns="0" bIns="0" rtlCol="0" anchor="ctr"/>
          <a:lstStyle/>
          <a:p>
            <a:pPr indent="0" marL="0">
              <a:lnSpc>
                <a:spcPct val="115000"/>
              </a:lnSpc>
              <a:buNone/>
            </a:pPr>
            <a:r>
              <a:rPr lang="en-US" sz="1000" dirty="0">
                <a:solidFill>
                  <a:srgbClr val="8FA0B4"/>
                </a:solidFill>
                <a:latin typeface="Arial" pitchFamily="34" charset="0"/>
                <a:ea typeface="Arial" pitchFamily="34" charset="-122"/>
                <a:cs typeface="Arial" pitchFamily="34" charset="-120"/>
              </a:rPr>
              <a:t>6 Artikel anlegen: Foto, Text, Preis</a:t>
            </a:r>
            <a:endParaRPr lang="en-US" sz="1000" dirty="0"/>
          </a:p>
        </p:txBody>
      </p:sp>
      <p:sp>
        <p:nvSpPr>
          <p:cNvPr id="15" name="Shape 13"/>
          <p:cNvSpPr/>
          <p:nvPr/>
        </p:nvSpPr>
        <p:spPr>
          <a:xfrm>
            <a:off x="5042002" y="2103120"/>
            <a:ext cx="2104949" cy="1828800"/>
          </a:xfrm>
          <a:prstGeom prst="roundRect">
            <a:avLst>
              <a:gd name="adj" fmla="val 2500"/>
            </a:avLst>
          </a:prstGeom>
          <a:solidFill>
            <a:srgbClr val="141B24"/>
          </a:solidFill>
          <a:ln w="9525">
            <a:solidFill>
              <a:srgbClr val="243040"/>
            </a:solidFill>
            <a:prstDash val="solid"/>
          </a:ln>
        </p:spPr>
      </p:sp>
      <p:sp>
        <p:nvSpPr>
          <p:cNvPr id="16" name="Text 14"/>
          <p:cNvSpPr/>
          <p:nvPr/>
        </p:nvSpPr>
        <p:spPr>
          <a:xfrm>
            <a:off x="5243170" y="2267712"/>
            <a:ext cx="548640" cy="274320"/>
          </a:xfrm>
          <a:prstGeom prst="rect">
            <a:avLst/>
          </a:prstGeom>
          <a:noFill/>
          <a:ln/>
        </p:spPr>
        <p:txBody>
          <a:bodyPr wrap="square" lIns="0" tIns="0" rIns="0" bIns="0" rtlCol="0" anchor="ctr"/>
          <a:lstStyle/>
          <a:p>
            <a:pPr indent="0" marL="0">
              <a:buNone/>
            </a:pPr>
            <a:r>
              <a:rPr lang="en-US" sz="1100" b="1" dirty="0">
                <a:solidFill>
                  <a:srgbClr val="6699FF"/>
                </a:solidFill>
                <a:latin typeface="Arial" pitchFamily="34" charset="0"/>
                <a:ea typeface="Arial" pitchFamily="34" charset="-122"/>
                <a:cs typeface="Arial" pitchFamily="34" charset="-120"/>
              </a:rPr>
              <a:t>3</a:t>
            </a:r>
            <a:endParaRPr lang="en-US" sz="1100" dirty="0"/>
          </a:p>
        </p:txBody>
      </p:sp>
      <p:sp>
        <p:nvSpPr>
          <p:cNvPr id="17" name="Text 15"/>
          <p:cNvSpPr/>
          <p:nvPr/>
        </p:nvSpPr>
        <p:spPr>
          <a:xfrm>
            <a:off x="5243170" y="2560320"/>
            <a:ext cx="1702613" cy="365760"/>
          </a:xfrm>
          <a:prstGeom prst="rect">
            <a:avLst/>
          </a:prstGeom>
          <a:noFill/>
          <a:ln/>
        </p:spPr>
        <p:txBody>
          <a:bodyPr wrap="square" lIns="0" tIns="0" rIns="0" bIns="0" rtlCol="0" anchor="ctr"/>
          <a:lstStyle/>
          <a:p>
            <a:pPr indent="0" marL="0">
              <a:buNone/>
            </a:pPr>
            <a:r>
              <a:rPr lang="en-US" sz="1350" b="1" dirty="0">
                <a:solidFill>
                  <a:srgbClr val="EDF2F7"/>
                </a:solidFill>
                <a:latin typeface="Arial" pitchFamily="34" charset="0"/>
                <a:ea typeface="Arial" pitchFamily="34" charset="-122"/>
                <a:cs typeface="Arial" pitchFamily="34" charset="-120"/>
              </a:rPr>
              <a:t>Zahlung</a:t>
            </a:r>
            <a:endParaRPr lang="en-US" sz="1350" dirty="0"/>
          </a:p>
        </p:txBody>
      </p:sp>
      <p:sp>
        <p:nvSpPr>
          <p:cNvPr id="18" name="Text 16"/>
          <p:cNvSpPr/>
          <p:nvPr/>
        </p:nvSpPr>
        <p:spPr>
          <a:xfrm>
            <a:off x="5243170" y="2944368"/>
            <a:ext cx="1702613" cy="822960"/>
          </a:xfrm>
          <a:prstGeom prst="rect">
            <a:avLst/>
          </a:prstGeom>
          <a:noFill/>
          <a:ln/>
        </p:spPr>
        <p:txBody>
          <a:bodyPr wrap="square" lIns="0" tIns="0" rIns="0" bIns="0" rtlCol="0" anchor="ctr"/>
          <a:lstStyle/>
          <a:p>
            <a:pPr indent="0" marL="0">
              <a:lnSpc>
                <a:spcPct val="115000"/>
              </a:lnSpc>
              <a:buNone/>
            </a:pPr>
            <a:r>
              <a:rPr lang="en-US" sz="1000" dirty="0">
                <a:solidFill>
                  <a:srgbClr val="8FA0B4"/>
                </a:solidFill>
                <a:latin typeface="Arial" pitchFamily="34" charset="0"/>
                <a:ea typeface="Arial" pitchFamily="34" charset="-122"/>
                <a:cs typeface="Arial" pitchFamily="34" charset="-120"/>
              </a:rPr>
              <a:t>TWINT und Karte einschalten</a:t>
            </a:r>
            <a:endParaRPr lang="en-US" sz="1000" dirty="0"/>
          </a:p>
        </p:txBody>
      </p:sp>
      <p:sp>
        <p:nvSpPr>
          <p:cNvPr id="19" name="Shape 17"/>
          <p:cNvSpPr/>
          <p:nvPr/>
        </p:nvSpPr>
        <p:spPr>
          <a:xfrm>
            <a:off x="7311542" y="2103120"/>
            <a:ext cx="2104949" cy="1828800"/>
          </a:xfrm>
          <a:prstGeom prst="roundRect">
            <a:avLst>
              <a:gd name="adj" fmla="val 2500"/>
            </a:avLst>
          </a:prstGeom>
          <a:solidFill>
            <a:srgbClr val="141B24"/>
          </a:solidFill>
          <a:ln w="9525">
            <a:solidFill>
              <a:srgbClr val="243040"/>
            </a:solidFill>
            <a:prstDash val="solid"/>
          </a:ln>
        </p:spPr>
      </p:sp>
      <p:sp>
        <p:nvSpPr>
          <p:cNvPr id="20" name="Text 18"/>
          <p:cNvSpPr/>
          <p:nvPr/>
        </p:nvSpPr>
        <p:spPr>
          <a:xfrm>
            <a:off x="7512710" y="2267712"/>
            <a:ext cx="548640" cy="274320"/>
          </a:xfrm>
          <a:prstGeom prst="rect">
            <a:avLst/>
          </a:prstGeom>
          <a:noFill/>
          <a:ln/>
        </p:spPr>
        <p:txBody>
          <a:bodyPr wrap="square" lIns="0" tIns="0" rIns="0" bIns="0" rtlCol="0" anchor="ctr"/>
          <a:lstStyle/>
          <a:p>
            <a:pPr indent="0" marL="0">
              <a:buNone/>
            </a:pPr>
            <a:r>
              <a:rPr lang="en-US" sz="1100" b="1" dirty="0">
                <a:solidFill>
                  <a:srgbClr val="6699FF"/>
                </a:solidFill>
                <a:latin typeface="Arial" pitchFamily="34" charset="0"/>
                <a:ea typeface="Arial" pitchFamily="34" charset="-122"/>
                <a:cs typeface="Arial" pitchFamily="34" charset="-120"/>
              </a:rPr>
              <a:t>4</a:t>
            </a:r>
            <a:endParaRPr lang="en-US" sz="1100" dirty="0"/>
          </a:p>
        </p:txBody>
      </p:sp>
      <p:sp>
        <p:nvSpPr>
          <p:cNvPr id="21" name="Text 19"/>
          <p:cNvSpPr/>
          <p:nvPr/>
        </p:nvSpPr>
        <p:spPr>
          <a:xfrm>
            <a:off x="7512710" y="2560320"/>
            <a:ext cx="1702613" cy="365760"/>
          </a:xfrm>
          <a:prstGeom prst="rect">
            <a:avLst/>
          </a:prstGeom>
          <a:noFill/>
          <a:ln/>
        </p:spPr>
        <p:txBody>
          <a:bodyPr wrap="square" lIns="0" tIns="0" rIns="0" bIns="0" rtlCol="0" anchor="ctr"/>
          <a:lstStyle/>
          <a:p>
            <a:pPr indent="0" marL="0">
              <a:buNone/>
            </a:pPr>
            <a:r>
              <a:rPr lang="en-US" sz="1350" b="1" dirty="0">
                <a:solidFill>
                  <a:srgbClr val="EDF2F7"/>
                </a:solidFill>
                <a:latin typeface="Arial" pitchFamily="34" charset="0"/>
                <a:ea typeface="Arial" pitchFamily="34" charset="-122"/>
                <a:cs typeface="Arial" pitchFamily="34" charset="-120"/>
              </a:rPr>
              <a:t>Versand</a:t>
            </a:r>
            <a:endParaRPr lang="en-US" sz="1350" dirty="0"/>
          </a:p>
        </p:txBody>
      </p:sp>
      <p:sp>
        <p:nvSpPr>
          <p:cNvPr id="22" name="Text 20"/>
          <p:cNvSpPr/>
          <p:nvPr/>
        </p:nvSpPr>
        <p:spPr>
          <a:xfrm>
            <a:off x="7512710" y="2944368"/>
            <a:ext cx="1702613" cy="822960"/>
          </a:xfrm>
          <a:prstGeom prst="rect">
            <a:avLst/>
          </a:prstGeom>
          <a:noFill/>
          <a:ln/>
        </p:spPr>
        <p:txBody>
          <a:bodyPr wrap="square" lIns="0" tIns="0" rIns="0" bIns="0" rtlCol="0" anchor="ctr"/>
          <a:lstStyle/>
          <a:p>
            <a:pPr indent="0" marL="0">
              <a:lnSpc>
                <a:spcPct val="115000"/>
              </a:lnSpc>
              <a:buNone/>
            </a:pPr>
            <a:r>
              <a:rPr lang="en-US" sz="1000" dirty="0">
                <a:solidFill>
                  <a:srgbClr val="8FA0B4"/>
                </a:solidFill>
                <a:latin typeface="Arial" pitchFamily="34" charset="0"/>
                <a:ea typeface="Arial" pitchFamily="34" charset="-122"/>
                <a:cs typeface="Arial" pitchFamily="34" charset="-120"/>
              </a:rPr>
              <a:t>Post-Tarife hinterlegen, versichert</a:t>
            </a:r>
            <a:endParaRPr lang="en-US" sz="1000" dirty="0"/>
          </a:p>
        </p:txBody>
      </p:sp>
      <p:sp>
        <p:nvSpPr>
          <p:cNvPr id="23" name="Shape 21"/>
          <p:cNvSpPr/>
          <p:nvPr/>
        </p:nvSpPr>
        <p:spPr>
          <a:xfrm>
            <a:off x="9581083" y="2103120"/>
            <a:ext cx="2104949" cy="1828800"/>
          </a:xfrm>
          <a:prstGeom prst="roundRect">
            <a:avLst>
              <a:gd name="adj" fmla="val 2500"/>
            </a:avLst>
          </a:prstGeom>
          <a:solidFill>
            <a:srgbClr val="141B24"/>
          </a:solidFill>
          <a:ln w="9525">
            <a:solidFill>
              <a:srgbClr val="243040"/>
            </a:solidFill>
            <a:prstDash val="solid"/>
          </a:ln>
        </p:spPr>
      </p:sp>
      <p:sp>
        <p:nvSpPr>
          <p:cNvPr id="24" name="Text 22"/>
          <p:cNvSpPr/>
          <p:nvPr/>
        </p:nvSpPr>
        <p:spPr>
          <a:xfrm>
            <a:off x="9782251" y="2267712"/>
            <a:ext cx="548640" cy="274320"/>
          </a:xfrm>
          <a:prstGeom prst="rect">
            <a:avLst/>
          </a:prstGeom>
          <a:noFill/>
          <a:ln/>
        </p:spPr>
        <p:txBody>
          <a:bodyPr wrap="square" lIns="0" tIns="0" rIns="0" bIns="0" rtlCol="0" anchor="ctr"/>
          <a:lstStyle/>
          <a:p>
            <a:pPr indent="0" marL="0">
              <a:buNone/>
            </a:pPr>
            <a:r>
              <a:rPr lang="en-US" sz="1100" b="1" dirty="0">
                <a:solidFill>
                  <a:srgbClr val="6699FF"/>
                </a:solidFill>
                <a:latin typeface="Arial" pitchFamily="34" charset="0"/>
                <a:ea typeface="Arial" pitchFamily="34" charset="-122"/>
                <a:cs typeface="Arial" pitchFamily="34" charset="-120"/>
              </a:rPr>
              <a:t>5</a:t>
            </a:r>
            <a:endParaRPr lang="en-US" sz="1100" dirty="0"/>
          </a:p>
        </p:txBody>
      </p:sp>
      <p:sp>
        <p:nvSpPr>
          <p:cNvPr id="25" name="Text 23"/>
          <p:cNvSpPr/>
          <p:nvPr/>
        </p:nvSpPr>
        <p:spPr>
          <a:xfrm>
            <a:off x="9782251" y="2560320"/>
            <a:ext cx="1702613" cy="365760"/>
          </a:xfrm>
          <a:prstGeom prst="rect">
            <a:avLst/>
          </a:prstGeom>
          <a:noFill/>
          <a:ln/>
        </p:spPr>
        <p:txBody>
          <a:bodyPr wrap="square" lIns="0" tIns="0" rIns="0" bIns="0" rtlCol="0" anchor="ctr"/>
          <a:lstStyle/>
          <a:p>
            <a:pPr indent="0" marL="0">
              <a:buNone/>
            </a:pPr>
            <a:r>
              <a:rPr lang="en-US" sz="1350" b="1" dirty="0">
                <a:solidFill>
                  <a:srgbClr val="EDF2F7"/>
                </a:solidFill>
                <a:latin typeface="Arial" pitchFamily="34" charset="0"/>
                <a:ea typeface="Arial" pitchFamily="34" charset="-122"/>
                <a:cs typeface="Arial" pitchFamily="34" charset="-120"/>
              </a:rPr>
              <a:t>Testkauf</a:t>
            </a:r>
            <a:endParaRPr lang="en-US" sz="1350" dirty="0"/>
          </a:p>
        </p:txBody>
      </p:sp>
      <p:sp>
        <p:nvSpPr>
          <p:cNvPr id="26" name="Text 24"/>
          <p:cNvSpPr/>
          <p:nvPr/>
        </p:nvSpPr>
        <p:spPr>
          <a:xfrm>
            <a:off x="9782251" y="2944368"/>
            <a:ext cx="1702613" cy="822960"/>
          </a:xfrm>
          <a:prstGeom prst="rect">
            <a:avLst/>
          </a:prstGeom>
          <a:noFill/>
          <a:ln/>
        </p:spPr>
        <p:txBody>
          <a:bodyPr wrap="square" lIns="0" tIns="0" rIns="0" bIns="0" rtlCol="0" anchor="ctr"/>
          <a:lstStyle/>
          <a:p>
            <a:pPr indent="0" marL="0">
              <a:lnSpc>
                <a:spcPct val="115000"/>
              </a:lnSpc>
              <a:buNone/>
            </a:pPr>
            <a:r>
              <a:rPr lang="en-US" sz="1000" dirty="0">
                <a:solidFill>
                  <a:srgbClr val="8FA0B4"/>
                </a:solidFill>
                <a:latin typeface="Arial" pitchFamily="34" charset="0"/>
                <a:ea typeface="Arial" pitchFamily="34" charset="-122"/>
                <a:cs typeface="Arial" pitchFamily="34" charset="-120"/>
              </a:rPr>
              <a:t>Selber bestellen — Screenshot als Beweis</a:t>
            </a:r>
            <a:endParaRPr lang="en-US" sz="1000" dirty="0"/>
          </a:p>
        </p:txBody>
      </p:sp>
      <p:sp>
        <p:nvSpPr>
          <p:cNvPr id="27" name="Text 25"/>
          <p:cNvSpPr/>
          <p:nvPr/>
        </p:nvSpPr>
        <p:spPr>
          <a:xfrm>
            <a:off x="502920" y="4389120"/>
            <a:ext cx="10515600" cy="685800"/>
          </a:xfrm>
          <a:prstGeom prst="rect">
            <a:avLst/>
          </a:prstGeom>
          <a:noFill/>
          <a:ln/>
        </p:spPr>
        <p:txBody>
          <a:bodyPr wrap="square" lIns="0" tIns="0" rIns="0" bIns="0" rtlCol="0" anchor="ctr"/>
          <a:lstStyle/>
          <a:p>
            <a:pPr indent="0" marL="0">
              <a:lnSpc>
                <a:spcPct val="120000"/>
              </a:lnSpc>
              <a:buNone/>
            </a:pPr>
            <a:r>
              <a:rPr lang="en-US" sz="1350" dirty="0">
                <a:solidFill>
                  <a:srgbClr val="8FA0B4"/>
                </a:solidFill>
                <a:latin typeface="Arial" pitchFamily="34" charset="0"/>
                <a:ea typeface="Arial" pitchFamily="34" charset="-122"/>
                <a:cs typeface="Arial" pitchFamily="34" charset="-120"/>
              </a:rPr>
              <a:t>Wie ein Tutorial: wer das nachmacht, hat am Wochenende einen eigenen Shop.</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73" fill="hold">
                      <p:stCondLst>
                        <p:cond delay="indefinite"/>
                        <p:cond evt="onBegin" delay="0">
                          <p:tn val="2"/>
                        </p:cond>
                      </p:stCondLst>
                      <p:childTnLst>
                        <p:par>
                          <p:cTn id="72"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00"/>
                                        <p:tgtEl>
                                          <p:spTgt spid="11"/>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00"/>
                                        <p:tgtEl>
                                          <p:spTgt spid="12"/>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00"/>
                                        <p:tgtEl>
                                          <p:spTgt spid="13"/>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00"/>
                                        <p:tgtEl>
                                          <p:spTgt spid="14"/>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00"/>
                                        <p:tgtEl>
                                          <p:spTgt spid="15"/>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400"/>
                                        <p:tgtEl>
                                          <p:spTgt spid="16"/>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par>
                                <p:cTn id="45" presetID="10" presetClass="entr" presetSubtype="0" fill="hold" grpId="0" nodeType="afterEffect">
                                  <p:stCondLst>
                                    <p:cond delay="182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childTnLst>
                                </p:cTn>
                              </p:par>
                              <p:par>
                                <p:cTn id="48" presetID="10" presetClass="entr" presetSubtype="0" fill="hold" grpId="0" nodeType="afterEffect">
                                  <p:stCondLst>
                                    <p:cond delay="195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childTnLst>
                                </p:cTn>
                              </p:par>
                              <p:par>
                                <p:cTn id="51" presetID="10" presetClass="entr" presetSubtype="0" fill="hold" grpId="0" nodeType="afterEffect">
                                  <p:stCondLst>
                                    <p:cond delay="208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00"/>
                                        <p:tgtEl>
                                          <p:spTgt spid="21"/>
                                        </p:tgtEl>
                                      </p:cBhvr>
                                    </p:animEffect>
                                  </p:childTnLst>
                                </p:cTn>
                              </p:par>
                              <p:par>
                                <p:cTn id="54" presetID="10" presetClass="entr" presetSubtype="0" fill="hold" grpId="0" nodeType="afterEffect">
                                  <p:stCondLst>
                                    <p:cond delay="221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400"/>
                                        <p:tgtEl>
                                          <p:spTgt spid="22"/>
                                        </p:tgtEl>
                                      </p:cBhvr>
                                    </p:animEffect>
                                  </p:childTnLst>
                                </p:cTn>
                              </p:par>
                              <p:par>
                                <p:cTn id="57" presetID="10" presetClass="entr" presetSubtype="0" fill="hold" grpId="0" nodeType="afterEffect">
                                  <p:stCondLst>
                                    <p:cond delay="234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400"/>
                                        <p:tgtEl>
                                          <p:spTgt spid="23"/>
                                        </p:tgtEl>
                                      </p:cBhvr>
                                    </p:animEffect>
                                  </p:childTnLst>
                                </p:cTn>
                              </p:par>
                              <p:par>
                                <p:cTn id="60" presetID="10" presetClass="entr" presetSubtype="0" fill="hold" grpId="0" nodeType="afterEffect">
                                  <p:stCondLst>
                                    <p:cond delay="247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400"/>
                                        <p:tgtEl>
                                          <p:spTgt spid="24"/>
                                        </p:tgtEl>
                                      </p:cBhvr>
                                    </p:animEffect>
                                  </p:childTnLst>
                                </p:cTn>
                              </p:par>
                              <p:par>
                                <p:cTn id="63" presetID="10" presetClass="entr" presetSubtype="0" fill="hold" grpId="0" nodeType="afterEffect">
                                  <p:stCondLst>
                                    <p:cond delay="260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400"/>
                                        <p:tgtEl>
                                          <p:spTgt spid="25"/>
                                        </p:tgtEl>
                                      </p:cBhvr>
                                    </p:animEffect>
                                  </p:childTnLst>
                                </p:cTn>
                              </p:par>
                              <p:par>
                                <p:cTn id="66" presetID="10" presetClass="entr" presetSubtype="0" fill="hold" grpId="0" nodeType="afterEffect">
                                  <p:stCondLst>
                                    <p:cond delay="273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400"/>
                                        <p:tgtEl>
                                          <p:spTgt spid="26"/>
                                        </p:tgtEl>
                                      </p:cBhvr>
                                    </p:animEffect>
                                  </p:childTnLst>
                                </p:cTn>
                              </p:par>
                              <p:par>
                                <p:cTn id="69" presetID="10" presetClass="entr" presetSubtype="0" fill="hold" grpId="0" nodeType="afterEffect">
                                  <p:stCondLst>
                                    <p:cond delay="286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20</a:t>
            </a:r>
            <a:endParaRPr lang="en-US" sz="850" dirty="0"/>
          </a:p>
        </p:txBody>
      </p:sp>
      <p:sp>
        <p:nvSpPr>
          <p:cNvPr id="4" name="Text 2"/>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6699FF"/>
                </a:solidFill>
                <a:latin typeface="Arial" pitchFamily="34" charset="0"/>
                <a:ea typeface="Arial" pitchFamily="34" charset="-122"/>
                <a:cs typeface="Arial" pitchFamily="34" charset="-120"/>
              </a:rPr>
              <a:t>11 · DER ABLAUF</a:t>
            </a:r>
            <a:endParaRPr lang="en-US" sz="1050" dirty="0"/>
          </a:p>
        </p:txBody>
      </p:sp>
      <p:sp>
        <p:nvSpPr>
          <p:cNvPr id="5" name="Text 3"/>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Von der Bestellung bis zur Tür</a:t>
            </a:r>
            <a:endParaRPr lang="en-US" sz="3000" dirty="0"/>
          </a:p>
        </p:txBody>
      </p:sp>
      <p:sp>
        <p:nvSpPr>
          <p:cNvPr id="6" name="Shape 4"/>
          <p:cNvSpPr/>
          <p:nvPr/>
        </p:nvSpPr>
        <p:spPr>
          <a:xfrm>
            <a:off x="502920" y="2103120"/>
            <a:ext cx="2104949" cy="1828800"/>
          </a:xfrm>
          <a:prstGeom prst="roundRect">
            <a:avLst>
              <a:gd name="adj" fmla="val 2500"/>
            </a:avLst>
          </a:prstGeom>
          <a:solidFill>
            <a:srgbClr val="141B24"/>
          </a:solidFill>
          <a:ln w="9525">
            <a:solidFill>
              <a:srgbClr val="243040"/>
            </a:solidFill>
            <a:prstDash val="solid"/>
          </a:ln>
        </p:spPr>
      </p:sp>
      <p:sp>
        <p:nvSpPr>
          <p:cNvPr id="7" name="Text 5"/>
          <p:cNvSpPr/>
          <p:nvPr/>
        </p:nvSpPr>
        <p:spPr>
          <a:xfrm>
            <a:off x="704088" y="2267712"/>
            <a:ext cx="548640" cy="274320"/>
          </a:xfrm>
          <a:prstGeom prst="rect">
            <a:avLst/>
          </a:prstGeom>
          <a:noFill/>
          <a:ln/>
        </p:spPr>
        <p:txBody>
          <a:bodyPr wrap="square" lIns="0" tIns="0" rIns="0" bIns="0" rtlCol="0" anchor="ctr"/>
          <a:lstStyle/>
          <a:p>
            <a:pPr indent="0" marL="0">
              <a:buNone/>
            </a:pPr>
            <a:r>
              <a:rPr lang="en-US" sz="1100" b="1" dirty="0">
                <a:solidFill>
                  <a:srgbClr val="6699FF"/>
                </a:solidFill>
                <a:latin typeface="Arial" pitchFamily="34" charset="0"/>
                <a:ea typeface="Arial" pitchFamily="34" charset="-122"/>
                <a:cs typeface="Arial" pitchFamily="34" charset="-120"/>
              </a:rPr>
              <a:t>1</a:t>
            </a:r>
            <a:endParaRPr lang="en-US" sz="1100" dirty="0"/>
          </a:p>
        </p:txBody>
      </p:sp>
      <p:sp>
        <p:nvSpPr>
          <p:cNvPr id="8" name="Text 6"/>
          <p:cNvSpPr/>
          <p:nvPr/>
        </p:nvSpPr>
        <p:spPr>
          <a:xfrm>
            <a:off x="704088" y="2560320"/>
            <a:ext cx="1702613" cy="365760"/>
          </a:xfrm>
          <a:prstGeom prst="rect">
            <a:avLst/>
          </a:prstGeom>
          <a:noFill/>
          <a:ln/>
        </p:spPr>
        <p:txBody>
          <a:bodyPr wrap="square" lIns="0" tIns="0" rIns="0" bIns="0" rtlCol="0" anchor="ctr"/>
          <a:lstStyle/>
          <a:p>
            <a:pPr indent="0" marL="0">
              <a:buNone/>
            </a:pPr>
            <a:r>
              <a:rPr lang="en-US" sz="1350" b="1" dirty="0">
                <a:solidFill>
                  <a:srgbClr val="EDF2F7"/>
                </a:solidFill>
                <a:latin typeface="Arial" pitchFamily="34" charset="0"/>
                <a:ea typeface="Arial" pitchFamily="34" charset="-122"/>
                <a:cs typeface="Arial" pitchFamily="34" charset="-120"/>
              </a:rPr>
              <a:t>Bestellung</a:t>
            </a:r>
            <a:endParaRPr lang="en-US" sz="1350" dirty="0"/>
          </a:p>
        </p:txBody>
      </p:sp>
      <p:sp>
        <p:nvSpPr>
          <p:cNvPr id="9" name="Text 7"/>
          <p:cNvSpPr/>
          <p:nvPr/>
        </p:nvSpPr>
        <p:spPr>
          <a:xfrm>
            <a:off x="704088" y="2944368"/>
            <a:ext cx="1702613" cy="822960"/>
          </a:xfrm>
          <a:prstGeom prst="rect">
            <a:avLst/>
          </a:prstGeom>
          <a:noFill/>
          <a:ln/>
        </p:spPr>
        <p:txBody>
          <a:bodyPr wrap="square" lIns="0" tIns="0" rIns="0" bIns="0" rtlCol="0" anchor="ctr"/>
          <a:lstStyle/>
          <a:p>
            <a:pPr indent="0" marL="0">
              <a:lnSpc>
                <a:spcPct val="115000"/>
              </a:lnSpc>
              <a:buNone/>
            </a:pPr>
            <a:r>
              <a:rPr lang="en-US" sz="1000" dirty="0">
                <a:solidFill>
                  <a:srgbClr val="8FA0B4"/>
                </a:solidFill>
                <a:latin typeface="Arial" pitchFamily="34" charset="0"/>
                <a:ea typeface="Arial" pitchFamily="34" charset="-122"/>
                <a:cs typeface="Arial" pitchFamily="34" charset="-120"/>
              </a:rPr>
              <a:t>Nadia bestellt am Sonntagabend</a:t>
            </a:r>
            <a:endParaRPr lang="en-US" sz="1000" dirty="0"/>
          </a:p>
        </p:txBody>
      </p:sp>
      <p:sp>
        <p:nvSpPr>
          <p:cNvPr id="10" name="Shape 8"/>
          <p:cNvSpPr/>
          <p:nvPr/>
        </p:nvSpPr>
        <p:spPr>
          <a:xfrm>
            <a:off x="2772461" y="2103120"/>
            <a:ext cx="2104949" cy="1828800"/>
          </a:xfrm>
          <a:prstGeom prst="roundRect">
            <a:avLst>
              <a:gd name="adj" fmla="val 2500"/>
            </a:avLst>
          </a:prstGeom>
          <a:solidFill>
            <a:srgbClr val="141B24"/>
          </a:solidFill>
          <a:ln w="9525">
            <a:solidFill>
              <a:srgbClr val="243040"/>
            </a:solidFill>
            <a:prstDash val="solid"/>
          </a:ln>
        </p:spPr>
      </p:sp>
      <p:sp>
        <p:nvSpPr>
          <p:cNvPr id="11" name="Text 9"/>
          <p:cNvSpPr/>
          <p:nvPr/>
        </p:nvSpPr>
        <p:spPr>
          <a:xfrm>
            <a:off x="2973629" y="2267712"/>
            <a:ext cx="548640" cy="274320"/>
          </a:xfrm>
          <a:prstGeom prst="rect">
            <a:avLst/>
          </a:prstGeom>
          <a:noFill/>
          <a:ln/>
        </p:spPr>
        <p:txBody>
          <a:bodyPr wrap="square" lIns="0" tIns="0" rIns="0" bIns="0" rtlCol="0" anchor="ctr"/>
          <a:lstStyle/>
          <a:p>
            <a:pPr indent="0" marL="0">
              <a:buNone/>
            </a:pPr>
            <a:r>
              <a:rPr lang="en-US" sz="1100" b="1" dirty="0">
                <a:solidFill>
                  <a:srgbClr val="6699FF"/>
                </a:solidFill>
                <a:latin typeface="Arial" pitchFamily="34" charset="0"/>
                <a:ea typeface="Arial" pitchFamily="34" charset="-122"/>
                <a:cs typeface="Arial" pitchFamily="34" charset="-120"/>
              </a:rPr>
              <a:t>2</a:t>
            </a:r>
            <a:endParaRPr lang="en-US" sz="1100" dirty="0"/>
          </a:p>
        </p:txBody>
      </p:sp>
      <p:sp>
        <p:nvSpPr>
          <p:cNvPr id="12" name="Text 10"/>
          <p:cNvSpPr/>
          <p:nvPr/>
        </p:nvSpPr>
        <p:spPr>
          <a:xfrm>
            <a:off x="2973629" y="2560320"/>
            <a:ext cx="1702613" cy="365760"/>
          </a:xfrm>
          <a:prstGeom prst="rect">
            <a:avLst/>
          </a:prstGeom>
          <a:noFill/>
          <a:ln/>
        </p:spPr>
        <p:txBody>
          <a:bodyPr wrap="square" lIns="0" tIns="0" rIns="0" bIns="0" rtlCol="0" anchor="ctr"/>
          <a:lstStyle/>
          <a:p>
            <a:pPr indent="0" marL="0">
              <a:buNone/>
            </a:pPr>
            <a:r>
              <a:rPr lang="en-US" sz="1350" b="1" dirty="0">
                <a:solidFill>
                  <a:srgbClr val="EDF2F7"/>
                </a:solidFill>
                <a:latin typeface="Arial" pitchFamily="34" charset="0"/>
                <a:ea typeface="Arial" pitchFamily="34" charset="-122"/>
                <a:cs typeface="Arial" pitchFamily="34" charset="-120"/>
              </a:rPr>
              <a:t>Zahlung</a:t>
            </a:r>
            <a:endParaRPr lang="en-US" sz="1350" dirty="0"/>
          </a:p>
        </p:txBody>
      </p:sp>
      <p:sp>
        <p:nvSpPr>
          <p:cNvPr id="13" name="Text 11"/>
          <p:cNvSpPr/>
          <p:nvPr/>
        </p:nvSpPr>
        <p:spPr>
          <a:xfrm>
            <a:off x="2973629" y="2944368"/>
            <a:ext cx="1702613" cy="822960"/>
          </a:xfrm>
          <a:prstGeom prst="rect">
            <a:avLst/>
          </a:prstGeom>
          <a:noFill/>
          <a:ln/>
        </p:spPr>
        <p:txBody>
          <a:bodyPr wrap="square" lIns="0" tIns="0" rIns="0" bIns="0" rtlCol="0" anchor="ctr"/>
          <a:lstStyle/>
          <a:p>
            <a:pPr indent="0" marL="0">
              <a:lnSpc>
                <a:spcPct val="115000"/>
              </a:lnSpc>
              <a:buNone/>
            </a:pPr>
            <a:r>
              <a:rPr lang="en-US" sz="1000" dirty="0">
                <a:solidFill>
                  <a:srgbClr val="8FA0B4"/>
                </a:solidFill>
                <a:latin typeface="Arial" pitchFamily="34" charset="0"/>
                <a:ea typeface="Arial" pitchFamily="34" charset="-122"/>
                <a:cs typeface="Arial" pitchFamily="34" charset="-120"/>
              </a:rPr>
              <a:t>TWINT, bestätigt in Sekunden</a:t>
            </a:r>
            <a:endParaRPr lang="en-US" sz="1000" dirty="0"/>
          </a:p>
        </p:txBody>
      </p:sp>
      <p:sp>
        <p:nvSpPr>
          <p:cNvPr id="14" name="Shape 12"/>
          <p:cNvSpPr/>
          <p:nvPr/>
        </p:nvSpPr>
        <p:spPr>
          <a:xfrm>
            <a:off x="5042002" y="2103120"/>
            <a:ext cx="2104949" cy="1828800"/>
          </a:xfrm>
          <a:prstGeom prst="roundRect">
            <a:avLst>
              <a:gd name="adj" fmla="val 2500"/>
            </a:avLst>
          </a:prstGeom>
          <a:solidFill>
            <a:srgbClr val="141B24"/>
          </a:solidFill>
          <a:ln w="9525">
            <a:solidFill>
              <a:srgbClr val="243040"/>
            </a:solidFill>
            <a:prstDash val="solid"/>
          </a:ln>
        </p:spPr>
      </p:sp>
      <p:sp>
        <p:nvSpPr>
          <p:cNvPr id="15" name="Text 13"/>
          <p:cNvSpPr/>
          <p:nvPr/>
        </p:nvSpPr>
        <p:spPr>
          <a:xfrm>
            <a:off x="5243170" y="2267712"/>
            <a:ext cx="548640" cy="274320"/>
          </a:xfrm>
          <a:prstGeom prst="rect">
            <a:avLst/>
          </a:prstGeom>
          <a:noFill/>
          <a:ln/>
        </p:spPr>
        <p:txBody>
          <a:bodyPr wrap="square" lIns="0" tIns="0" rIns="0" bIns="0" rtlCol="0" anchor="ctr"/>
          <a:lstStyle/>
          <a:p>
            <a:pPr indent="0" marL="0">
              <a:buNone/>
            </a:pPr>
            <a:r>
              <a:rPr lang="en-US" sz="1100" b="1" dirty="0">
                <a:solidFill>
                  <a:srgbClr val="6699FF"/>
                </a:solidFill>
                <a:latin typeface="Arial" pitchFamily="34" charset="0"/>
                <a:ea typeface="Arial" pitchFamily="34" charset="-122"/>
                <a:cs typeface="Arial" pitchFamily="34" charset="-120"/>
              </a:rPr>
              <a:t>3</a:t>
            </a:r>
            <a:endParaRPr lang="en-US" sz="1100" dirty="0"/>
          </a:p>
        </p:txBody>
      </p:sp>
      <p:sp>
        <p:nvSpPr>
          <p:cNvPr id="16" name="Text 14"/>
          <p:cNvSpPr/>
          <p:nvPr/>
        </p:nvSpPr>
        <p:spPr>
          <a:xfrm>
            <a:off x="5243170" y="2560320"/>
            <a:ext cx="1702613" cy="365760"/>
          </a:xfrm>
          <a:prstGeom prst="rect">
            <a:avLst/>
          </a:prstGeom>
          <a:noFill/>
          <a:ln/>
        </p:spPr>
        <p:txBody>
          <a:bodyPr wrap="square" lIns="0" tIns="0" rIns="0" bIns="0" rtlCol="0" anchor="ctr"/>
          <a:lstStyle/>
          <a:p>
            <a:pPr indent="0" marL="0">
              <a:buNone/>
            </a:pPr>
            <a:r>
              <a:rPr lang="en-US" sz="1350" b="1" dirty="0">
                <a:solidFill>
                  <a:srgbClr val="EDF2F7"/>
                </a:solidFill>
                <a:latin typeface="Arial" pitchFamily="34" charset="0"/>
                <a:ea typeface="Arial" pitchFamily="34" charset="-122"/>
                <a:cs typeface="Arial" pitchFamily="34" charset="-120"/>
              </a:rPr>
              <a:t>Neuware</a:t>
            </a:r>
            <a:endParaRPr lang="en-US" sz="1350" dirty="0"/>
          </a:p>
        </p:txBody>
      </p:sp>
      <p:sp>
        <p:nvSpPr>
          <p:cNvPr id="17" name="Text 15"/>
          <p:cNvSpPr/>
          <p:nvPr/>
        </p:nvSpPr>
        <p:spPr>
          <a:xfrm>
            <a:off x="5243170" y="2944368"/>
            <a:ext cx="1702613" cy="822960"/>
          </a:xfrm>
          <a:prstGeom prst="rect">
            <a:avLst/>
          </a:prstGeom>
          <a:noFill/>
          <a:ln/>
        </p:spPr>
        <p:txBody>
          <a:bodyPr wrap="square" lIns="0" tIns="0" rIns="0" bIns="0" rtlCol="0" anchor="ctr"/>
          <a:lstStyle/>
          <a:p>
            <a:pPr indent="0" marL="0">
              <a:lnSpc>
                <a:spcPct val="115000"/>
              </a:lnSpc>
              <a:buNone/>
            </a:pPr>
            <a:r>
              <a:rPr lang="en-US" sz="1000" dirty="0">
                <a:solidFill>
                  <a:srgbClr val="8FA0B4"/>
                </a:solidFill>
                <a:latin typeface="Arial" pitchFamily="34" charset="0"/>
                <a:ea typeface="Arial" pitchFamily="34" charset="-122"/>
                <a:cs typeface="Arial" pitchFamily="34" charset="-120"/>
              </a:rPr>
              <a:t>Auftrag geht direkt an den Grossisten</a:t>
            </a:r>
            <a:endParaRPr lang="en-US" sz="1000" dirty="0"/>
          </a:p>
        </p:txBody>
      </p:sp>
      <p:sp>
        <p:nvSpPr>
          <p:cNvPr id="18" name="Shape 16"/>
          <p:cNvSpPr/>
          <p:nvPr/>
        </p:nvSpPr>
        <p:spPr>
          <a:xfrm>
            <a:off x="7311542" y="2103120"/>
            <a:ext cx="2104949" cy="1828800"/>
          </a:xfrm>
          <a:prstGeom prst="roundRect">
            <a:avLst>
              <a:gd name="adj" fmla="val 2500"/>
            </a:avLst>
          </a:prstGeom>
          <a:solidFill>
            <a:srgbClr val="141B24"/>
          </a:solidFill>
          <a:ln w="9525">
            <a:solidFill>
              <a:srgbClr val="243040"/>
            </a:solidFill>
            <a:prstDash val="solid"/>
          </a:ln>
        </p:spPr>
      </p:sp>
      <p:sp>
        <p:nvSpPr>
          <p:cNvPr id="19" name="Text 17"/>
          <p:cNvSpPr/>
          <p:nvPr/>
        </p:nvSpPr>
        <p:spPr>
          <a:xfrm>
            <a:off x="7512710" y="2267712"/>
            <a:ext cx="548640" cy="274320"/>
          </a:xfrm>
          <a:prstGeom prst="rect">
            <a:avLst/>
          </a:prstGeom>
          <a:noFill/>
          <a:ln/>
        </p:spPr>
        <p:txBody>
          <a:bodyPr wrap="square" lIns="0" tIns="0" rIns="0" bIns="0" rtlCol="0" anchor="ctr"/>
          <a:lstStyle/>
          <a:p>
            <a:pPr indent="0" marL="0">
              <a:buNone/>
            </a:pPr>
            <a:r>
              <a:rPr lang="en-US" sz="1100" b="1" dirty="0">
                <a:solidFill>
                  <a:srgbClr val="6699FF"/>
                </a:solidFill>
                <a:latin typeface="Arial" pitchFamily="34" charset="0"/>
                <a:ea typeface="Arial" pitchFamily="34" charset="-122"/>
                <a:cs typeface="Arial" pitchFamily="34" charset="-120"/>
              </a:rPr>
              <a:t>4</a:t>
            </a:r>
            <a:endParaRPr lang="en-US" sz="1100" dirty="0"/>
          </a:p>
        </p:txBody>
      </p:sp>
      <p:sp>
        <p:nvSpPr>
          <p:cNvPr id="20" name="Text 18"/>
          <p:cNvSpPr/>
          <p:nvPr/>
        </p:nvSpPr>
        <p:spPr>
          <a:xfrm>
            <a:off x="7512710" y="2560320"/>
            <a:ext cx="1702613" cy="365760"/>
          </a:xfrm>
          <a:prstGeom prst="rect">
            <a:avLst/>
          </a:prstGeom>
          <a:noFill/>
          <a:ln/>
        </p:spPr>
        <p:txBody>
          <a:bodyPr wrap="square" lIns="0" tIns="0" rIns="0" bIns="0" rtlCol="0" anchor="ctr"/>
          <a:lstStyle/>
          <a:p>
            <a:pPr indent="0" marL="0">
              <a:buNone/>
            </a:pPr>
            <a:r>
              <a:rPr lang="en-US" sz="1350" b="1" dirty="0">
                <a:solidFill>
                  <a:srgbClr val="EDF2F7"/>
                </a:solidFill>
                <a:latin typeface="Arial" pitchFamily="34" charset="0"/>
                <a:ea typeface="Arial" pitchFamily="34" charset="-122"/>
                <a:cs typeface="Arial" pitchFamily="34" charset="-120"/>
              </a:rPr>
              <a:t>Refurbished</a:t>
            </a:r>
            <a:endParaRPr lang="en-US" sz="1350" dirty="0"/>
          </a:p>
        </p:txBody>
      </p:sp>
      <p:sp>
        <p:nvSpPr>
          <p:cNvPr id="21" name="Text 19"/>
          <p:cNvSpPr/>
          <p:nvPr/>
        </p:nvSpPr>
        <p:spPr>
          <a:xfrm>
            <a:off x="7512710" y="2944368"/>
            <a:ext cx="1702613" cy="822960"/>
          </a:xfrm>
          <a:prstGeom prst="rect">
            <a:avLst/>
          </a:prstGeom>
          <a:noFill/>
          <a:ln/>
        </p:spPr>
        <p:txBody>
          <a:bodyPr wrap="square" lIns="0" tIns="0" rIns="0" bIns="0" rtlCol="0" anchor="ctr"/>
          <a:lstStyle/>
          <a:p>
            <a:pPr indent="0" marL="0">
              <a:lnSpc>
                <a:spcPct val="115000"/>
              </a:lnSpc>
              <a:buNone/>
            </a:pPr>
            <a:r>
              <a:rPr lang="en-US" sz="1000" dirty="0">
                <a:solidFill>
                  <a:srgbClr val="8FA0B4"/>
                </a:solidFill>
                <a:latin typeface="Arial" pitchFamily="34" charset="0"/>
                <a:ea typeface="Arial" pitchFamily="34" charset="-122"/>
                <a:cs typeface="Arial" pitchFamily="34" charset="-120"/>
              </a:rPr>
              <a:t>Verschicken wir selber — versichert</a:t>
            </a:r>
            <a:endParaRPr lang="en-US" sz="1000" dirty="0"/>
          </a:p>
        </p:txBody>
      </p:sp>
      <p:sp>
        <p:nvSpPr>
          <p:cNvPr id="22" name="Shape 20"/>
          <p:cNvSpPr/>
          <p:nvPr/>
        </p:nvSpPr>
        <p:spPr>
          <a:xfrm>
            <a:off x="9581083" y="2103120"/>
            <a:ext cx="2104949" cy="1828800"/>
          </a:xfrm>
          <a:prstGeom prst="roundRect">
            <a:avLst>
              <a:gd name="adj" fmla="val 2500"/>
            </a:avLst>
          </a:prstGeom>
          <a:solidFill>
            <a:srgbClr val="141B24"/>
          </a:solidFill>
          <a:ln w="9525">
            <a:solidFill>
              <a:srgbClr val="243040"/>
            </a:solidFill>
            <a:prstDash val="solid"/>
          </a:ln>
        </p:spPr>
      </p:sp>
      <p:sp>
        <p:nvSpPr>
          <p:cNvPr id="23" name="Text 21"/>
          <p:cNvSpPr/>
          <p:nvPr/>
        </p:nvSpPr>
        <p:spPr>
          <a:xfrm>
            <a:off x="9782251" y="2267712"/>
            <a:ext cx="548640" cy="274320"/>
          </a:xfrm>
          <a:prstGeom prst="rect">
            <a:avLst/>
          </a:prstGeom>
          <a:noFill/>
          <a:ln/>
        </p:spPr>
        <p:txBody>
          <a:bodyPr wrap="square" lIns="0" tIns="0" rIns="0" bIns="0" rtlCol="0" anchor="ctr"/>
          <a:lstStyle/>
          <a:p>
            <a:pPr indent="0" marL="0">
              <a:buNone/>
            </a:pPr>
            <a:r>
              <a:rPr lang="en-US" sz="1100" b="1" dirty="0">
                <a:solidFill>
                  <a:srgbClr val="6699FF"/>
                </a:solidFill>
                <a:latin typeface="Arial" pitchFamily="34" charset="0"/>
                <a:ea typeface="Arial" pitchFamily="34" charset="-122"/>
                <a:cs typeface="Arial" pitchFamily="34" charset="-120"/>
              </a:rPr>
              <a:t>5</a:t>
            </a:r>
            <a:endParaRPr lang="en-US" sz="1100" dirty="0"/>
          </a:p>
        </p:txBody>
      </p:sp>
      <p:sp>
        <p:nvSpPr>
          <p:cNvPr id="24" name="Text 22"/>
          <p:cNvSpPr/>
          <p:nvPr/>
        </p:nvSpPr>
        <p:spPr>
          <a:xfrm>
            <a:off x="9782251" y="2560320"/>
            <a:ext cx="1702613" cy="365760"/>
          </a:xfrm>
          <a:prstGeom prst="rect">
            <a:avLst/>
          </a:prstGeom>
          <a:noFill/>
          <a:ln/>
        </p:spPr>
        <p:txBody>
          <a:bodyPr wrap="square" lIns="0" tIns="0" rIns="0" bIns="0" rtlCol="0" anchor="ctr"/>
          <a:lstStyle/>
          <a:p>
            <a:pPr indent="0" marL="0">
              <a:buNone/>
            </a:pPr>
            <a:r>
              <a:rPr lang="en-US" sz="1350" b="1" dirty="0">
                <a:solidFill>
                  <a:srgbClr val="EDF2F7"/>
                </a:solidFill>
                <a:latin typeface="Arial" pitchFamily="34" charset="0"/>
                <a:ea typeface="Arial" pitchFamily="34" charset="-122"/>
                <a:cs typeface="Arial" pitchFamily="34" charset="-120"/>
              </a:rPr>
              <a:t>Zustellung</a:t>
            </a:r>
            <a:endParaRPr lang="en-US" sz="1350" dirty="0"/>
          </a:p>
        </p:txBody>
      </p:sp>
      <p:sp>
        <p:nvSpPr>
          <p:cNvPr id="25" name="Text 23"/>
          <p:cNvSpPr/>
          <p:nvPr/>
        </p:nvSpPr>
        <p:spPr>
          <a:xfrm>
            <a:off x="9782251" y="2944368"/>
            <a:ext cx="1702613" cy="822960"/>
          </a:xfrm>
          <a:prstGeom prst="rect">
            <a:avLst/>
          </a:prstGeom>
          <a:noFill/>
          <a:ln/>
        </p:spPr>
        <p:txBody>
          <a:bodyPr wrap="square" lIns="0" tIns="0" rIns="0" bIns="0" rtlCol="0" anchor="ctr"/>
          <a:lstStyle/>
          <a:p>
            <a:pPr indent="0" marL="0">
              <a:lnSpc>
                <a:spcPct val="115000"/>
              </a:lnSpc>
              <a:buNone/>
            </a:pPr>
            <a:r>
              <a:rPr lang="en-US" sz="1000" dirty="0">
                <a:solidFill>
                  <a:srgbClr val="8FA0B4"/>
                </a:solidFill>
                <a:latin typeface="Arial" pitchFamily="34" charset="0"/>
                <a:ea typeface="Arial" pitchFamily="34" charset="-122"/>
                <a:cs typeface="Arial" pitchFamily="34" charset="-120"/>
              </a:rPr>
              <a:t>2–3 Tage, Rechnung per Mail</a:t>
            </a:r>
            <a:endParaRPr lang="en-US" sz="1000" dirty="0"/>
          </a:p>
        </p:txBody>
      </p:sp>
      <p:sp>
        <p:nvSpPr>
          <p:cNvPr id="26" name="Text 24"/>
          <p:cNvSpPr/>
          <p:nvPr/>
        </p:nvSpPr>
        <p:spPr>
          <a:xfrm>
            <a:off x="502920" y="4389120"/>
            <a:ext cx="10515600" cy="685800"/>
          </a:xfrm>
          <a:prstGeom prst="rect">
            <a:avLst/>
          </a:prstGeom>
          <a:noFill/>
          <a:ln/>
        </p:spPr>
        <p:txBody>
          <a:bodyPr wrap="square" lIns="0" tIns="0" rIns="0" bIns="0" rtlCol="0" anchor="ctr"/>
          <a:lstStyle/>
          <a:p>
            <a:pPr indent="0" marL="0">
              <a:lnSpc>
                <a:spcPct val="120000"/>
              </a:lnSpc>
              <a:buNone/>
            </a:pPr>
            <a:r>
              <a:rPr lang="en-US" sz="1350" dirty="0">
                <a:solidFill>
                  <a:srgbClr val="8FA0B4"/>
                </a:solidFill>
                <a:latin typeface="Arial" pitchFamily="34" charset="0"/>
                <a:ea typeface="Arial" pitchFamily="34" charset="-122"/>
                <a:cs typeface="Arial" pitchFamily="34" charset="-120"/>
              </a:rPr>
              <a:t>Teure Geräte reisen bei uns immer versichert — ein verlorenes iPhone wäre ein halber Monatsgewinn.</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73" fill="hold">
                      <p:stCondLst>
                        <p:cond delay="indefinite"/>
                        <p:cond evt="onBegin" delay="0">
                          <p:tn val="2"/>
                        </p:cond>
                      </p:stCondLst>
                      <p:childTnLst>
                        <p:par>
                          <p:cTn id="72"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00"/>
                                        <p:tgtEl>
                                          <p:spTgt spid="8"/>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00"/>
                                        <p:tgtEl>
                                          <p:spTgt spid="9"/>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00"/>
                                        <p:tgtEl>
                                          <p:spTgt spid="10"/>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00"/>
                                        <p:tgtEl>
                                          <p:spTgt spid="11"/>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00"/>
                                        <p:tgtEl>
                                          <p:spTgt spid="12"/>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00"/>
                                        <p:tgtEl>
                                          <p:spTgt spid="13"/>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00"/>
                                        <p:tgtEl>
                                          <p:spTgt spid="14"/>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00"/>
                                        <p:tgtEl>
                                          <p:spTgt spid="15"/>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00"/>
                                        <p:tgtEl>
                                          <p:spTgt spid="16"/>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00"/>
                                        <p:tgtEl>
                                          <p:spTgt spid="17"/>
                                        </p:tgtEl>
                                      </p:cBhvr>
                                    </p:animEffect>
                                  </p:childTnLst>
                                </p:cTn>
                              </p:par>
                              <p:par>
                                <p:cTn id="45" presetID="10" presetClass="entr" presetSubtype="0" fill="hold" grpId="0" nodeType="afterEffect">
                                  <p:stCondLst>
                                    <p:cond delay="182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00"/>
                                        <p:tgtEl>
                                          <p:spTgt spid="18"/>
                                        </p:tgtEl>
                                      </p:cBhvr>
                                    </p:animEffect>
                                  </p:childTnLst>
                                </p:cTn>
                              </p:par>
                              <p:par>
                                <p:cTn id="48" presetID="10" presetClass="entr" presetSubtype="0" fill="hold" grpId="0" nodeType="afterEffect">
                                  <p:stCondLst>
                                    <p:cond delay="195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00"/>
                                        <p:tgtEl>
                                          <p:spTgt spid="19"/>
                                        </p:tgtEl>
                                      </p:cBhvr>
                                    </p:animEffect>
                                  </p:childTnLst>
                                </p:cTn>
                              </p:par>
                              <p:par>
                                <p:cTn id="51" presetID="10" presetClass="entr" presetSubtype="0" fill="hold" grpId="0" nodeType="afterEffect">
                                  <p:stCondLst>
                                    <p:cond delay="208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00"/>
                                        <p:tgtEl>
                                          <p:spTgt spid="20"/>
                                        </p:tgtEl>
                                      </p:cBhvr>
                                    </p:animEffect>
                                  </p:childTnLst>
                                </p:cTn>
                              </p:par>
                              <p:par>
                                <p:cTn id="54" presetID="10" presetClass="entr" presetSubtype="0" fill="hold" grpId="0" nodeType="afterEffect">
                                  <p:stCondLst>
                                    <p:cond delay="221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00"/>
                                        <p:tgtEl>
                                          <p:spTgt spid="21"/>
                                        </p:tgtEl>
                                      </p:cBhvr>
                                    </p:animEffect>
                                  </p:childTnLst>
                                </p:cTn>
                              </p:par>
                              <p:par>
                                <p:cTn id="57" presetID="10" presetClass="entr" presetSubtype="0" fill="hold" grpId="0" nodeType="afterEffect">
                                  <p:stCondLst>
                                    <p:cond delay="234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00"/>
                                        <p:tgtEl>
                                          <p:spTgt spid="22"/>
                                        </p:tgtEl>
                                      </p:cBhvr>
                                    </p:animEffect>
                                  </p:childTnLst>
                                </p:cTn>
                              </p:par>
                              <p:par>
                                <p:cTn id="60" presetID="10" presetClass="entr" presetSubtype="0" fill="hold" grpId="0" nodeType="afterEffect">
                                  <p:stCondLst>
                                    <p:cond delay="247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400"/>
                                        <p:tgtEl>
                                          <p:spTgt spid="23"/>
                                        </p:tgtEl>
                                      </p:cBhvr>
                                    </p:animEffect>
                                  </p:childTnLst>
                                </p:cTn>
                              </p:par>
                              <p:par>
                                <p:cTn id="63" presetID="10" presetClass="entr" presetSubtype="0" fill="hold" grpId="0" nodeType="afterEffect">
                                  <p:stCondLst>
                                    <p:cond delay="260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400"/>
                                        <p:tgtEl>
                                          <p:spTgt spid="24"/>
                                        </p:tgtEl>
                                      </p:cBhvr>
                                    </p:animEffect>
                                  </p:childTnLst>
                                </p:cTn>
                              </p:par>
                              <p:par>
                                <p:cTn id="66" presetID="10" presetClass="entr" presetSubtype="0" fill="hold" grpId="0" nodeType="afterEffect">
                                  <p:stCondLst>
                                    <p:cond delay="273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400"/>
                                        <p:tgtEl>
                                          <p:spTgt spid="25"/>
                                        </p:tgtEl>
                                      </p:cBhvr>
                                    </p:animEffect>
                                  </p:childTnLst>
                                </p:cTn>
                              </p:par>
                              <p:par>
                                <p:cTn id="69" presetID="10" presetClass="entr" presetSubtype="0" fill="hold" grpId="0" nodeType="afterEffect">
                                  <p:stCondLst>
                                    <p:cond delay="286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21</a:t>
            </a:r>
            <a:endParaRPr lang="en-US" sz="850" dirty="0"/>
          </a:p>
        </p:txBody>
      </p:sp>
      <p:sp>
        <p:nvSpPr>
          <p:cNvPr id="4" name="chrome-reserve"/>
          <p:cNvSpPr/>
          <p:nvPr/>
        </p:nvSpPr>
        <p:spPr>
          <a:xfrm>
            <a:off x="8778240" y="384048"/>
            <a:ext cx="2926080" cy="274320"/>
          </a:xfrm>
          <a:prstGeom prst="rect">
            <a:avLst/>
          </a:prstGeom>
          <a:noFill/>
          <a:ln/>
        </p:spPr>
        <p:txBody>
          <a:bodyPr wrap="square" lIns="0" tIns="0" rIns="0" bIns="0" rtlCol="0" anchor="ctr"/>
          <a:lstStyle/>
          <a:p>
            <a:pPr algn="r" indent="0" marL="0">
              <a:buNone/>
            </a:pPr>
            <a:r>
              <a:rPr lang="en-US" sz="900" b="1" spc="200" kern="0" dirty="0">
                <a:solidFill>
                  <a:srgbClr val="5C6E82"/>
                </a:solidFill>
                <a:latin typeface="Arial" pitchFamily="34" charset="0"/>
                <a:ea typeface="Arial" pitchFamily="34" charset="-122"/>
                <a:cs typeface="Arial" pitchFamily="34" charset="-120"/>
              </a:rPr>
              <a:t>RESERVE · NUR BEI NACHFRAGE</a:t>
            </a:r>
            <a:endParaRPr lang="en-US" sz="900" dirty="0"/>
          </a:p>
        </p:txBody>
      </p:sp>
      <p:sp>
        <p:nvSpPr>
          <p:cNvPr id="5" name="Text 3"/>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6699FF"/>
                </a:solidFill>
                <a:latin typeface="Arial" pitchFamily="34" charset="0"/>
                <a:ea typeface="Arial" pitchFamily="34" charset="-122"/>
                <a:cs typeface="Arial" pitchFamily="34" charset="-120"/>
              </a:rPr>
              <a:t>12 · ZAHLUNG &amp; VERSAND</a:t>
            </a:r>
            <a:endParaRPr lang="en-US" sz="1050" dirty="0"/>
          </a:p>
        </p:txBody>
      </p:sp>
      <p:sp>
        <p:nvSpPr>
          <p:cNvPr id="6" name="Text 4"/>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Bezahlen — und eine bewusste Lücke</a:t>
            </a:r>
            <a:endParaRPr lang="en-US" sz="3000" dirty="0"/>
          </a:p>
        </p:txBody>
      </p:sp>
      <p:sp>
        <p:nvSpPr>
          <p:cNvPr id="7" name="Shape 5"/>
          <p:cNvSpPr/>
          <p:nvPr/>
        </p:nvSpPr>
        <p:spPr>
          <a:xfrm>
            <a:off x="502920" y="2103120"/>
            <a:ext cx="3593592" cy="2468880"/>
          </a:xfrm>
          <a:prstGeom prst="roundRect">
            <a:avLst>
              <a:gd name="adj" fmla="val 1852"/>
            </a:avLst>
          </a:prstGeom>
          <a:solidFill>
            <a:srgbClr val="141B24"/>
          </a:solidFill>
          <a:ln w="9525">
            <a:solidFill>
              <a:srgbClr val="243040"/>
            </a:solidFill>
            <a:prstDash val="solid"/>
          </a:ln>
        </p:spPr>
      </p:sp>
      <p:sp>
        <p:nvSpPr>
          <p:cNvPr id="8" name="Text 6"/>
          <p:cNvSpPr/>
          <p:nvPr/>
        </p:nvSpPr>
        <p:spPr>
          <a:xfrm>
            <a:off x="758952" y="2304288"/>
            <a:ext cx="3081528" cy="256032"/>
          </a:xfrm>
          <a:prstGeom prst="rect">
            <a:avLst/>
          </a:prstGeom>
          <a:noFill/>
          <a:ln/>
        </p:spPr>
        <p:txBody>
          <a:bodyPr wrap="square" lIns="0" tIns="0" rIns="0" bIns="0" rtlCol="0" anchor="ctr"/>
          <a:lstStyle/>
          <a:p>
            <a:pPr indent="0" marL="0">
              <a:buNone/>
            </a:pPr>
            <a:r>
              <a:rPr lang="en-US" sz="900" b="1" spc="200" kern="0" dirty="0">
                <a:solidFill>
                  <a:srgbClr val="6699FF"/>
                </a:solidFill>
                <a:latin typeface="Arial" pitchFamily="34" charset="0"/>
                <a:ea typeface="Arial" pitchFamily="34" charset="-122"/>
                <a:cs typeface="Arial" pitchFamily="34" charset="-120"/>
              </a:rPr>
              <a:t>ZAHLUNG</a:t>
            </a:r>
            <a:endParaRPr lang="en-US" sz="900" dirty="0"/>
          </a:p>
        </p:txBody>
      </p:sp>
      <p:sp>
        <p:nvSpPr>
          <p:cNvPr id="9" name="Text 7"/>
          <p:cNvSpPr/>
          <p:nvPr/>
        </p:nvSpPr>
        <p:spPr>
          <a:xfrm>
            <a:off x="758952" y="2606040"/>
            <a:ext cx="3081528" cy="566928"/>
          </a:xfrm>
          <a:prstGeom prst="rect">
            <a:avLst/>
          </a:prstGeom>
          <a:noFill/>
          <a:ln/>
        </p:spPr>
        <p:txBody>
          <a:bodyPr wrap="square" lIns="0" tIns="0" rIns="0" bIns="0" rtlCol="0" anchor="ctr"/>
          <a:lstStyle/>
          <a:p>
            <a:pPr indent="0" marL="0">
              <a:lnSpc>
                <a:spcPct val="105000"/>
              </a:lnSpc>
              <a:buNone/>
            </a:pPr>
            <a:r>
              <a:rPr lang="en-US" sz="1500" b="1" dirty="0">
                <a:solidFill>
                  <a:srgbClr val="EDF2F7"/>
                </a:solidFill>
                <a:latin typeface="Arial" pitchFamily="34" charset="0"/>
                <a:ea typeface="Arial" pitchFamily="34" charset="-122"/>
                <a:cs typeface="Arial" pitchFamily="34" charset="-120"/>
              </a:rPr>
              <a:t>TWINT zuerst</a:t>
            </a:r>
            <a:endParaRPr lang="en-US" sz="1500" dirty="0"/>
          </a:p>
        </p:txBody>
      </p:sp>
      <p:sp>
        <p:nvSpPr>
          <p:cNvPr id="10" name="Text 8"/>
          <p:cNvSpPr/>
          <p:nvPr/>
        </p:nvSpPr>
        <p:spPr>
          <a:xfrm>
            <a:off x="758952" y="3200400"/>
            <a:ext cx="3081528" cy="118872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Die meistgenutzte Zahlungsart der Schweiz. Ohne sie verliert man Bestellungen.</a:t>
            </a:r>
            <a:endParaRPr lang="en-US" sz="1100" dirty="0"/>
          </a:p>
        </p:txBody>
      </p:sp>
      <p:sp>
        <p:nvSpPr>
          <p:cNvPr id="11" name="Shape 9"/>
          <p:cNvSpPr/>
          <p:nvPr/>
        </p:nvSpPr>
        <p:spPr>
          <a:xfrm>
            <a:off x="4297680" y="2103120"/>
            <a:ext cx="3593592" cy="2468880"/>
          </a:xfrm>
          <a:prstGeom prst="roundRect">
            <a:avLst>
              <a:gd name="adj" fmla="val 1852"/>
            </a:avLst>
          </a:prstGeom>
          <a:solidFill>
            <a:srgbClr val="141B24"/>
          </a:solidFill>
          <a:ln w="9525">
            <a:solidFill>
              <a:srgbClr val="243040"/>
            </a:solidFill>
            <a:prstDash val="solid"/>
          </a:ln>
        </p:spPr>
      </p:sp>
      <p:sp>
        <p:nvSpPr>
          <p:cNvPr id="12" name="Text 10"/>
          <p:cNvSpPr/>
          <p:nvPr/>
        </p:nvSpPr>
        <p:spPr>
          <a:xfrm>
            <a:off x="4553712" y="2304288"/>
            <a:ext cx="3081528" cy="256032"/>
          </a:xfrm>
          <a:prstGeom prst="rect">
            <a:avLst/>
          </a:prstGeom>
          <a:noFill/>
          <a:ln/>
        </p:spPr>
        <p:txBody>
          <a:bodyPr wrap="square" lIns="0" tIns="0" rIns="0" bIns="0" rtlCol="0" anchor="ctr"/>
          <a:lstStyle/>
          <a:p>
            <a:pPr indent="0" marL="0">
              <a:buNone/>
            </a:pPr>
            <a:r>
              <a:rPr lang="en-US" sz="900" b="1" spc="200" kern="0" dirty="0">
                <a:solidFill>
                  <a:srgbClr val="6699FF"/>
                </a:solidFill>
                <a:latin typeface="Arial" pitchFamily="34" charset="0"/>
                <a:ea typeface="Arial" pitchFamily="34" charset="-122"/>
                <a:cs typeface="Arial" pitchFamily="34" charset="-120"/>
              </a:rPr>
              <a:t>ZAHLUNG</a:t>
            </a:r>
            <a:endParaRPr lang="en-US" sz="900" dirty="0"/>
          </a:p>
        </p:txBody>
      </p:sp>
      <p:sp>
        <p:nvSpPr>
          <p:cNvPr id="13" name="Text 11"/>
          <p:cNvSpPr/>
          <p:nvPr/>
        </p:nvSpPr>
        <p:spPr>
          <a:xfrm>
            <a:off x="4553712" y="2606040"/>
            <a:ext cx="3081528" cy="566928"/>
          </a:xfrm>
          <a:prstGeom prst="rect">
            <a:avLst/>
          </a:prstGeom>
          <a:noFill/>
          <a:ln/>
        </p:spPr>
        <p:txBody>
          <a:bodyPr wrap="square" lIns="0" tIns="0" rIns="0" bIns="0" rtlCol="0" anchor="ctr"/>
          <a:lstStyle/>
          <a:p>
            <a:pPr indent="0" marL="0">
              <a:lnSpc>
                <a:spcPct val="105000"/>
              </a:lnSpc>
              <a:buNone/>
            </a:pPr>
            <a:r>
              <a:rPr lang="en-US" sz="1500" b="1" dirty="0">
                <a:solidFill>
                  <a:srgbClr val="EDF2F7"/>
                </a:solidFill>
                <a:latin typeface="Arial" pitchFamily="34" charset="0"/>
                <a:ea typeface="Arial" pitchFamily="34" charset="-122"/>
                <a:cs typeface="Arial" pitchFamily="34" charset="-120"/>
              </a:rPr>
              <a:t>Karte</a:t>
            </a:r>
            <a:endParaRPr lang="en-US" sz="1500" dirty="0"/>
          </a:p>
        </p:txBody>
      </p:sp>
      <p:sp>
        <p:nvSpPr>
          <p:cNvPr id="14" name="Text 12"/>
          <p:cNvSpPr/>
          <p:nvPr/>
        </p:nvSpPr>
        <p:spPr>
          <a:xfrm>
            <a:off x="4553712" y="3200400"/>
            <a:ext cx="3081528" cy="118872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Für alle anderen — abgewickelt über Shopify Payments.</a:t>
            </a:r>
            <a:endParaRPr lang="en-US" sz="1100" dirty="0"/>
          </a:p>
        </p:txBody>
      </p:sp>
      <p:sp>
        <p:nvSpPr>
          <p:cNvPr id="15" name="Shape 13"/>
          <p:cNvSpPr/>
          <p:nvPr/>
        </p:nvSpPr>
        <p:spPr>
          <a:xfrm>
            <a:off x="8092440" y="2103120"/>
            <a:ext cx="3593592" cy="2468880"/>
          </a:xfrm>
          <a:prstGeom prst="roundRect">
            <a:avLst>
              <a:gd name="adj" fmla="val 1852"/>
            </a:avLst>
          </a:prstGeom>
          <a:solidFill>
            <a:srgbClr val="141B24"/>
          </a:solidFill>
          <a:ln w="9525">
            <a:solidFill>
              <a:srgbClr val="243040"/>
            </a:solidFill>
            <a:prstDash val="solid"/>
          </a:ln>
        </p:spPr>
      </p:sp>
      <p:sp>
        <p:nvSpPr>
          <p:cNvPr id="16" name="Text 14"/>
          <p:cNvSpPr/>
          <p:nvPr/>
        </p:nvSpPr>
        <p:spPr>
          <a:xfrm>
            <a:off x="8348472" y="2304288"/>
            <a:ext cx="3081528" cy="256032"/>
          </a:xfrm>
          <a:prstGeom prst="rect">
            <a:avLst/>
          </a:prstGeom>
          <a:noFill/>
          <a:ln/>
        </p:spPr>
        <p:txBody>
          <a:bodyPr wrap="square" lIns="0" tIns="0" rIns="0" bIns="0" rtlCol="0" anchor="ctr"/>
          <a:lstStyle/>
          <a:p>
            <a:pPr indent="0" marL="0">
              <a:buNone/>
            </a:pPr>
            <a:r>
              <a:rPr lang="en-US" sz="900" b="1" spc="200" kern="0" dirty="0">
                <a:solidFill>
                  <a:srgbClr val="6699FF"/>
                </a:solidFill>
                <a:latin typeface="Arial" pitchFamily="34" charset="0"/>
                <a:ea typeface="Arial" pitchFamily="34" charset="-122"/>
                <a:cs typeface="Arial" pitchFamily="34" charset="-120"/>
              </a:rPr>
              <a:t>BEWUSST NICHT</a:t>
            </a:r>
            <a:endParaRPr lang="en-US" sz="900" dirty="0"/>
          </a:p>
        </p:txBody>
      </p:sp>
      <p:sp>
        <p:nvSpPr>
          <p:cNvPr id="17" name="Text 15"/>
          <p:cNvSpPr/>
          <p:nvPr/>
        </p:nvSpPr>
        <p:spPr>
          <a:xfrm>
            <a:off x="8348472" y="2606040"/>
            <a:ext cx="3081528" cy="566928"/>
          </a:xfrm>
          <a:prstGeom prst="rect">
            <a:avLst/>
          </a:prstGeom>
          <a:noFill/>
          <a:ln/>
        </p:spPr>
        <p:txBody>
          <a:bodyPr wrap="square" lIns="0" tIns="0" rIns="0" bIns="0" rtlCol="0" anchor="ctr"/>
          <a:lstStyle/>
          <a:p>
            <a:pPr indent="0" marL="0">
              <a:lnSpc>
                <a:spcPct val="105000"/>
              </a:lnSpc>
              <a:buNone/>
            </a:pPr>
            <a:r>
              <a:rPr lang="en-US" sz="1500" b="1" dirty="0">
                <a:solidFill>
                  <a:srgbClr val="EDF2F7"/>
                </a:solidFill>
                <a:latin typeface="Arial" pitchFamily="34" charset="0"/>
                <a:ea typeface="Arial" pitchFamily="34" charset="-122"/>
                <a:cs typeface="Arial" pitchFamily="34" charset="-120"/>
              </a:rPr>
              <a:t>Kauf auf Rechnung</a:t>
            </a:r>
            <a:endParaRPr lang="en-US" sz="1500" dirty="0"/>
          </a:p>
        </p:txBody>
      </p:sp>
      <p:sp>
        <p:nvSpPr>
          <p:cNvPr id="18" name="Text 16"/>
          <p:cNvSpPr/>
          <p:nvPr/>
        </p:nvSpPr>
        <p:spPr>
          <a:xfrm>
            <a:off x="8348472" y="3200400"/>
            <a:ext cx="3081528" cy="118872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Bei 800-Franken-Geräten zu viel Betrugsrisiko. Eine Risikoentscheidung.</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46" fill="hold">
                      <p:stCondLst>
                        <p:cond delay="indefinite"/>
                        <p:cond evt="onBegin" delay="0">
                          <p:tn val="2"/>
                        </p:cond>
                      </p:stCondLst>
                      <p:childTnLst>
                        <p:par>
                          <p:cTn id="45"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00"/>
                                        <p:tgtEl>
                                          <p:spTgt spid="11"/>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00"/>
                                        <p:tgtEl>
                                          <p:spTgt spid="12"/>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00"/>
                                        <p:tgtEl>
                                          <p:spTgt spid="13"/>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00"/>
                                        <p:tgtEl>
                                          <p:spTgt spid="14"/>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00"/>
                                        <p:tgtEl>
                                          <p:spTgt spid="15"/>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400"/>
                                        <p:tgtEl>
                                          <p:spTgt spid="16"/>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22</a:t>
            </a:r>
            <a:endParaRPr lang="en-US" sz="850" dirty="0"/>
          </a:p>
        </p:txBody>
      </p:sp>
      <p:sp>
        <p:nvSpPr>
          <p:cNvPr id="4" name="Text 2"/>
          <p:cNvSpPr/>
          <p:nvPr/>
        </p:nvSpPr>
        <p:spPr>
          <a:xfrm>
            <a:off x="1527048" y="1965960"/>
            <a:ext cx="9144000" cy="320040"/>
          </a:xfrm>
          <a:prstGeom prst="rect">
            <a:avLst/>
          </a:prstGeom>
          <a:noFill/>
          <a:ln/>
        </p:spPr>
        <p:txBody>
          <a:bodyPr wrap="square" lIns="0" tIns="0" rIns="0" bIns="0" rtlCol="0" anchor="ctr"/>
          <a:lstStyle/>
          <a:p>
            <a:pPr algn="ctr" indent="0" marL="0">
              <a:buNone/>
            </a:pPr>
            <a:r>
              <a:rPr lang="en-US" sz="1200" b="1" spc="500" kern="0" dirty="0">
                <a:solidFill>
                  <a:srgbClr val="5C6E82"/>
                </a:solidFill>
                <a:latin typeface="Arial" pitchFamily="34" charset="0"/>
                <a:ea typeface="Arial" pitchFamily="34" charset="-122"/>
                <a:cs typeface="Arial" pitchFamily="34" charset="-120"/>
              </a:rPr>
              <a:t>TEIL 5 VON 5</a:t>
            </a:r>
            <a:endParaRPr lang="en-US" sz="1200" dirty="0"/>
          </a:p>
        </p:txBody>
      </p:sp>
      <p:sp>
        <p:nvSpPr>
          <p:cNvPr id="5" name="Text 3"/>
          <p:cNvSpPr/>
          <p:nvPr/>
        </p:nvSpPr>
        <p:spPr>
          <a:xfrm>
            <a:off x="612648" y="2331720"/>
            <a:ext cx="10972800" cy="1737360"/>
          </a:xfrm>
          <a:prstGeom prst="rect">
            <a:avLst/>
          </a:prstGeom>
          <a:noFill/>
          <a:ln/>
        </p:spPr>
        <p:txBody>
          <a:bodyPr wrap="square" lIns="0" tIns="0" rIns="0" bIns="0" rtlCol="0" anchor="ctr"/>
          <a:lstStyle/>
          <a:p>
            <a:pPr algn="ctr" indent="0" marL="0">
              <a:buNone/>
            </a:pPr>
            <a:r>
              <a:rPr lang="en-US" sz="8400" b="1" dirty="0">
                <a:solidFill>
                  <a:srgbClr val="C58BFF"/>
                </a:solidFill>
                <a:latin typeface="Arial" pitchFamily="34" charset="0"/>
                <a:ea typeface="Arial" pitchFamily="34" charset="-122"/>
                <a:cs typeface="Arial" pitchFamily="34" charset="-120"/>
              </a:rPr>
              <a:t>Kim</a:t>
            </a:r>
            <a:endParaRPr lang="en-US" sz="8400" dirty="0"/>
          </a:p>
        </p:txBody>
      </p:sp>
      <p:sp>
        <p:nvSpPr>
          <p:cNvPr id="6" name="Text 4"/>
          <p:cNvSpPr/>
          <p:nvPr/>
        </p:nvSpPr>
        <p:spPr>
          <a:xfrm>
            <a:off x="1527048" y="4206240"/>
            <a:ext cx="9144000" cy="502920"/>
          </a:xfrm>
          <a:prstGeom prst="rect">
            <a:avLst/>
          </a:prstGeom>
          <a:noFill/>
          <a:ln/>
        </p:spPr>
        <p:txBody>
          <a:bodyPr wrap="square" lIns="0" tIns="0" rIns="0" bIns="0" rtlCol="0" anchor="ctr"/>
          <a:lstStyle/>
          <a:p>
            <a:pPr algn="ctr" indent="0" marL="0">
              <a:buNone/>
            </a:pPr>
            <a:r>
              <a:rPr lang="en-US" sz="1900" dirty="0">
                <a:solidFill>
                  <a:srgbClr val="8FA0B4"/>
                </a:solidFill>
                <a:latin typeface="Arial" pitchFamily="34" charset="0"/>
                <a:ea typeface="Arial" pitchFamily="34" charset="-122"/>
                <a:cs typeface="Arial" pitchFamily="34" charset="-120"/>
              </a:rPr>
              <a:t>Recht, Zahlen und Schluss</a:t>
            </a:r>
            <a:endParaRPr lang="en-US" sz="1900" dirty="0"/>
          </a:p>
        </p:txBody>
      </p:sp>
      <p:sp>
        <p:nvSpPr>
          <p:cNvPr id="7" name="Text 5"/>
          <p:cNvSpPr/>
          <p:nvPr/>
        </p:nvSpPr>
        <p:spPr>
          <a:xfrm>
            <a:off x="1527048" y="4846320"/>
            <a:ext cx="9144000" cy="320040"/>
          </a:xfrm>
          <a:prstGeom prst="rect">
            <a:avLst/>
          </a:prstGeom>
          <a:noFill/>
          <a:ln/>
        </p:spPr>
        <p:txBody>
          <a:bodyPr wrap="square" lIns="0" tIns="0" rIns="0" bIns="0" rtlCol="0" anchor="ctr"/>
          <a:lstStyle/>
          <a:p>
            <a:pPr algn="ctr" indent="0" marL="0">
              <a:buNone/>
            </a:pPr>
            <a:r>
              <a:rPr lang="en-US" sz="1100" b="1" spc="300" kern="0" dirty="0">
                <a:solidFill>
                  <a:srgbClr val="5C6E82"/>
                </a:solidFill>
                <a:latin typeface="Arial" pitchFamily="34" charset="0"/>
                <a:ea typeface="Arial" pitchFamily="34" charset="-122"/>
                <a:cs typeface="Arial" pitchFamily="34" charset="-120"/>
              </a:rPr>
              <a:t>1–2 MINUTEN</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6" fill="hold">
                      <p:stCondLst>
                        <p:cond delay="indefinite"/>
                        <p:cond evt="onBegin" delay="0">
                          <p:tn val="2"/>
                        </p:cond>
                      </p:stCondLst>
                      <p:childTnLst>
                        <p:par>
                          <p:cTn id="15"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23</a:t>
            </a:r>
            <a:endParaRPr lang="en-US" sz="850" dirty="0"/>
          </a:p>
        </p:txBody>
      </p:sp>
      <p:sp>
        <p:nvSpPr>
          <p:cNvPr id="4" name="chrome-reserve"/>
          <p:cNvSpPr/>
          <p:nvPr/>
        </p:nvSpPr>
        <p:spPr>
          <a:xfrm>
            <a:off x="8778240" y="384048"/>
            <a:ext cx="2926080" cy="274320"/>
          </a:xfrm>
          <a:prstGeom prst="rect">
            <a:avLst/>
          </a:prstGeom>
          <a:noFill/>
          <a:ln/>
        </p:spPr>
        <p:txBody>
          <a:bodyPr wrap="square" lIns="0" tIns="0" rIns="0" bIns="0" rtlCol="0" anchor="ctr"/>
          <a:lstStyle/>
          <a:p>
            <a:pPr algn="r" indent="0" marL="0">
              <a:buNone/>
            </a:pPr>
            <a:r>
              <a:rPr lang="en-US" sz="900" b="1" spc="200" kern="0" dirty="0">
                <a:solidFill>
                  <a:srgbClr val="5C6E82"/>
                </a:solidFill>
                <a:latin typeface="Arial" pitchFamily="34" charset="0"/>
                <a:ea typeface="Arial" pitchFamily="34" charset="-122"/>
                <a:cs typeface="Arial" pitchFamily="34" charset="-120"/>
              </a:rPr>
              <a:t>RESERVE · NUR BEI NACHFRAGE</a:t>
            </a:r>
            <a:endParaRPr lang="en-US" sz="900" dirty="0"/>
          </a:p>
        </p:txBody>
      </p:sp>
      <p:sp>
        <p:nvSpPr>
          <p:cNvPr id="5" name="Text 3"/>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C58BFF"/>
                </a:solidFill>
                <a:latin typeface="Arial" pitchFamily="34" charset="0"/>
                <a:ea typeface="Arial" pitchFamily="34" charset="-122"/>
                <a:cs typeface="Arial" pitchFamily="34" charset="-120"/>
              </a:rPr>
              <a:t>13 · RECHT</a:t>
            </a:r>
            <a:endParaRPr lang="en-US" sz="1050" dirty="0"/>
          </a:p>
        </p:txBody>
      </p:sp>
      <p:sp>
        <p:nvSpPr>
          <p:cNvPr id="6" name="Text 4"/>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Was das Gesetz verlangt</a:t>
            </a:r>
            <a:endParaRPr lang="en-US" sz="3000" dirty="0"/>
          </a:p>
        </p:txBody>
      </p:sp>
      <p:sp>
        <p:nvSpPr>
          <p:cNvPr id="7" name="Shape 5"/>
          <p:cNvSpPr/>
          <p:nvPr/>
        </p:nvSpPr>
        <p:spPr>
          <a:xfrm>
            <a:off x="502920" y="1783080"/>
            <a:ext cx="5490972" cy="1920240"/>
          </a:xfrm>
          <a:prstGeom prst="roundRect">
            <a:avLst>
              <a:gd name="adj" fmla="val 2381"/>
            </a:avLst>
          </a:prstGeom>
          <a:solidFill>
            <a:srgbClr val="141B24"/>
          </a:solidFill>
          <a:ln w="9525">
            <a:solidFill>
              <a:srgbClr val="243040"/>
            </a:solidFill>
            <a:prstDash val="solid"/>
          </a:ln>
        </p:spPr>
      </p:sp>
      <p:sp>
        <p:nvSpPr>
          <p:cNvPr id="8" name="Text 6"/>
          <p:cNvSpPr/>
          <p:nvPr/>
        </p:nvSpPr>
        <p:spPr>
          <a:xfrm>
            <a:off x="758952" y="1965960"/>
            <a:ext cx="4978908" cy="237744"/>
          </a:xfrm>
          <a:prstGeom prst="rect">
            <a:avLst/>
          </a:prstGeom>
          <a:noFill/>
          <a:ln/>
        </p:spPr>
        <p:txBody>
          <a:bodyPr wrap="square" lIns="0" tIns="0" rIns="0" bIns="0" rtlCol="0" anchor="ctr"/>
          <a:lstStyle/>
          <a:p>
            <a:pPr indent="0" marL="0">
              <a:buNone/>
            </a:pPr>
            <a:r>
              <a:rPr lang="en-US" sz="900" b="1" spc="200" kern="0" dirty="0">
                <a:solidFill>
                  <a:srgbClr val="C58BFF"/>
                </a:solidFill>
                <a:latin typeface="Arial" pitchFamily="34" charset="0"/>
                <a:ea typeface="Arial" pitchFamily="34" charset="-122"/>
                <a:cs typeface="Arial" pitchFamily="34" charset="-120"/>
              </a:rPr>
              <a:t>PFLICHT · UWG</a:t>
            </a:r>
            <a:endParaRPr lang="en-US" sz="900" dirty="0"/>
          </a:p>
        </p:txBody>
      </p:sp>
      <p:sp>
        <p:nvSpPr>
          <p:cNvPr id="9" name="Text 7"/>
          <p:cNvSpPr/>
          <p:nvPr/>
        </p:nvSpPr>
        <p:spPr>
          <a:xfrm>
            <a:off x="758952" y="2240280"/>
            <a:ext cx="4978908" cy="411480"/>
          </a:xfrm>
          <a:prstGeom prst="rect">
            <a:avLst/>
          </a:prstGeom>
          <a:noFill/>
          <a:ln/>
        </p:spPr>
        <p:txBody>
          <a:bodyPr wrap="square" lIns="0" tIns="0" rIns="0" bIns="0" rtlCol="0" anchor="ctr"/>
          <a:lstStyle/>
          <a:p>
            <a:pPr indent="0" marL="0">
              <a:buNone/>
            </a:pPr>
            <a:r>
              <a:rPr lang="en-US" sz="1500" b="1" dirty="0">
                <a:solidFill>
                  <a:srgbClr val="EDF2F7"/>
                </a:solidFill>
                <a:latin typeface="Arial" pitchFamily="34" charset="0"/>
                <a:ea typeface="Arial" pitchFamily="34" charset="-122"/>
                <a:cs typeface="Arial" pitchFamily="34" charset="-120"/>
              </a:rPr>
              <a:t>Impressum</a:t>
            </a:r>
            <a:endParaRPr lang="en-US" sz="1500" dirty="0"/>
          </a:p>
        </p:txBody>
      </p:sp>
      <p:sp>
        <p:nvSpPr>
          <p:cNvPr id="10" name="Text 8"/>
          <p:cNvSpPr/>
          <p:nvPr/>
        </p:nvSpPr>
        <p:spPr>
          <a:xfrm>
            <a:off x="758952" y="2679192"/>
            <a:ext cx="4978908" cy="86868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Name, Adresse, E-Mail — auffindbar, ohne suchen zu müssen.</a:t>
            </a:r>
            <a:endParaRPr lang="en-US" sz="1100" dirty="0"/>
          </a:p>
        </p:txBody>
      </p:sp>
      <p:sp>
        <p:nvSpPr>
          <p:cNvPr id="11" name="Shape 9"/>
          <p:cNvSpPr/>
          <p:nvPr/>
        </p:nvSpPr>
        <p:spPr>
          <a:xfrm>
            <a:off x="6195060" y="1783080"/>
            <a:ext cx="5490972" cy="1920240"/>
          </a:xfrm>
          <a:prstGeom prst="roundRect">
            <a:avLst>
              <a:gd name="adj" fmla="val 2381"/>
            </a:avLst>
          </a:prstGeom>
          <a:solidFill>
            <a:srgbClr val="141B24"/>
          </a:solidFill>
          <a:ln w="9525">
            <a:solidFill>
              <a:srgbClr val="243040"/>
            </a:solidFill>
            <a:prstDash val="solid"/>
          </a:ln>
        </p:spPr>
      </p:sp>
      <p:sp>
        <p:nvSpPr>
          <p:cNvPr id="12" name="Text 10"/>
          <p:cNvSpPr/>
          <p:nvPr/>
        </p:nvSpPr>
        <p:spPr>
          <a:xfrm>
            <a:off x="6451092" y="1965960"/>
            <a:ext cx="4978908" cy="237744"/>
          </a:xfrm>
          <a:prstGeom prst="rect">
            <a:avLst/>
          </a:prstGeom>
          <a:noFill/>
          <a:ln/>
        </p:spPr>
        <p:txBody>
          <a:bodyPr wrap="square" lIns="0" tIns="0" rIns="0" bIns="0" rtlCol="0" anchor="ctr"/>
          <a:lstStyle/>
          <a:p>
            <a:pPr indent="0" marL="0">
              <a:buNone/>
            </a:pPr>
            <a:r>
              <a:rPr lang="en-US" sz="900" b="1" spc="200" kern="0" dirty="0">
                <a:solidFill>
                  <a:srgbClr val="C58BFF"/>
                </a:solidFill>
                <a:latin typeface="Arial" pitchFamily="34" charset="0"/>
                <a:ea typeface="Arial" pitchFamily="34" charset="-122"/>
                <a:cs typeface="Arial" pitchFamily="34" charset="-120"/>
              </a:rPr>
              <a:t>PFLICHT · REVDSG</a:t>
            </a:r>
            <a:endParaRPr lang="en-US" sz="900" dirty="0"/>
          </a:p>
        </p:txBody>
      </p:sp>
      <p:sp>
        <p:nvSpPr>
          <p:cNvPr id="13" name="Text 11"/>
          <p:cNvSpPr/>
          <p:nvPr/>
        </p:nvSpPr>
        <p:spPr>
          <a:xfrm>
            <a:off x="6451092" y="2240280"/>
            <a:ext cx="4978908" cy="411480"/>
          </a:xfrm>
          <a:prstGeom prst="rect">
            <a:avLst/>
          </a:prstGeom>
          <a:noFill/>
          <a:ln/>
        </p:spPr>
        <p:txBody>
          <a:bodyPr wrap="square" lIns="0" tIns="0" rIns="0" bIns="0" rtlCol="0" anchor="ctr"/>
          <a:lstStyle/>
          <a:p>
            <a:pPr indent="0" marL="0">
              <a:buNone/>
            </a:pPr>
            <a:r>
              <a:rPr lang="en-US" sz="1500" b="1" dirty="0">
                <a:solidFill>
                  <a:srgbClr val="EDF2F7"/>
                </a:solidFill>
                <a:latin typeface="Arial" pitchFamily="34" charset="0"/>
                <a:ea typeface="Arial" pitchFamily="34" charset="-122"/>
                <a:cs typeface="Arial" pitchFamily="34" charset="-120"/>
              </a:rPr>
              <a:t>Datenschutz</a:t>
            </a:r>
            <a:endParaRPr lang="en-US" sz="1500" dirty="0"/>
          </a:p>
        </p:txBody>
      </p:sp>
      <p:sp>
        <p:nvSpPr>
          <p:cNvPr id="14" name="Text 12"/>
          <p:cNvSpPr/>
          <p:nvPr/>
        </p:nvSpPr>
        <p:spPr>
          <a:xfrm>
            <a:off x="6451092" y="2679192"/>
            <a:ext cx="4978908" cy="86868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Was wird gespeichert, wie lange, warum — und wie man es löschen lässt.</a:t>
            </a:r>
            <a:endParaRPr lang="en-US" sz="1100" dirty="0"/>
          </a:p>
        </p:txBody>
      </p:sp>
      <p:sp>
        <p:nvSpPr>
          <p:cNvPr id="15" name="Shape 13"/>
          <p:cNvSpPr/>
          <p:nvPr/>
        </p:nvSpPr>
        <p:spPr>
          <a:xfrm>
            <a:off x="502920" y="3904488"/>
            <a:ext cx="5490972" cy="1920240"/>
          </a:xfrm>
          <a:prstGeom prst="roundRect">
            <a:avLst>
              <a:gd name="adj" fmla="val 2381"/>
            </a:avLst>
          </a:prstGeom>
          <a:solidFill>
            <a:srgbClr val="141B24"/>
          </a:solidFill>
          <a:ln w="9525">
            <a:solidFill>
              <a:srgbClr val="243040"/>
            </a:solidFill>
            <a:prstDash val="solid"/>
          </a:ln>
        </p:spPr>
      </p:sp>
      <p:sp>
        <p:nvSpPr>
          <p:cNvPr id="16" name="Text 14"/>
          <p:cNvSpPr/>
          <p:nvPr/>
        </p:nvSpPr>
        <p:spPr>
          <a:xfrm>
            <a:off x="758952" y="4087368"/>
            <a:ext cx="4978908" cy="237744"/>
          </a:xfrm>
          <a:prstGeom prst="rect">
            <a:avLst/>
          </a:prstGeom>
          <a:noFill/>
          <a:ln/>
        </p:spPr>
        <p:txBody>
          <a:bodyPr wrap="square" lIns="0" tIns="0" rIns="0" bIns="0" rtlCol="0" anchor="ctr"/>
          <a:lstStyle/>
          <a:p>
            <a:pPr indent="0" marL="0">
              <a:buNone/>
            </a:pPr>
            <a:r>
              <a:rPr lang="en-US" sz="900" b="1" spc="200" kern="0" dirty="0">
                <a:solidFill>
                  <a:srgbClr val="C58BFF"/>
                </a:solidFill>
                <a:latin typeface="Arial" pitchFamily="34" charset="0"/>
                <a:ea typeface="Arial" pitchFamily="34" charset="-122"/>
                <a:cs typeface="Arial" pitchFamily="34" charset="-120"/>
              </a:rPr>
              <a:t>PFLICHT · OR</a:t>
            </a:r>
            <a:endParaRPr lang="en-US" sz="900" dirty="0"/>
          </a:p>
        </p:txBody>
      </p:sp>
      <p:sp>
        <p:nvSpPr>
          <p:cNvPr id="17" name="Text 15"/>
          <p:cNvSpPr/>
          <p:nvPr/>
        </p:nvSpPr>
        <p:spPr>
          <a:xfrm>
            <a:off x="758952" y="4361688"/>
            <a:ext cx="4978908" cy="411480"/>
          </a:xfrm>
          <a:prstGeom prst="rect">
            <a:avLst/>
          </a:prstGeom>
          <a:noFill/>
          <a:ln/>
        </p:spPr>
        <p:txBody>
          <a:bodyPr wrap="square" lIns="0" tIns="0" rIns="0" bIns="0" rtlCol="0" anchor="ctr"/>
          <a:lstStyle/>
          <a:p>
            <a:pPr indent="0" marL="0">
              <a:buNone/>
            </a:pPr>
            <a:r>
              <a:rPr lang="en-US" sz="1500" b="1" dirty="0">
                <a:solidFill>
                  <a:srgbClr val="EDF2F7"/>
                </a:solidFill>
                <a:latin typeface="Arial" pitchFamily="34" charset="0"/>
                <a:ea typeface="Arial" pitchFamily="34" charset="-122"/>
                <a:cs typeface="Arial" pitchFamily="34" charset="-120"/>
              </a:rPr>
              <a:t>Gewährleistung</a:t>
            </a:r>
            <a:endParaRPr lang="en-US" sz="1500" dirty="0"/>
          </a:p>
        </p:txBody>
      </p:sp>
      <p:sp>
        <p:nvSpPr>
          <p:cNvPr id="18" name="Text 16"/>
          <p:cNvSpPr/>
          <p:nvPr/>
        </p:nvSpPr>
        <p:spPr>
          <a:xfrm>
            <a:off x="758952" y="4800600"/>
            <a:ext cx="4978908" cy="86868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Neu: 2 Jahre. Refurbished: per AGB auf 1 Jahr verkürzt — erlaubt und ehrlich angeschrieben.</a:t>
            </a:r>
            <a:endParaRPr lang="en-US" sz="1100" dirty="0"/>
          </a:p>
        </p:txBody>
      </p:sp>
      <p:sp>
        <p:nvSpPr>
          <p:cNvPr id="19" name="Shape 17"/>
          <p:cNvSpPr/>
          <p:nvPr/>
        </p:nvSpPr>
        <p:spPr>
          <a:xfrm>
            <a:off x="6195060" y="3904488"/>
            <a:ext cx="5490972" cy="1920240"/>
          </a:xfrm>
          <a:prstGeom prst="roundRect">
            <a:avLst>
              <a:gd name="adj" fmla="val 2381"/>
            </a:avLst>
          </a:prstGeom>
          <a:solidFill>
            <a:srgbClr val="141B24"/>
          </a:solidFill>
          <a:ln w="9525">
            <a:solidFill>
              <a:srgbClr val="243040"/>
            </a:solidFill>
            <a:prstDash val="solid"/>
          </a:ln>
        </p:spPr>
      </p:sp>
      <p:sp>
        <p:nvSpPr>
          <p:cNvPr id="20" name="Text 18"/>
          <p:cNvSpPr/>
          <p:nvPr/>
        </p:nvSpPr>
        <p:spPr>
          <a:xfrm>
            <a:off x="6451092" y="4087368"/>
            <a:ext cx="4978908" cy="237744"/>
          </a:xfrm>
          <a:prstGeom prst="rect">
            <a:avLst/>
          </a:prstGeom>
          <a:noFill/>
          <a:ln/>
        </p:spPr>
        <p:txBody>
          <a:bodyPr wrap="square" lIns="0" tIns="0" rIns="0" bIns="0" rtlCol="0" anchor="ctr"/>
          <a:lstStyle/>
          <a:p>
            <a:pPr indent="0" marL="0">
              <a:buNone/>
            </a:pPr>
            <a:r>
              <a:rPr lang="en-US" sz="900" b="1" spc="200" kern="0" dirty="0">
                <a:solidFill>
                  <a:srgbClr val="C58BFF"/>
                </a:solidFill>
                <a:latin typeface="Arial" pitchFamily="34" charset="0"/>
                <a:ea typeface="Arial" pitchFamily="34" charset="-122"/>
                <a:cs typeface="Arial" pitchFamily="34" charset="-120"/>
              </a:rPr>
              <a:t>FREIWILLIG</a:t>
            </a:r>
            <a:endParaRPr lang="en-US" sz="900" dirty="0"/>
          </a:p>
        </p:txBody>
      </p:sp>
      <p:sp>
        <p:nvSpPr>
          <p:cNvPr id="21" name="Text 19"/>
          <p:cNvSpPr/>
          <p:nvPr/>
        </p:nvSpPr>
        <p:spPr>
          <a:xfrm>
            <a:off x="6451092" y="4361688"/>
            <a:ext cx="4978908" cy="411480"/>
          </a:xfrm>
          <a:prstGeom prst="rect">
            <a:avLst/>
          </a:prstGeom>
          <a:noFill/>
          <a:ln/>
        </p:spPr>
        <p:txBody>
          <a:bodyPr wrap="square" lIns="0" tIns="0" rIns="0" bIns="0" rtlCol="0" anchor="ctr"/>
          <a:lstStyle/>
          <a:p>
            <a:pPr indent="0" marL="0">
              <a:buNone/>
            </a:pPr>
            <a:r>
              <a:rPr lang="en-US" sz="1500" b="1" dirty="0">
                <a:solidFill>
                  <a:srgbClr val="EDF2F7"/>
                </a:solidFill>
                <a:latin typeface="Arial" pitchFamily="34" charset="0"/>
                <a:ea typeface="Arial" pitchFamily="34" charset="-122"/>
                <a:cs typeface="Arial" pitchFamily="34" charset="-120"/>
              </a:rPr>
              <a:t>14 Tage Rückgabe</a:t>
            </a:r>
            <a:endParaRPr lang="en-US" sz="1500" dirty="0"/>
          </a:p>
        </p:txBody>
      </p:sp>
      <p:sp>
        <p:nvSpPr>
          <p:cNvPr id="22" name="Text 20"/>
          <p:cNvSpPr/>
          <p:nvPr/>
        </p:nvSpPr>
        <p:spPr>
          <a:xfrm>
            <a:off x="6451092" y="4800600"/>
            <a:ext cx="4978908" cy="86868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Ein gesetzliches Widerrufsrecht gibt es in der Schweiz nicht. Wir geben es trotzdem.</a:t>
            </a:r>
            <a:endParaRPr lang="en-US" sz="1100" dirty="0"/>
          </a:p>
        </p:txBody>
      </p:sp>
      <p:sp>
        <p:nvSpPr>
          <p:cNvPr id="23" name="Text 21"/>
          <p:cNvSpPr/>
          <p:nvPr/>
        </p:nvSpPr>
        <p:spPr>
          <a:xfrm>
            <a:off x="502920" y="5897880"/>
            <a:ext cx="10515600" cy="274320"/>
          </a:xfrm>
          <a:prstGeom prst="rect">
            <a:avLst/>
          </a:prstGeom>
          <a:noFill/>
          <a:ln/>
        </p:spPr>
        <p:txBody>
          <a:bodyPr wrap="square" lIns="0" tIns="0" rIns="0" bIns="0" rtlCol="0" anchor="ctr"/>
          <a:lstStyle/>
          <a:p>
            <a:pPr indent="0" marL="0">
              <a:buNone/>
            </a:pPr>
            <a:r>
              <a:rPr lang="en-US" sz="950" dirty="0">
                <a:solidFill>
                  <a:srgbClr val="5C6E82"/>
                </a:solidFill>
                <a:latin typeface="Arial" pitchFamily="34" charset="0"/>
                <a:ea typeface="Arial" pitchFamily="34" charset="-122"/>
                <a:cs typeface="Arial" pitchFamily="34" charset="-120"/>
              </a:rPr>
              <a:t>Preise immer inklusive 8.1 % MWST — Pflicht nach PBV.</a:t>
            </a:r>
            <a:endParaRPr lang="en-US" sz="9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61" fill="hold">
                      <p:stCondLst>
                        <p:cond delay="indefinite"/>
                        <p:cond evt="onBegin" delay="0">
                          <p:tn val="2"/>
                        </p:cond>
                      </p:stCondLst>
                      <p:childTnLst>
                        <p:par>
                          <p:cTn id="60"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00"/>
                                        <p:tgtEl>
                                          <p:spTgt spid="11"/>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00"/>
                                        <p:tgtEl>
                                          <p:spTgt spid="12"/>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00"/>
                                        <p:tgtEl>
                                          <p:spTgt spid="13"/>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00"/>
                                        <p:tgtEl>
                                          <p:spTgt spid="14"/>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00"/>
                                        <p:tgtEl>
                                          <p:spTgt spid="15"/>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400"/>
                                        <p:tgtEl>
                                          <p:spTgt spid="16"/>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par>
                                <p:cTn id="45" presetID="10" presetClass="entr" presetSubtype="0" fill="hold" grpId="0" nodeType="afterEffect">
                                  <p:stCondLst>
                                    <p:cond delay="182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childTnLst>
                                </p:cTn>
                              </p:par>
                              <p:par>
                                <p:cTn id="48" presetID="10" presetClass="entr" presetSubtype="0" fill="hold" grpId="0" nodeType="afterEffect">
                                  <p:stCondLst>
                                    <p:cond delay="195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childTnLst>
                                </p:cTn>
                              </p:par>
                              <p:par>
                                <p:cTn id="51" presetID="10" presetClass="entr" presetSubtype="0" fill="hold" grpId="0" nodeType="afterEffect">
                                  <p:stCondLst>
                                    <p:cond delay="208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00"/>
                                        <p:tgtEl>
                                          <p:spTgt spid="21"/>
                                        </p:tgtEl>
                                      </p:cBhvr>
                                    </p:animEffect>
                                  </p:childTnLst>
                                </p:cTn>
                              </p:par>
                              <p:par>
                                <p:cTn id="54" presetID="10" presetClass="entr" presetSubtype="0" fill="hold" grpId="0" nodeType="afterEffect">
                                  <p:stCondLst>
                                    <p:cond delay="221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400"/>
                                        <p:tgtEl>
                                          <p:spTgt spid="22"/>
                                        </p:tgtEl>
                                      </p:cBhvr>
                                    </p:animEffect>
                                  </p:childTnLst>
                                </p:cTn>
                              </p:par>
                              <p:par>
                                <p:cTn id="57" presetID="10" presetClass="entr" presetSubtype="0" fill="hold" grpId="0" nodeType="afterEffect">
                                  <p:stCondLst>
                                    <p:cond delay="234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24</a:t>
            </a:r>
            <a:endParaRPr lang="en-US" sz="850" dirty="0"/>
          </a:p>
        </p:txBody>
      </p:sp>
      <p:sp>
        <p:nvSpPr>
          <p:cNvPr id="4" name="Text 2"/>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C58BFF"/>
                </a:solidFill>
                <a:latin typeface="Arial" pitchFamily="34" charset="0"/>
                <a:ea typeface="Arial" pitchFamily="34" charset="-122"/>
                <a:cs typeface="Arial" pitchFamily="34" charset="-120"/>
              </a:rPr>
              <a:t>14 · DIE RECHNUNG</a:t>
            </a:r>
            <a:endParaRPr lang="en-US" sz="1050" dirty="0"/>
          </a:p>
        </p:txBody>
      </p:sp>
      <p:sp>
        <p:nvSpPr>
          <p:cNvPr id="5" name="Text 3"/>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Viel Umsatz, wenig Marge</a:t>
            </a:r>
            <a:endParaRPr lang="en-US" sz="3000" dirty="0"/>
          </a:p>
        </p:txBody>
      </p:sp>
      <p:sp>
        <p:nvSpPr>
          <p:cNvPr id="6" name="Text 4"/>
          <p:cNvSpPr/>
          <p:nvPr/>
        </p:nvSpPr>
        <p:spPr>
          <a:xfrm>
            <a:off x="502920" y="1481328"/>
            <a:ext cx="10515600" cy="320040"/>
          </a:xfrm>
          <a:prstGeom prst="rect">
            <a:avLst/>
          </a:prstGeom>
          <a:noFill/>
          <a:ln/>
        </p:spPr>
        <p:txBody>
          <a:bodyPr wrap="square" lIns="0" tIns="0" rIns="0" bIns="0" rtlCol="0" anchor="ctr"/>
          <a:lstStyle/>
          <a:p>
            <a:pPr indent="0" marL="0">
              <a:buNone/>
            </a:pPr>
            <a:r>
              <a:rPr lang="en-US" sz="1200" dirty="0">
                <a:solidFill>
                  <a:srgbClr val="8FA0B4"/>
                </a:solidFill>
                <a:latin typeface="Arial" pitchFamily="34" charset="0"/>
                <a:ea typeface="Arial" pitchFamily="34" charset="-122"/>
                <a:cs typeface="Arial" pitchFamily="34" charset="-120"/>
              </a:rPr>
              <a:t>Annahme: 20 Bestellungen im Monat, Durchschnitt CHF 500, Mischung aus neu und refurbished.</a:t>
            </a:r>
            <a:endParaRPr lang="en-US" sz="1200" dirty="0"/>
          </a:p>
        </p:txBody>
      </p:sp>
      <p:sp>
        <p:nvSpPr>
          <p:cNvPr id="7" name="Text 5"/>
          <p:cNvSpPr/>
          <p:nvPr/>
        </p:nvSpPr>
        <p:spPr>
          <a:xfrm>
            <a:off x="685800" y="2011680"/>
            <a:ext cx="4114800" cy="384048"/>
          </a:xfrm>
          <a:prstGeom prst="rect">
            <a:avLst/>
          </a:prstGeom>
          <a:noFill/>
          <a:ln/>
        </p:spPr>
        <p:txBody>
          <a:bodyPr wrap="square" lIns="0" tIns="0" rIns="0" bIns="0" rtlCol="0" anchor="ctr"/>
          <a:lstStyle/>
          <a:p>
            <a:pPr indent="0" marL="0">
              <a:buNone/>
            </a:pPr>
            <a:r>
              <a:rPr lang="en-US" sz="1300" dirty="0">
                <a:solidFill>
                  <a:srgbClr val="8FA0B4"/>
                </a:solidFill>
                <a:latin typeface="Arial" pitchFamily="34" charset="0"/>
                <a:ea typeface="Arial" pitchFamily="34" charset="-122"/>
                <a:cs typeface="Arial" pitchFamily="34" charset="-120"/>
              </a:rPr>
              <a:t>Umsatz</a:t>
            </a:r>
            <a:endParaRPr lang="en-US" sz="1300" dirty="0"/>
          </a:p>
        </p:txBody>
      </p:sp>
      <p:sp>
        <p:nvSpPr>
          <p:cNvPr id="8" name="Text 6"/>
          <p:cNvSpPr/>
          <p:nvPr/>
        </p:nvSpPr>
        <p:spPr>
          <a:xfrm>
            <a:off x="3931920" y="2011680"/>
            <a:ext cx="2377440" cy="384048"/>
          </a:xfrm>
          <a:prstGeom prst="rect">
            <a:avLst/>
          </a:prstGeom>
          <a:noFill/>
          <a:ln/>
        </p:spPr>
        <p:txBody>
          <a:bodyPr wrap="square" lIns="0" tIns="0" rIns="0" bIns="0" rtlCol="0" anchor="ctr"/>
          <a:lstStyle/>
          <a:p>
            <a:pPr algn="r" indent="0" marL="0">
              <a:buNone/>
            </a:pPr>
            <a:r>
              <a:rPr lang="en-US" sz="1300" dirty="0">
                <a:solidFill>
                  <a:srgbClr val="EDF2F7"/>
                </a:solidFill>
                <a:latin typeface="Arial" pitchFamily="34" charset="0"/>
                <a:ea typeface="Arial" pitchFamily="34" charset="-122"/>
                <a:cs typeface="Arial" pitchFamily="34" charset="-120"/>
              </a:rPr>
              <a:t>CHF 10'000</a:t>
            </a:r>
            <a:endParaRPr lang="en-US" sz="1300" dirty="0"/>
          </a:p>
        </p:txBody>
      </p:sp>
      <p:sp>
        <p:nvSpPr>
          <p:cNvPr id="9" name="Shape 7"/>
          <p:cNvSpPr/>
          <p:nvPr/>
        </p:nvSpPr>
        <p:spPr>
          <a:xfrm>
            <a:off x="685800" y="2414016"/>
            <a:ext cx="5623560" cy="0"/>
          </a:xfrm>
          <a:prstGeom prst="line">
            <a:avLst/>
          </a:prstGeom>
          <a:noFill/>
          <a:ln w="9525">
            <a:solidFill>
              <a:srgbClr val="243040"/>
            </a:solidFill>
            <a:prstDash val="solid"/>
          </a:ln>
        </p:spPr>
      </p:sp>
      <p:sp>
        <p:nvSpPr>
          <p:cNvPr id="10" name="Text 8"/>
          <p:cNvSpPr/>
          <p:nvPr/>
        </p:nvSpPr>
        <p:spPr>
          <a:xfrm>
            <a:off x="685800" y="2468880"/>
            <a:ext cx="4114800" cy="384048"/>
          </a:xfrm>
          <a:prstGeom prst="rect">
            <a:avLst/>
          </a:prstGeom>
          <a:noFill/>
          <a:ln/>
        </p:spPr>
        <p:txBody>
          <a:bodyPr wrap="square" lIns="0" tIns="0" rIns="0" bIns="0" rtlCol="0" anchor="ctr"/>
          <a:lstStyle/>
          <a:p>
            <a:pPr indent="0" marL="0">
              <a:buNone/>
            </a:pPr>
            <a:r>
              <a:rPr lang="en-US" sz="1300" dirty="0">
                <a:solidFill>
                  <a:srgbClr val="8FA0B4"/>
                </a:solidFill>
                <a:latin typeface="Arial" pitchFamily="34" charset="0"/>
                <a:ea typeface="Arial" pitchFamily="34" charset="-122"/>
                <a:cs typeface="Arial" pitchFamily="34" charset="-120"/>
              </a:rPr>
              <a:t>Wareneinkauf</a:t>
            </a:r>
            <a:endParaRPr lang="en-US" sz="1300" dirty="0"/>
          </a:p>
        </p:txBody>
      </p:sp>
      <p:sp>
        <p:nvSpPr>
          <p:cNvPr id="11" name="Text 9"/>
          <p:cNvSpPr/>
          <p:nvPr/>
        </p:nvSpPr>
        <p:spPr>
          <a:xfrm>
            <a:off x="3931920" y="2468880"/>
            <a:ext cx="2377440" cy="384048"/>
          </a:xfrm>
          <a:prstGeom prst="rect">
            <a:avLst/>
          </a:prstGeom>
          <a:noFill/>
          <a:ln/>
        </p:spPr>
        <p:txBody>
          <a:bodyPr wrap="square" lIns="0" tIns="0" rIns="0" bIns="0" rtlCol="0" anchor="ctr"/>
          <a:lstStyle/>
          <a:p>
            <a:pPr algn="r" indent="0" marL="0">
              <a:buNone/>
            </a:pPr>
            <a:r>
              <a:rPr lang="en-US" sz="1300" dirty="0">
                <a:solidFill>
                  <a:srgbClr val="EDF2F7"/>
                </a:solidFill>
                <a:latin typeface="Arial" pitchFamily="34" charset="0"/>
                <a:ea typeface="Arial" pitchFamily="34" charset="-122"/>
                <a:cs typeface="Arial" pitchFamily="34" charset="-120"/>
              </a:rPr>
              <a:t>− CHF 8'800</a:t>
            </a:r>
            <a:endParaRPr lang="en-US" sz="1300" dirty="0"/>
          </a:p>
        </p:txBody>
      </p:sp>
      <p:sp>
        <p:nvSpPr>
          <p:cNvPr id="12" name="Shape 10"/>
          <p:cNvSpPr/>
          <p:nvPr/>
        </p:nvSpPr>
        <p:spPr>
          <a:xfrm>
            <a:off x="685800" y="2871216"/>
            <a:ext cx="5623560" cy="0"/>
          </a:xfrm>
          <a:prstGeom prst="line">
            <a:avLst/>
          </a:prstGeom>
          <a:noFill/>
          <a:ln w="9525">
            <a:solidFill>
              <a:srgbClr val="243040"/>
            </a:solidFill>
            <a:prstDash val="solid"/>
          </a:ln>
        </p:spPr>
      </p:sp>
      <p:sp>
        <p:nvSpPr>
          <p:cNvPr id="13" name="Text 11"/>
          <p:cNvSpPr/>
          <p:nvPr/>
        </p:nvSpPr>
        <p:spPr>
          <a:xfrm>
            <a:off x="685800" y="2926080"/>
            <a:ext cx="4114800" cy="384048"/>
          </a:xfrm>
          <a:prstGeom prst="rect">
            <a:avLst/>
          </a:prstGeom>
          <a:noFill/>
          <a:ln/>
        </p:spPr>
        <p:txBody>
          <a:bodyPr wrap="square" lIns="0" tIns="0" rIns="0" bIns="0" rtlCol="0" anchor="ctr"/>
          <a:lstStyle/>
          <a:p>
            <a:pPr indent="0" marL="0">
              <a:buNone/>
            </a:pPr>
            <a:r>
              <a:rPr lang="en-US" sz="1300" dirty="0">
                <a:solidFill>
                  <a:srgbClr val="8FA0B4"/>
                </a:solidFill>
                <a:latin typeface="Arial" pitchFamily="34" charset="0"/>
                <a:ea typeface="Arial" pitchFamily="34" charset="-122"/>
                <a:cs typeface="Arial" pitchFamily="34" charset="-120"/>
              </a:rPr>
              <a:t>Zahlungsgebühren</a:t>
            </a:r>
            <a:endParaRPr lang="en-US" sz="1300" dirty="0"/>
          </a:p>
        </p:txBody>
      </p:sp>
      <p:sp>
        <p:nvSpPr>
          <p:cNvPr id="14" name="Text 12"/>
          <p:cNvSpPr/>
          <p:nvPr/>
        </p:nvSpPr>
        <p:spPr>
          <a:xfrm>
            <a:off x="3931920" y="2926080"/>
            <a:ext cx="2377440" cy="384048"/>
          </a:xfrm>
          <a:prstGeom prst="rect">
            <a:avLst/>
          </a:prstGeom>
          <a:noFill/>
          <a:ln/>
        </p:spPr>
        <p:txBody>
          <a:bodyPr wrap="square" lIns="0" tIns="0" rIns="0" bIns="0" rtlCol="0" anchor="ctr"/>
          <a:lstStyle/>
          <a:p>
            <a:pPr algn="r" indent="0" marL="0">
              <a:buNone/>
            </a:pPr>
            <a:r>
              <a:rPr lang="en-US" sz="1300" dirty="0">
                <a:solidFill>
                  <a:srgbClr val="EDF2F7"/>
                </a:solidFill>
                <a:latin typeface="Arial" pitchFamily="34" charset="0"/>
                <a:ea typeface="Arial" pitchFamily="34" charset="-122"/>
                <a:cs typeface="Arial" pitchFamily="34" charset="-120"/>
              </a:rPr>
              <a:t>− CHF 200</a:t>
            </a:r>
            <a:endParaRPr lang="en-US" sz="1300" dirty="0"/>
          </a:p>
        </p:txBody>
      </p:sp>
      <p:sp>
        <p:nvSpPr>
          <p:cNvPr id="15" name="Shape 13"/>
          <p:cNvSpPr/>
          <p:nvPr/>
        </p:nvSpPr>
        <p:spPr>
          <a:xfrm>
            <a:off x="685800" y="3328416"/>
            <a:ext cx="5623560" cy="0"/>
          </a:xfrm>
          <a:prstGeom prst="line">
            <a:avLst/>
          </a:prstGeom>
          <a:noFill/>
          <a:ln w="9525">
            <a:solidFill>
              <a:srgbClr val="243040"/>
            </a:solidFill>
            <a:prstDash val="solid"/>
          </a:ln>
        </p:spPr>
      </p:sp>
      <p:sp>
        <p:nvSpPr>
          <p:cNvPr id="16" name="Text 14"/>
          <p:cNvSpPr/>
          <p:nvPr/>
        </p:nvSpPr>
        <p:spPr>
          <a:xfrm>
            <a:off x="685800" y="3383280"/>
            <a:ext cx="4114800" cy="384048"/>
          </a:xfrm>
          <a:prstGeom prst="rect">
            <a:avLst/>
          </a:prstGeom>
          <a:noFill/>
          <a:ln/>
        </p:spPr>
        <p:txBody>
          <a:bodyPr wrap="square" lIns="0" tIns="0" rIns="0" bIns="0" rtlCol="0" anchor="ctr"/>
          <a:lstStyle/>
          <a:p>
            <a:pPr indent="0" marL="0">
              <a:buNone/>
            </a:pPr>
            <a:r>
              <a:rPr lang="en-US" sz="1300" dirty="0">
                <a:solidFill>
                  <a:srgbClr val="8FA0B4"/>
                </a:solidFill>
                <a:latin typeface="Arial" pitchFamily="34" charset="0"/>
                <a:ea typeface="Arial" pitchFamily="34" charset="-122"/>
                <a:cs typeface="Arial" pitchFamily="34" charset="-120"/>
              </a:rPr>
              <a:t>Retouren-Reserve</a:t>
            </a:r>
            <a:endParaRPr lang="en-US" sz="1300" dirty="0"/>
          </a:p>
        </p:txBody>
      </p:sp>
      <p:sp>
        <p:nvSpPr>
          <p:cNvPr id="17" name="Text 15"/>
          <p:cNvSpPr/>
          <p:nvPr/>
        </p:nvSpPr>
        <p:spPr>
          <a:xfrm>
            <a:off x="3931920" y="3383280"/>
            <a:ext cx="2377440" cy="384048"/>
          </a:xfrm>
          <a:prstGeom prst="rect">
            <a:avLst/>
          </a:prstGeom>
          <a:noFill/>
          <a:ln/>
        </p:spPr>
        <p:txBody>
          <a:bodyPr wrap="square" lIns="0" tIns="0" rIns="0" bIns="0" rtlCol="0" anchor="ctr"/>
          <a:lstStyle/>
          <a:p>
            <a:pPr algn="r" indent="0" marL="0">
              <a:buNone/>
            </a:pPr>
            <a:r>
              <a:rPr lang="en-US" sz="1300" dirty="0">
                <a:solidFill>
                  <a:srgbClr val="EDF2F7"/>
                </a:solidFill>
                <a:latin typeface="Arial" pitchFamily="34" charset="0"/>
                <a:ea typeface="Arial" pitchFamily="34" charset="-122"/>
                <a:cs typeface="Arial" pitchFamily="34" charset="-120"/>
              </a:rPr>
              <a:t>− CHF 200</a:t>
            </a:r>
            <a:endParaRPr lang="en-US" sz="1300" dirty="0"/>
          </a:p>
        </p:txBody>
      </p:sp>
      <p:sp>
        <p:nvSpPr>
          <p:cNvPr id="18" name="Shape 16"/>
          <p:cNvSpPr/>
          <p:nvPr/>
        </p:nvSpPr>
        <p:spPr>
          <a:xfrm>
            <a:off x="685800" y="3785616"/>
            <a:ext cx="5623560" cy="0"/>
          </a:xfrm>
          <a:prstGeom prst="line">
            <a:avLst/>
          </a:prstGeom>
          <a:noFill/>
          <a:ln w="9525">
            <a:solidFill>
              <a:srgbClr val="243040"/>
            </a:solidFill>
            <a:prstDash val="solid"/>
          </a:ln>
        </p:spPr>
      </p:sp>
      <p:sp>
        <p:nvSpPr>
          <p:cNvPr id="19" name="Text 17"/>
          <p:cNvSpPr/>
          <p:nvPr/>
        </p:nvSpPr>
        <p:spPr>
          <a:xfrm>
            <a:off x="685800" y="3840480"/>
            <a:ext cx="4114800" cy="384048"/>
          </a:xfrm>
          <a:prstGeom prst="rect">
            <a:avLst/>
          </a:prstGeom>
          <a:noFill/>
          <a:ln/>
        </p:spPr>
        <p:txBody>
          <a:bodyPr wrap="square" lIns="0" tIns="0" rIns="0" bIns="0" rtlCol="0" anchor="ctr"/>
          <a:lstStyle/>
          <a:p>
            <a:pPr indent="0" marL="0">
              <a:buNone/>
            </a:pPr>
            <a:r>
              <a:rPr lang="en-US" sz="1300" dirty="0">
                <a:solidFill>
                  <a:srgbClr val="8FA0B4"/>
                </a:solidFill>
                <a:latin typeface="Arial" pitchFamily="34" charset="0"/>
                <a:ea typeface="Arial" pitchFamily="34" charset="-122"/>
                <a:cs typeface="Arial" pitchFamily="34" charset="-120"/>
              </a:rPr>
              <a:t>Shopify und Domain</a:t>
            </a:r>
            <a:endParaRPr lang="en-US" sz="1300" dirty="0"/>
          </a:p>
        </p:txBody>
      </p:sp>
      <p:sp>
        <p:nvSpPr>
          <p:cNvPr id="20" name="Text 18"/>
          <p:cNvSpPr/>
          <p:nvPr/>
        </p:nvSpPr>
        <p:spPr>
          <a:xfrm>
            <a:off x="3931920" y="3840480"/>
            <a:ext cx="2377440" cy="384048"/>
          </a:xfrm>
          <a:prstGeom prst="rect">
            <a:avLst/>
          </a:prstGeom>
          <a:noFill/>
          <a:ln/>
        </p:spPr>
        <p:txBody>
          <a:bodyPr wrap="square" lIns="0" tIns="0" rIns="0" bIns="0" rtlCol="0" anchor="ctr"/>
          <a:lstStyle/>
          <a:p>
            <a:pPr algn="r" indent="0" marL="0">
              <a:buNone/>
            </a:pPr>
            <a:r>
              <a:rPr lang="en-US" sz="1300" dirty="0">
                <a:solidFill>
                  <a:srgbClr val="EDF2F7"/>
                </a:solidFill>
                <a:latin typeface="Arial" pitchFamily="34" charset="0"/>
                <a:ea typeface="Arial" pitchFamily="34" charset="-122"/>
                <a:cs typeface="Arial" pitchFamily="34" charset="-120"/>
              </a:rPr>
              <a:t>− CHF 50</a:t>
            </a:r>
            <a:endParaRPr lang="en-US" sz="1300" dirty="0"/>
          </a:p>
        </p:txBody>
      </p:sp>
      <p:sp>
        <p:nvSpPr>
          <p:cNvPr id="21" name="Shape 19"/>
          <p:cNvSpPr/>
          <p:nvPr/>
        </p:nvSpPr>
        <p:spPr>
          <a:xfrm>
            <a:off x="685800" y="4242816"/>
            <a:ext cx="5623560" cy="0"/>
          </a:xfrm>
          <a:prstGeom prst="line">
            <a:avLst/>
          </a:prstGeom>
          <a:noFill/>
          <a:ln w="9525">
            <a:solidFill>
              <a:srgbClr val="243040"/>
            </a:solidFill>
            <a:prstDash val="solid"/>
          </a:ln>
        </p:spPr>
      </p:sp>
      <p:sp>
        <p:nvSpPr>
          <p:cNvPr id="22" name="Shape 20"/>
          <p:cNvSpPr/>
          <p:nvPr/>
        </p:nvSpPr>
        <p:spPr>
          <a:xfrm>
            <a:off x="685800" y="4334256"/>
            <a:ext cx="5623560" cy="0"/>
          </a:xfrm>
          <a:prstGeom prst="line">
            <a:avLst/>
          </a:prstGeom>
          <a:noFill/>
          <a:ln w="19050">
            <a:solidFill>
              <a:srgbClr val="C58BFF"/>
            </a:solidFill>
            <a:prstDash val="solid"/>
          </a:ln>
        </p:spPr>
      </p:sp>
      <p:sp>
        <p:nvSpPr>
          <p:cNvPr id="23" name="Text 21"/>
          <p:cNvSpPr/>
          <p:nvPr/>
        </p:nvSpPr>
        <p:spPr>
          <a:xfrm>
            <a:off x="685800" y="4389120"/>
            <a:ext cx="4114800" cy="457200"/>
          </a:xfrm>
          <a:prstGeom prst="rect">
            <a:avLst/>
          </a:prstGeom>
          <a:noFill/>
          <a:ln/>
        </p:spPr>
        <p:txBody>
          <a:bodyPr wrap="square" lIns="0" tIns="0" rIns="0" bIns="0" rtlCol="0" anchor="ctr"/>
          <a:lstStyle/>
          <a:p>
            <a:pPr indent="0" marL="0">
              <a:buNone/>
            </a:pPr>
            <a:r>
              <a:rPr lang="en-US" sz="1600" b="1" dirty="0">
                <a:solidFill>
                  <a:srgbClr val="C58BFF"/>
                </a:solidFill>
                <a:latin typeface="Arial" pitchFamily="34" charset="0"/>
                <a:ea typeface="Arial" pitchFamily="34" charset="-122"/>
                <a:cs typeface="Arial" pitchFamily="34" charset="-120"/>
              </a:rPr>
              <a:t>Bleibt im Monat</a:t>
            </a:r>
            <a:endParaRPr lang="en-US" sz="1600" dirty="0"/>
          </a:p>
        </p:txBody>
      </p:sp>
      <p:sp>
        <p:nvSpPr>
          <p:cNvPr id="24" name="Text 22"/>
          <p:cNvSpPr/>
          <p:nvPr/>
        </p:nvSpPr>
        <p:spPr>
          <a:xfrm>
            <a:off x="3931920" y="4389120"/>
            <a:ext cx="2377440" cy="457200"/>
          </a:xfrm>
          <a:prstGeom prst="rect">
            <a:avLst/>
          </a:prstGeom>
          <a:noFill/>
          <a:ln/>
        </p:spPr>
        <p:txBody>
          <a:bodyPr wrap="square" lIns="0" tIns="0" rIns="0" bIns="0" rtlCol="0" anchor="ctr"/>
          <a:lstStyle/>
          <a:p>
            <a:pPr algn="r" indent="0" marL="0">
              <a:buNone/>
            </a:pPr>
            <a:r>
              <a:rPr lang="en-US" sz="1600" b="1" dirty="0">
                <a:solidFill>
                  <a:srgbClr val="C58BFF"/>
                </a:solidFill>
                <a:latin typeface="Arial" pitchFamily="34" charset="0"/>
                <a:ea typeface="Arial" pitchFamily="34" charset="-122"/>
                <a:cs typeface="Arial" pitchFamily="34" charset="-120"/>
              </a:rPr>
              <a:t>CHF 750</a:t>
            </a:r>
            <a:endParaRPr lang="en-US" sz="1600" dirty="0"/>
          </a:p>
        </p:txBody>
      </p:sp>
      <p:sp>
        <p:nvSpPr>
          <p:cNvPr id="25" name="Text 23"/>
          <p:cNvSpPr/>
          <p:nvPr/>
        </p:nvSpPr>
        <p:spPr>
          <a:xfrm>
            <a:off x="6949440" y="2468880"/>
            <a:ext cx="4572000" cy="274320"/>
          </a:xfrm>
          <a:prstGeom prst="rect">
            <a:avLst/>
          </a:prstGeom>
          <a:noFill/>
          <a:ln/>
        </p:spPr>
        <p:txBody>
          <a:bodyPr wrap="square" lIns="0" tIns="0" rIns="0" bIns="0" rtlCol="0" anchor="ctr"/>
          <a:lstStyle/>
          <a:p>
            <a:pPr indent="0" marL="0">
              <a:buNone/>
            </a:pPr>
            <a:r>
              <a:rPr lang="en-US" sz="950" b="1" spc="150" kern="0" dirty="0">
                <a:solidFill>
                  <a:srgbClr val="5C6E82"/>
                </a:solidFill>
                <a:latin typeface="Arial" pitchFamily="34" charset="0"/>
                <a:ea typeface="Arial" pitchFamily="34" charset="-122"/>
                <a:cs typeface="Arial" pitchFamily="34" charset="-120"/>
              </a:rPr>
              <a:t>VON JEDEM FRANKEN UMSATZ BLEIBEN 7 RAPPEN</a:t>
            </a:r>
            <a:endParaRPr lang="en-US" sz="950" dirty="0"/>
          </a:p>
        </p:txBody>
      </p:sp>
      <p:sp>
        <p:nvSpPr>
          <p:cNvPr id="26" name="Shape 24"/>
          <p:cNvSpPr/>
          <p:nvPr/>
        </p:nvSpPr>
        <p:spPr>
          <a:xfrm>
            <a:off x="6949440" y="2926080"/>
            <a:ext cx="4229100" cy="320040"/>
          </a:xfrm>
          <a:prstGeom prst="rect">
            <a:avLst/>
          </a:prstGeom>
          <a:solidFill>
            <a:srgbClr val="243040"/>
          </a:solidFill>
          <a:ln/>
        </p:spPr>
      </p:sp>
      <p:sp>
        <p:nvSpPr>
          <p:cNvPr id="27" name="Shape 25"/>
          <p:cNvSpPr/>
          <p:nvPr/>
        </p:nvSpPr>
        <p:spPr>
          <a:xfrm>
            <a:off x="11178540" y="2926080"/>
            <a:ext cx="342900" cy="320040"/>
          </a:xfrm>
          <a:prstGeom prst="rect">
            <a:avLst/>
          </a:prstGeom>
          <a:solidFill>
            <a:srgbClr val="C58BFF"/>
          </a:solidFill>
          <a:ln/>
        </p:spPr>
      </p:sp>
      <p:sp>
        <p:nvSpPr>
          <p:cNvPr id="28" name="Text 26"/>
          <p:cNvSpPr/>
          <p:nvPr/>
        </p:nvSpPr>
        <p:spPr>
          <a:xfrm>
            <a:off x="6949440" y="3310128"/>
            <a:ext cx="2743200" cy="274320"/>
          </a:xfrm>
          <a:prstGeom prst="rect">
            <a:avLst/>
          </a:prstGeom>
          <a:noFill/>
          <a:ln/>
        </p:spPr>
        <p:txBody>
          <a:bodyPr wrap="square" lIns="0" tIns="0" rIns="0" bIns="0" rtlCol="0" anchor="ctr"/>
          <a:lstStyle/>
          <a:p>
            <a:pPr indent="0" marL="0">
              <a:buNone/>
            </a:pPr>
            <a:r>
              <a:rPr lang="en-US" sz="950" dirty="0">
                <a:solidFill>
                  <a:srgbClr val="5C6E82"/>
                </a:solidFill>
                <a:latin typeface="Arial" pitchFamily="34" charset="0"/>
                <a:ea typeface="Arial" pitchFamily="34" charset="-122"/>
                <a:cs typeface="Arial" pitchFamily="34" charset="-120"/>
              </a:rPr>
              <a:t>Kosten · CHF 9'250</a:t>
            </a:r>
            <a:endParaRPr lang="en-US" sz="950" dirty="0"/>
          </a:p>
        </p:txBody>
      </p:sp>
      <p:sp>
        <p:nvSpPr>
          <p:cNvPr id="29" name="Text 27"/>
          <p:cNvSpPr/>
          <p:nvPr/>
        </p:nvSpPr>
        <p:spPr>
          <a:xfrm>
            <a:off x="8778240" y="3310128"/>
            <a:ext cx="2743200" cy="274320"/>
          </a:xfrm>
          <a:prstGeom prst="rect">
            <a:avLst/>
          </a:prstGeom>
          <a:noFill/>
          <a:ln/>
        </p:spPr>
        <p:txBody>
          <a:bodyPr wrap="square" lIns="0" tIns="0" rIns="0" bIns="0" rtlCol="0" anchor="ctr"/>
          <a:lstStyle/>
          <a:p>
            <a:pPr algn="r" indent="0" marL="0">
              <a:buNone/>
            </a:pPr>
            <a:r>
              <a:rPr lang="en-US" sz="950" b="1" dirty="0">
                <a:solidFill>
                  <a:srgbClr val="C58BFF"/>
                </a:solidFill>
                <a:latin typeface="Arial" pitchFamily="34" charset="0"/>
                <a:ea typeface="Arial" pitchFamily="34" charset="-122"/>
                <a:cs typeface="Arial" pitchFamily="34" charset="-120"/>
              </a:rPr>
              <a:t>bleibt · CHF 750</a:t>
            </a:r>
            <a:endParaRPr lang="en-US" sz="950" dirty="0"/>
          </a:p>
        </p:txBody>
      </p:sp>
      <p:sp>
        <p:nvSpPr>
          <p:cNvPr id="30" name="Text 28"/>
          <p:cNvSpPr/>
          <p:nvPr/>
        </p:nvSpPr>
        <p:spPr>
          <a:xfrm>
            <a:off x="6949440" y="3840480"/>
            <a:ext cx="4572000" cy="1463040"/>
          </a:xfrm>
          <a:prstGeom prst="rect">
            <a:avLst/>
          </a:prstGeom>
          <a:noFill/>
          <a:ln/>
        </p:spPr>
        <p:txBody>
          <a:bodyPr wrap="square" lIns="0" tIns="0" rIns="0" bIns="0" rtlCol="0" anchor="ctr"/>
          <a:lstStyle/>
          <a:p>
            <a:pPr indent="0" marL="0">
              <a:lnSpc>
                <a:spcPct val="125000"/>
              </a:lnSpc>
              <a:buNone/>
            </a:pPr>
            <a:r>
              <a:rPr lang="en-US" sz="1150" dirty="0">
                <a:solidFill>
                  <a:srgbClr val="8FA0B4"/>
                </a:solidFill>
                <a:latin typeface="Arial" pitchFamily="34" charset="0"/>
                <a:ea typeface="Arial" pitchFamily="34" charset="-122"/>
                <a:cs typeface="Arial" pitchFamily="34" charset="-120"/>
              </a:rPr>
              <a:t>Elektronikhandel heisst: viel Umsatz, wenig Marge. Genau darum sind die refurbished-Geräte so wichtig — dort bleiben 20 Rappen pro Franken, nicht 7.</a:t>
            </a:r>
            <a:endParaRPr lang="en-US" sz="11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85" fill="hold">
                      <p:stCondLst>
                        <p:cond delay="indefinite"/>
                        <p:cond evt="onBegin" delay="0">
                          <p:tn val="2"/>
                        </p:cond>
                      </p:stCondLst>
                      <p:childTnLst>
                        <p:par>
                          <p:cTn id="84"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00"/>
                                        <p:tgtEl>
                                          <p:spTgt spid="8"/>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00"/>
                                        <p:tgtEl>
                                          <p:spTgt spid="9"/>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00"/>
                                        <p:tgtEl>
                                          <p:spTgt spid="10"/>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00"/>
                                        <p:tgtEl>
                                          <p:spTgt spid="11"/>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00"/>
                                        <p:tgtEl>
                                          <p:spTgt spid="12"/>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00"/>
                                        <p:tgtEl>
                                          <p:spTgt spid="13"/>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00"/>
                                        <p:tgtEl>
                                          <p:spTgt spid="14"/>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00"/>
                                        <p:tgtEl>
                                          <p:spTgt spid="15"/>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00"/>
                                        <p:tgtEl>
                                          <p:spTgt spid="16"/>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00"/>
                                        <p:tgtEl>
                                          <p:spTgt spid="17"/>
                                        </p:tgtEl>
                                      </p:cBhvr>
                                    </p:animEffect>
                                  </p:childTnLst>
                                </p:cTn>
                              </p:par>
                              <p:par>
                                <p:cTn id="45" presetID="10" presetClass="entr" presetSubtype="0" fill="hold" grpId="0" nodeType="afterEffect">
                                  <p:stCondLst>
                                    <p:cond delay="182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00"/>
                                        <p:tgtEl>
                                          <p:spTgt spid="18"/>
                                        </p:tgtEl>
                                      </p:cBhvr>
                                    </p:animEffect>
                                  </p:childTnLst>
                                </p:cTn>
                              </p:par>
                              <p:par>
                                <p:cTn id="48" presetID="10" presetClass="entr" presetSubtype="0" fill="hold" grpId="0" nodeType="afterEffect">
                                  <p:stCondLst>
                                    <p:cond delay="195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00"/>
                                        <p:tgtEl>
                                          <p:spTgt spid="19"/>
                                        </p:tgtEl>
                                      </p:cBhvr>
                                    </p:animEffect>
                                  </p:childTnLst>
                                </p:cTn>
                              </p:par>
                              <p:par>
                                <p:cTn id="51" presetID="10" presetClass="entr" presetSubtype="0" fill="hold" grpId="0" nodeType="afterEffect">
                                  <p:stCondLst>
                                    <p:cond delay="208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00"/>
                                        <p:tgtEl>
                                          <p:spTgt spid="20"/>
                                        </p:tgtEl>
                                      </p:cBhvr>
                                    </p:animEffect>
                                  </p:childTnLst>
                                </p:cTn>
                              </p:par>
                              <p:par>
                                <p:cTn id="54" presetID="10" presetClass="entr" presetSubtype="0" fill="hold" grpId="0" nodeType="afterEffect">
                                  <p:stCondLst>
                                    <p:cond delay="221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00"/>
                                        <p:tgtEl>
                                          <p:spTgt spid="21"/>
                                        </p:tgtEl>
                                      </p:cBhvr>
                                    </p:animEffect>
                                  </p:childTnLst>
                                </p:cTn>
                              </p:par>
                              <p:par>
                                <p:cTn id="57" presetID="10" presetClass="entr" presetSubtype="0" fill="hold" grpId="0" nodeType="afterEffect">
                                  <p:stCondLst>
                                    <p:cond delay="234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00"/>
                                        <p:tgtEl>
                                          <p:spTgt spid="22"/>
                                        </p:tgtEl>
                                      </p:cBhvr>
                                    </p:animEffect>
                                  </p:childTnLst>
                                </p:cTn>
                              </p:par>
                              <p:par>
                                <p:cTn id="60" presetID="10" presetClass="entr" presetSubtype="0" fill="hold" grpId="0" nodeType="afterEffect">
                                  <p:stCondLst>
                                    <p:cond delay="247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400"/>
                                        <p:tgtEl>
                                          <p:spTgt spid="23"/>
                                        </p:tgtEl>
                                      </p:cBhvr>
                                    </p:animEffect>
                                  </p:childTnLst>
                                </p:cTn>
                              </p:par>
                              <p:par>
                                <p:cTn id="63" presetID="10" presetClass="entr" presetSubtype="0" fill="hold" grpId="0" nodeType="afterEffect">
                                  <p:stCondLst>
                                    <p:cond delay="260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400"/>
                                        <p:tgtEl>
                                          <p:spTgt spid="24"/>
                                        </p:tgtEl>
                                      </p:cBhvr>
                                    </p:animEffect>
                                  </p:childTnLst>
                                </p:cTn>
                              </p:par>
                              <p:par>
                                <p:cTn id="66" presetID="10" presetClass="entr" presetSubtype="0" fill="hold" grpId="0" nodeType="afterEffect">
                                  <p:stCondLst>
                                    <p:cond delay="273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400"/>
                                        <p:tgtEl>
                                          <p:spTgt spid="25"/>
                                        </p:tgtEl>
                                      </p:cBhvr>
                                    </p:animEffect>
                                  </p:childTnLst>
                                </p:cTn>
                              </p:par>
                              <p:par>
                                <p:cTn id="69" presetID="10" presetClass="entr" presetSubtype="0" fill="hold" grpId="0" nodeType="afterEffect">
                                  <p:stCondLst>
                                    <p:cond delay="286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400"/>
                                        <p:tgtEl>
                                          <p:spTgt spid="26"/>
                                        </p:tgtEl>
                                      </p:cBhvr>
                                    </p:animEffect>
                                  </p:childTnLst>
                                </p:cTn>
                              </p:par>
                              <p:par>
                                <p:cTn id="72" presetID="10" presetClass="entr" presetSubtype="0" fill="hold" grpId="0" nodeType="afterEffect">
                                  <p:stCondLst>
                                    <p:cond delay="299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00"/>
                                        <p:tgtEl>
                                          <p:spTgt spid="27"/>
                                        </p:tgtEl>
                                      </p:cBhvr>
                                    </p:animEffect>
                                  </p:childTnLst>
                                </p:cTn>
                              </p:par>
                              <p:par>
                                <p:cTn id="75" presetID="10" presetClass="entr" presetSubtype="0" fill="hold" grpId="0" nodeType="afterEffect">
                                  <p:stCondLst>
                                    <p:cond delay="312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00"/>
                                        <p:tgtEl>
                                          <p:spTgt spid="28"/>
                                        </p:tgtEl>
                                      </p:cBhvr>
                                    </p:animEffect>
                                  </p:childTnLst>
                                </p:cTn>
                              </p:par>
                              <p:par>
                                <p:cTn id="78" presetID="10" presetClass="entr" presetSubtype="0" fill="hold" grpId="0" nodeType="afterEffect">
                                  <p:stCondLst>
                                    <p:cond delay="325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400"/>
                                        <p:tgtEl>
                                          <p:spTgt spid="29"/>
                                        </p:tgtEl>
                                      </p:cBhvr>
                                    </p:animEffect>
                                  </p:childTnLst>
                                </p:cTn>
                              </p:par>
                              <p:par>
                                <p:cTn id="81" presetID="10" presetClass="entr" presetSubtype="0" fill="hold" grpId="0" nodeType="afterEffect">
                                  <p:stCondLst>
                                    <p:cond delay="338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25</a:t>
            </a:r>
            <a:endParaRPr lang="en-US" sz="850" dirty="0"/>
          </a:p>
        </p:txBody>
      </p:sp>
      <p:sp>
        <p:nvSpPr>
          <p:cNvPr id="4" name="chrome-reserve"/>
          <p:cNvSpPr/>
          <p:nvPr/>
        </p:nvSpPr>
        <p:spPr>
          <a:xfrm>
            <a:off x="8778240" y="384048"/>
            <a:ext cx="2926080" cy="274320"/>
          </a:xfrm>
          <a:prstGeom prst="rect">
            <a:avLst/>
          </a:prstGeom>
          <a:noFill/>
          <a:ln/>
        </p:spPr>
        <p:txBody>
          <a:bodyPr wrap="square" lIns="0" tIns="0" rIns="0" bIns="0" rtlCol="0" anchor="ctr"/>
          <a:lstStyle/>
          <a:p>
            <a:pPr algn="r" indent="0" marL="0">
              <a:buNone/>
            </a:pPr>
            <a:r>
              <a:rPr lang="en-US" sz="900" b="1" spc="200" kern="0" dirty="0">
                <a:solidFill>
                  <a:srgbClr val="5C6E82"/>
                </a:solidFill>
                <a:latin typeface="Arial" pitchFamily="34" charset="0"/>
                <a:ea typeface="Arial" pitchFamily="34" charset="-122"/>
                <a:cs typeface="Arial" pitchFamily="34" charset="-120"/>
              </a:rPr>
              <a:t>RESERVE · NUR BEI NACHFRAGE</a:t>
            </a:r>
            <a:endParaRPr lang="en-US" sz="900" dirty="0"/>
          </a:p>
        </p:txBody>
      </p:sp>
      <p:sp>
        <p:nvSpPr>
          <p:cNvPr id="5" name="Text 3"/>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C58BFF"/>
                </a:solidFill>
                <a:latin typeface="Arial" pitchFamily="34" charset="0"/>
                <a:ea typeface="Arial" pitchFamily="34" charset="-122"/>
                <a:cs typeface="Arial" pitchFamily="34" charset="-120"/>
              </a:rPr>
              <a:t>15 · CHANCEN UND RISIKEN</a:t>
            </a:r>
            <a:endParaRPr lang="en-US" sz="1050" dirty="0"/>
          </a:p>
        </p:txBody>
      </p:sp>
      <p:sp>
        <p:nvSpPr>
          <p:cNvPr id="6" name="Text 4"/>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Was schiefgehen kann</a:t>
            </a:r>
            <a:endParaRPr lang="en-US" sz="3000" dirty="0"/>
          </a:p>
        </p:txBody>
      </p:sp>
      <p:sp>
        <p:nvSpPr>
          <p:cNvPr id="7" name="Shape 5"/>
          <p:cNvSpPr/>
          <p:nvPr/>
        </p:nvSpPr>
        <p:spPr>
          <a:xfrm>
            <a:off x="502920" y="1783080"/>
            <a:ext cx="5490972" cy="2011680"/>
          </a:xfrm>
          <a:prstGeom prst="roundRect">
            <a:avLst>
              <a:gd name="adj" fmla="val 2273"/>
            </a:avLst>
          </a:prstGeom>
          <a:solidFill>
            <a:srgbClr val="141B24"/>
          </a:solidFill>
          <a:ln w="9525">
            <a:solidFill>
              <a:srgbClr val="243040"/>
            </a:solidFill>
            <a:prstDash val="solid"/>
          </a:ln>
        </p:spPr>
      </p:sp>
      <p:sp>
        <p:nvSpPr>
          <p:cNvPr id="8" name="Text 6"/>
          <p:cNvSpPr/>
          <p:nvPr/>
        </p:nvSpPr>
        <p:spPr>
          <a:xfrm>
            <a:off x="758952" y="1965960"/>
            <a:ext cx="4978908" cy="237744"/>
          </a:xfrm>
          <a:prstGeom prst="rect">
            <a:avLst/>
          </a:prstGeom>
          <a:noFill/>
          <a:ln/>
        </p:spPr>
        <p:txBody>
          <a:bodyPr wrap="square" lIns="0" tIns="0" rIns="0" bIns="0" rtlCol="0" anchor="ctr"/>
          <a:lstStyle/>
          <a:p>
            <a:pPr indent="0" marL="0">
              <a:buNone/>
            </a:pPr>
            <a:r>
              <a:rPr lang="en-US" sz="900" b="1" spc="200" kern="0" dirty="0">
                <a:solidFill>
                  <a:srgbClr val="C58BFF"/>
                </a:solidFill>
                <a:latin typeface="Arial" pitchFamily="34" charset="0"/>
                <a:ea typeface="Arial" pitchFamily="34" charset="-122"/>
                <a:cs typeface="Arial" pitchFamily="34" charset="-120"/>
              </a:rPr>
              <a:t>RISIKO</a:t>
            </a:r>
            <a:endParaRPr lang="en-US" sz="900" dirty="0"/>
          </a:p>
        </p:txBody>
      </p:sp>
      <p:sp>
        <p:nvSpPr>
          <p:cNvPr id="9" name="Text 7"/>
          <p:cNvSpPr/>
          <p:nvPr/>
        </p:nvSpPr>
        <p:spPr>
          <a:xfrm>
            <a:off x="758952" y="2240280"/>
            <a:ext cx="4978908" cy="411480"/>
          </a:xfrm>
          <a:prstGeom prst="rect">
            <a:avLst/>
          </a:prstGeom>
          <a:noFill/>
          <a:ln/>
        </p:spPr>
        <p:txBody>
          <a:bodyPr wrap="square" lIns="0" tIns="0" rIns="0" bIns="0" rtlCol="0" anchor="ctr"/>
          <a:lstStyle/>
          <a:p>
            <a:pPr indent="0" marL="0">
              <a:buNone/>
            </a:pPr>
            <a:r>
              <a:rPr lang="en-US" sz="1500" b="1" dirty="0">
                <a:solidFill>
                  <a:srgbClr val="EDF2F7"/>
                </a:solidFill>
                <a:latin typeface="Arial" pitchFamily="34" charset="0"/>
                <a:ea typeface="Arial" pitchFamily="34" charset="-122"/>
                <a:cs typeface="Arial" pitchFamily="34" charset="-120"/>
              </a:rPr>
              <a:t>Der Preiskrieg</a:t>
            </a:r>
            <a:endParaRPr lang="en-US" sz="1500" dirty="0"/>
          </a:p>
        </p:txBody>
      </p:sp>
      <p:sp>
        <p:nvSpPr>
          <p:cNvPr id="10" name="Text 8"/>
          <p:cNvSpPr/>
          <p:nvPr/>
        </p:nvSpPr>
        <p:spPr>
          <a:xfrm>
            <a:off x="758952" y="2679192"/>
            <a:ext cx="4978908" cy="96012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Digitec kann jeden Neuware-Preis unterbieten. Antwort: dort nicht kämpfen — refurbished ist unser Feld.</a:t>
            </a:r>
            <a:endParaRPr lang="en-US" sz="1100" dirty="0"/>
          </a:p>
        </p:txBody>
      </p:sp>
      <p:sp>
        <p:nvSpPr>
          <p:cNvPr id="11" name="Shape 9"/>
          <p:cNvSpPr/>
          <p:nvPr/>
        </p:nvSpPr>
        <p:spPr>
          <a:xfrm>
            <a:off x="6195060" y="1783080"/>
            <a:ext cx="5490972" cy="2011680"/>
          </a:xfrm>
          <a:prstGeom prst="roundRect">
            <a:avLst>
              <a:gd name="adj" fmla="val 2273"/>
            </a:avLst>
          </a:prstGeom>
          <a:solidFill>
            <a:srgbClr val="141B24"/>
          </a:solidFill>
          <a:ln w="9525">
            <a:solidFill>
              <a:srgbClr val="243040"/>
            </a:solidFill>
            <a:prstDash val="solid"/>
          </a:ln>
        </p:spPr>
      </p:sp>
      <p:sp>
        <p:nvSpPr>
          <p:cNvPr id="12" name="Text 10"/>
          <p:cNvSpPr/>
          <p:nvPr/>
        </p:nvSpPr>
        <p:spPr>
          <a:xfrm>
            <a:off x="6451092" y="1965960"/>
            <a:ext cx="4978908" cy="237744"/>
          </a:xfrm>
          <a:prstGeom prst="rect">
            <a:avLst/>
          </a:prstGeom>
          <a:noFill/>
          <a:ln/>
        </p:spPr>
        <p:txBody>
          <a:bodyPr wrap="square" lIns="0" tIns="0" rIns="0" bIns="0" rtlCol="0" anchor="ctr"/>
          <a:lstStyle/>
          <a:p>
            <a:pPr indent="0" marL="0">
              <a:buNone/>
            </a:pPr>
            <a:r>
              <a:rPr lang="en-US" sz="900" b="1" spc="200" kern="0" dirty="0">
                <a:solidFill>
                  <a:srgbClr val="C58BFF"/>
                </a:solidFill>
                <a:latin typeface="Arial" pitchFamily="34" charset="0"/>
                <a:ea typeface="Arial" pitchFamily="34" charset="-122"/>
                <a:cs typeface="Arial" pitchFamily="34" charset="-120"/>
              </a:rPr>
              <a:t>RISIKO</a:t>
            </a:r>
            <a:endParaRPr lang="en-US" sz="900" dirty="0"/>
          </a:p>
        </p:txBody>
      </p:sp>
      <p:sp>
        <p:nvSpPr>
          <p:cNvPr id="13" name="Text 11"/>
          <p:cNvSpPr/>
          <p:nvPr/>
        </p:nvSpPr>
        <p:spPr>
          <a:xfrm>
            <a:off x="6451092" y="2240280"/>
            <a:ext cx="4978908" cy="411480"/>
          </a:xfrm>
          <a:prstGeom prst="rect">
            <a:avLst/>
          </a:prstGeom>
          <a:noFill/>
          <a:ln/>
        </p:spPr>
        <p:txBody>
          <a:bodyPr wrap="square" lIns="0" tIns="0" rIns="0" bIns="0" rtlCol="0" anchor="ctr"/>
          <a:lstStyle/>
          <a:p>
            <a:pPr indent="0" marL="0">
              <a:buNone/>
            </a:pPr>
            <a:r>
              <a:rPr lang="en-US" sz="1500" b="1" dirty="0">
                <a:solidFill>
                  <a:srgbClr val="EDF2F7"/>
                </a:solidFill>
                <a:latin typeface="Arial" pitchFamily="34" charset="0"/>
                <a:ea typeface="Arial" pitchFamily="34" charset="-122"/>
                <a:cs typeface="Arial" pitchFamily="34" charset="-120"/>
              </a:rPr>
              <a:t>Betrug und Schäden</a:t>
            </a:r>
            <a:endParaRPr lang="en-US" sz="1500" dirty="0"/>
          </a:p>
        </p:txBody>
      </p:sp>
      <p:sp>
        <p:nvSpPr>
          <p:cNvPr id="14" name="Text 12"/>
          <p:cNvSpPr/>
          <p:nvPr/>
        </p:nvSpPr>
        <p:spPr>
          <a:xfrm>
            <a:off x="6451092" y="2679192"/>
            <a:ext cx="4978908" cy="96012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Teure Geräte ziehen Betrug an. Antwort: kein Rechnungskauf, immer versicherter Versand.</a:t>
            </a:r>
            <a:endParaRPr lang="en-US" sz="1100" dirty="0"/>
          </a:p>
        </p:txBody>
      </p:sp>
      <p:sp>
        <p:nvSpPr>
          <p:cNvPr id="15" name="Shape 13"/>
          <p:cNvSpPr/>
          <p:nvPr/>
        </p:nvSpPr>
        <p:spPr>
          <a:xfrm>
            <a:off x="502920" y="3995928"/>
            <a:ext cx="5490972" cy="2011680"/>
          </a:xfrm>
          <a:prstGeom prst="roundRect">
            <a:avLst>
              <a:gd name="adj" fmla="val 2273"/>
            </a:avLst>
          </a:prstGeom>
          <a:solidFill>
            <a:srgbClr val="141B24"/>
          </a:solidFill>
          <a:ln w="9525">
            <a:solidFill>
              <a:srgbClr val="243040"/>
            </a:solidFill>
            <a:prstDash val="solid"/>
          </a:ln>
        </p:spPr>
      </p:sp>
      <p:sp>
        <p:nvSpPr>
          <p:cNvPr id="16" name="Text 14"/>
          <p:cNvSpPr/>
          <p:nvPr/>
        </p:nvSpPr>
        <p:spPr>
          <a:xfrm>
            <a:off x="758952" y="4178808"/>
            <a:ext cx="4978908" cy="237744"/>
          </a:xfrm>
          <a:prstGeom prst="rect">
            <a:avLst/>
          </a:prstGeom>
          <a:noFill/>
          <a:ln/>
        </p:spPr>
        <p:txBody>
          <a:bodyPr wrap="square" lIns="0" tIns="0" rIns="0" bIns="0" rtlCol="0" anchor="ctr"/>
          <a:lstStyle/>
          <a:p>
            <a:pPr indent="0" marL="0">
              <a:buNone/>
            </a:pPr>
            <a:r>
              <a:rPr lang="en-US" sz="900" b="1" spc="200" kern="0" dirty="0">
                <a:solidFill>
                  <a:srgbClr val="C58BFF"/>
                </a:solidFill>
                <a:latin typeface="Arial" pitchFamily="34" charset="0"/>
                <a:ea typeface="Arial" pitchFamily="34" charset="-122"/>
                <a:cs typeface="Arial" pitchFamily="34" charset="-120"/>
              </a:rPr>
              <a:t>CHANCE</a:t>
            </a:r>
            <a:endParaRPr lang="en-US" sz="900" dirty="0"/>
          </a:p>
        </p:txBody>
      </p:sp>
      <p:sp>
        <p:nvSpPr>
          <p:cNvPr id="17" name="Text 15"/>
          <p:cNvSpPr/>
          <p:nvPr/>
        </p:nvSpPr>
        <p:spPr>
          <a:xfrm>
            <a:off x="758952" y="4453128"/>
            <a:ext cx="4978908" cy="411480"/>
          </a:xfrm>
          <a:prstGeom prst="rect">
            <a:avLst/>
          </a:prstGeom>
          <a:noFill/>
          <a:ln/>
        </p:spPr>
        <p:txBody>
          <a:bodyPr wrap="square" lIns="0" tIns="0" rIns="0" bIns="0" rtlCol="0" anchor="ctr"/>
          <a:lstStyle/>
          <a:p>
            <a:pPr indent="0" marL="0">
              <a:buNone/>
            </a:pPr>
            <a:r>
              <a:rPr lang="en-US" sz="1500" b="1" dirty="0">
                <a:solidFill>
                  <a:srgbClr val="EDF2F7"/>
                </a:solidFill>
                <a:latin typeface="Arial" pitchFamily="34" charset="0"/>
                <a:ea typeface="Arial" pitchFamily="34" charset="-122"/>
                <a:cs typeface="Arial" pitchFamily="34" charset="-120"/>
              </a:rPr>
              <a:t>Refurbished wächst</a:t>
            </a:r>
            <a:endParaRPr lang="en-US" sz="1500" dirty="0"/>
          </a:p>
        </p:txBody>
      </p:sp>
      <p:sp>
        <p:nvSpPr>
          <p:cNvPr id="18" name="Text 16"/>
          <p:cNvSpPr/>
          <p:nvPr/>
        </p:nvSpPr>
        <p:spPr>
          <a:xfrm>
            <a:off x="758952" y="4892040"/>
            <a:ext cx="4978908" cy="96012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Nachhaltigkeit ist Kaufgrund geworden — geprüfte Occasion ist kein Notkauf mehr.</a:t>
            </a:r>
            <a:endParaRPr lang="en-US" sz="1100" dirty="0"/>
          </a:p>
        </p:txBody>
      </p:sp>
      <p:sp>
        <p:nvSpPr>
          <p:cNvPr id="19" name="Shape 17"/>
          <p:cNvSpPr/>
          <p:nvPr/>
        </p:nvSpPr>
        <p:spPr>
          <a:xfrm>
            <a:off x="6195060" y="3995928"/>
            <a:ext cx="5490972" cy="2011680"/>
          </a:xfrm>
          <a:prstGeom prst="roundRect">
            <a:avLst>
              <a:gd name="adj" fmla="val 2273"/>
            </a:avLst>
          </a:prstGeom>
          <a:solidFill>
            <a:srgbClr val="141B24"/>
          </a:solidFill>
          <a:ln w="9525">
            <a:solidFill>
              <a:srgbClr val="243040"/>
            </a:solidFill>
            <a:prstDash val="solid"/>
          </a:ln>
        </p:spPr>
      </p:sp>
      <p:sp>
        <p:nvSpPr>
          <p:cNvPr id="20" name="Text 18"/>
          <p:cNvSpPr/>
          <p:nvPr/>
        </p:nvSpPr>
        <p:spPr>
          <a:xfrm>
            <a:off x="6451092" y="4178808"/>
            <a:ext cx="4978908" cy="237744"/>
          </a:xfrm>
          <a:prstGeom prst="rect">
            <a:avLst/>
          </a:prstGeom>
          <a:noFill/>
          <a:ln/>
        </p:spPr>
        <p:txBody>
          <a:bodyPr wrap="square" lIns="0" tIns="0" rIns="0" bIns="0" rtlCol="0" anchor="ctr"/>
          <a:lstStyle/>
          <a:p>
            <a:pPr indent="0" marL="0">
              <a:buNone/>
            </a:pPr>
            <a:r>
              <a:rPr lang="en-US" sz="900" b="1" spc="200" kern="0" dirty="0">
                <a:solidFill>
                  <a:srgbClr val="C58BFF"/>
                </a:solidFill>
                <a:latin typeface="Arial" pitchFamily="34" charset="0"/>
                <a:ea typeface="Arial" pitchFamily="34" charset="-122"/>
                <a:cs typeface="Arial" pitchFamily="34" charset="-120"/>
              </a:rPr>
              <a:t>CHANCE</a:t>
            </a:r>
            <a:endParaRPr lang="en-US" sz="900" dirty="0"/>
          </a:p>
        </p:txBody>
      </p:sp>
      <p:sp>
        <p:nvSpPr>
          <p:cNvPr id="21" name="Text 19"/>
          <p:cNvSpPr/>
          <p:nvPr/>
        </p:nvSpPr>
        <p:spPr>
          <a:xfrm>
            <a:off x="6451092" y="4453128"/>
            <a:ext cx="4978908" cy="411480"/>
          </a:xfrm>
          <a:prstGeom prst="rect">
            <a:avLst/>
          </a:prstGeom>
          <a:noFill/>
          <a:ln/>
        </p:spPr>
        <p:txBody>
          <a:bodyPr wrap="square" lIns="0" tIns="0" rIns="0" bIns="0" rtlCol="0" anchor="ctr"/>
          <a:lstStyle/>
          <a:p>
            <a:pPr indent="0" marL="0">
              <a:buNone/>
            </a:pPr>
            <a:r>
              <a:rPr lang="en-US" sz="1500" b="1" dirty="0">
                <a:solidFill>
                  <a:srgbClr val="EDF2F7"/>
                </a:solidFill>
                <a:latin typeface="Arial" pitchFamily="34" charset="0"/>
                <a:ea typeface="Arial" pitchFamily="34" charset="-122"/>
                <a:cs typeface="Arial" pitchFamily="34" charset="-120"/>
              </a:rPr>
              <a:t>Jedes Jahr Nachschub</a:t>
            </a:r>
            <a:endParaRPr lang="en-US" sz="1500" dirty="0"/>
          </a:p>
        </p:txBody>
      </p:sp>
      <p:sp>
        <p:nvSpPr>
          <p:cNvPr id="22" name="Text 20"/>
          <p:cNvSpPr/>
          <p:nvPr/>
        </p:nvSpPr>
        <p:spPr>
          <a:xfrm>
            <a:off x="6451092" y="4892040"/>
            <a:ext cx="4978908" cy="960120"/>
          </a:xfrm>
          <a:prstGeom prst="rect">
            <a:avLst/>
          </a:prstGeom>
          <a:noFill/>
          <a:ln/>
        </p:spPr>
        <p:txBody>
          <a:bodyPr wrap="square" lIns="0" tIns="0" rIns="0" bIns="0" rtlCol="0" anchor="ctr"/>
          <a:lstStyle/>
          <a:p>
            <a:pPr indent="0" marL="0">
              <a:lnSpc>
                <a:spcPct val="118000"/>
              </a:lnSpc>
              <a:buNone/>
            </a:pPr>
            <a:r>
              <a:rPr lang="en-US" sz="1100" dirty="0">
                <a:solidFill>
                  <a:srgbClr val="8FA0B4"/>
                </a:solidFill>
                <a:latin typeface="Arial" pitchFamily="34" charset="0"/>
                <a:ea typeface="Arial" pitchFamily="34" charset="-122"/>
                <a:cs typeface="Arial" pitchFamily="34" charset="-120"/>
              </a:rPr>
              <a:t>Jede neue Geräte-Generation macht den Occasionsmarkt grösser.</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58" fill="hold">
                      <p:stCondLst>
                        <p:cond delay="indefinite"/>
                        <p:cond evt="onBegin" delay="0">
                          <p:tn val="2"/>
                        </p:cond>
                      </p:stCondLst>
                      <p:childTnLst>
                        <p:par>
                          <p:cTn id="57"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00"/>
                                        <p:tgtEl>
                                          <p:spTgt spid="11"/>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00"/>
                                        <p:tgtEl>
                                          <p:spTgt spid="12"/>
                                        </p:tgtEl>
                                      </p:cBhvr>
                                    </p:animEffect>
                                  </p:childTnLst>
                                </p:cTn>
                              </p:par>
                              <p:par>
                                <p:cTn id="27" presetID="10" presetClass="entr" presetSubtype="0" fill="hold" grpId="0" nodeType="afterEffect">
                                  <p:stCondLst>
                                    <p:cond delay="104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00"/>
                                        <p:tgtEl>
                                          <p:spTgt spid="13"/>
                                        </p:tgtEl>
                                      </p:cBhvr>
                                    </p:animEffect>
                                  </p:childTnLst>
                                </p:cTn>
                              </p:par>
                              <p:par>
                                <p:cTn id="30" presetID="10" presetClass="entr" presetSubtype="0" fill="hold" grpId="0" nodeType="afterEffect">
                                  <p:stCondLst>
                                    <p:cond delay="117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400"/>
                                        <p:tgtEl>
                                          <p:spTgt spid="14"/>
                                        </p:tgtEl>
                                      </p:cBhvr>
                                    </p:animEffect>
                                  </p:childTnLst>
                                </p:cTn>
                              </p:par>
                              <p:par>
                                <p:cTn id="33" presetID="10" presetClass="entr" presetSubtype="0" fill="hold" grpId="0" nodeType="afterEffect">
                                  <p:stCondLst>
                                    <p:cond delay="130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00"/>
                                        <p:tgtEl>
                                          <p:spTgt spid="15"/>
                                        </p:tgtEl>
                                      </p:cBhvr>
                                    </p:animEffect>
                                  </p:childTnLst>
                                </p:cTn>
                              </p:par>
                              <p:par>
                                <p:cTn id="36" presetID="10" presetClass="entr" presetSubtype="0" fill="hold" grpId="0" nodeType="afterEffect">
                                  <p:stCondLst>
                                    <p:cond delay="143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400"/>
                                        <p:tgtEl>
                                          <p:spTgt spid="16"/>
                                        </p:tgtEl>
                                      </p:cBhvr>
                                    </p:animEffect>
                                  </p:childTnLst>
                                </p:cTn>
                              </p:par>
                              <p:par>
                                <p:cTn id="39" presetID="10" presetClass="entr" presetSubtype="0" fill="hold" grpId="0" nodeType="afterEffect">
                                  <p:stCondLst>
                                    <p:cond delay="156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00"/>
                                        <p:tgtEl>
                                          <p:spTgt spid="17"/>
                                        </p:tgtEl>
                                      </p:cBhvr>
                                    </p:animEffect>
                                  </p:childTnLst>
                                </p:cTn>
                              </p:par>
                              <p:par>
                                <p:cTn id="42" presetID="10" presetClass="entr" presetSubtype="0" fill="hold" grpId="0" nodeType="afterEffect">
                                  <p:stCondLst>
                                    <p:cond delay="169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par>
                                <p:cTn id="45" presetID="10" presetClass="entr" presetSubtype="0" fill="hold" grpId="0" nodeType="afterEffect">
                                  <p:stCondLst>
                                    <p:cond delay="182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00"/>
                                        <p:tgtEl>
                                          <p:spTgt spid="19"/>
                                        </p:tgtEl>
                                      </p:cBhvr>
                                    </p:animEffect>
                                  </p:childTnLst>
                                </p:cTn>
                              </p:par>
                              <p:par>
                                <p:cTn id="48" presetID="10" presetClass="entr" presetSubtype="0" fill="hold" grpId="0" nodeType="afterEffect">
                                  <p:stCondLst>
                                    <p:cond delay="195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00"/>
                                        <p:tgtEl>
                                          <p:spTgt spid="20"/>
                                        </p:tgtEl>
                                      </p:cBhvr>
                                    </p:animEffect>
                                  </p:childTnLst>
                                </p:cTn>
                              </p:par>
                              <p:par>
                                <p:cTn id="51" presetID="10" presetClass="entr" presetSubtype="0" fill="hold" grpId="0" nodeType="afterEffect">
                                  <p:stCondLst>
                                    <p:cond delay="208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00"/>
                                        <p:tgtEl>
                                          <p:spTgt spid="21"/>
                                        </p:tgtEl>
                                      </p:cBhvr>
                                    </p:animEffect>
                                  </p:childTnLst>
                                </p:cTn>
                              </p:par>
                              <p:par>
                                <p:cTn id="54" presetID="10" presetClass="entr" presetSubtype="0" fill="hold" grpId="0" nodeType="afterEffect">
                                  <p:stCondLst>
                                    <p:cond delay="221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26</a:t>
            </a:r>
            <a:endParaRPr lang="en-US" sz="850" dirty="0"/>
          </a:p>
        </p:txBody>
      </p:sp>
      <p:sp>
        <p:nvSpPr>
          <p:cNvPr id="4" name="chrome-reserve"/>
          <p:cNvSpPr/>
          <p:nvPr/>
        </p:nvSpPr>
        <p:spPr>
          <a:xfrm>
            <a:off x="8778240" y="384048"/>
            <a:ext cx="2926080" cy="274320"/>
          </a:xfrm>
          <a:prstGeom prst="rect">
            <a:avLst/>
          </a:prstGeom>
          <a:noFill/>
          <a:ln/>
        </p:spPr>
        <p:txBody>
          <a:bodyPr wrap="square" lIns="0" tIns="0" rIns="0" bIns="0" rtlCol="0" anchor="ctr"/>
          <a:lstStyle/>
          <a:p>
            <a:pPr algn="r" indent="0" marL="0">
              <a:buNone/>
            </a:pPr>
            <a:r>
              <a:rPr lang="en-US" sz="900" b="1" spc="200" kern="0" dirty="0">
                <a:solidFill>
                  <a:srgbClr val="5C6E82"/>
                </a:solidFill>
                <a:latin typeface="Arial" pitchFamily="34" charset="0"/>
                <a:ea typeface="Arial" pitchFamily="34" charset="-122"/>
                <a:cs typeface="Arial" pitchFamily="34" charset="-120"/>
              </a:rPr>
              <a:t>RESERVE · NUR BEI NACHFRAGE</a:t>
            </a:r>
            <a:endParaRPr lang="en-US" sz="900" dirty="0"/>
          </a:p>
        </p:txBody>
      </p:sp>
      <p:sp>
        <p:nvSpPr>
          <p:cNvPr id="5" name="Text 3"/>
          <p:cNvSpPr/>
          <p:nvPr/>
        </p:nvSpPr>
        <p:spPr>
          <a:xfrm>
            <a:off x="502920" y="411480"/>
            <a:ext cx="8229600" cy="274320"/>
          </a:xfrm>
          <a:prstGeom prst="rect">
            <a:avLst/>
          </a:prstGeom>
          <a:noFill/>
          <a:ln/>
        </p:spPr>
        <p:txBody>
          <a:bodyPr wrap="square" lIns="0" tIns="0" rIns="0" bIns="0" rtlCol="0" anchor="ctr"/>
          <a:lstStyle/>
          <a:p>
            <a:pPr indent="0" marL="0">
              <a:buNone/>
            </a:pPr>
            <a:r>
              <a:rPr lang="en-US" sz="1050" b="1" spc="300" kern="0" dirty="0">
                <a:solidFill>
                  <a:srgbClr val="C58BFF"/>
                </a:solidFill>
                <a:latin typeface="Arial" pitchFamily="34" charset="0"/>
                <a:ea typeface="Arial" pitchFamily="34" charset="-122"/>
                <a:cs typeface="Arial" pitchFamily="34" charset="-120"/>
              </a:rPr>
              <a:t>16 · WAS WIR GELERNT HABEN</a:t>
            </a:r>
            <a:endParaRPr lang="en-US" sz="1050" dirty="0"/>
          </a:p>
        </p:txBody>
      </p:sp>
      <p:sp>
        <p:nvSpPr>
          <p:cNvPr id="6" name="Text 4"/>
          <p:cNvSpPr/>
          <p:nvPr/>
        </p:nvSpPr>
        <p:spPr>
          <a:xfrm>
            <a:off x="502920" y="777240"/>
            <a:ext cx="11155680" cy="685800"/>
          </a:xfrm>
          <a:prstGeom prst="rect">
            <a:avLst/>
          </a:prstGeom>
          <a:noFill/>
          <a:ln/>
        </p:spPr>
        <p:txBody>
          <a:bodyPr wrap="square" lIns="0" tIns="0" rIns="0" bIns="0" rtlCol="0" anchor="ctr"/>
          <a:lstStyle/>
          <a:p>
            <a:pPr indent="0" marL="0">
              <a:buNone/>
            </a:pPr>
            <a:r>
              <a:rPr lang="en-US" sz="3000" b="1" dirty="0">
                <a:solidFill>
                  <a:srgbClr val="EDF2F7"/>
                </a:solidFill>
                <a:latin typeface="Arial" pitchFamily="34" charset="0"/>
                <a:ea typeface="Arial" pitchFamily="34" charset="-122"/>
                <a:cs typeface="Arial" pitchFamily="34" charset="-120"/>
              </a:rPr>
              <a:t>Drei Dinge</a:t>
            </a:r>
            <a:endParaRPr lang="en-US" sz="3000" dirty="0"/>
          </a:p>
        </p:txBody>
      </p:sp>
      <p:sp>
        <p:nvSpPr>
          <p:cNvPr id="7" name="Shape 5"/>
          <p:cNvSpPr/>
          <p:nvPr/>
        </p:nvSpPr>
        <p:spPr>
          <a:xfrm>
            <a:off x="548640" y="2286000"/>
            <a:ext cx="128016" cy="128016"/>
          </a:xfrm>
          <a:prstGeom prst="rect">
            <a:avLst/>
          </a:prstGeom>
          <a:solidFill>
            <a:srgbClr val="C58BFF"/>
          </a:solidFill>
          <a:ln/>
        </p:spPr>
      </p:sp>
      <p:sp>
        <p:nvSpPr>
          <p:cNvPr id="8" name="Text 6"/>
          <p:cNvSpPr/>
          <p:nvPr/>
        </p:nvSpPr>
        <p:spPr>
          <a:xfrm>
            <a:off x="914400" y="2194560"/>
            <a:ext cx="10515600" cy="1005840"/>
          </a:xfrm>
          <a:prstGeom prst="rect">
            <a:avLst/>
          </a:prstGeom>
          <a:noFill/>
          <a:ln/>
        </p:spPr>
        <p:txBody>
          <a:bodyPr wrap="square" lIns="0" tIns="0" rIns="0" bIns="0" rtlCol="0" anchor="t"/>
          <a:lstStyle/>
          <a:p>
            <a:pPr indent="0" marL="0">
              <a:lnSpc>
                <a:spcPct val="115000"/>
              </a:lnSpc>
              <a:buNone/>
            </a:pPr>
            <a:r>
              <a:rPr lang="en-US" sz="1400" b="1" dirty="0">
                <a:solidFill>
                  <a:srgbClr val="EDF2F7"/>
                </a:solidFill>
                <a:latin typeface="Arial" pitchFamily="34" charset="0"/>
                <a:ea typeface="Arial" pitchFamily="34" charset="-122"/>
                <a:cs typeface="Arial" pitchFamily="34" charset="-120"/>
              </a:rPr>
              <a:t>Markenware ist ein Volumengeschäft. </a:t>
            </a:r>
            <a:pPr indent="0" marL="0">
              <a:lnSpc>
                <a:spcPct val="115000"/>
              </a:lnSpc>
              <a:buNone/>
            </a:pPr>
            <a:r>
              <a:rPr lang="en-US" sz="1300" dirty="0">
                <a:solidFill>
                  <a:srgbClr val="8FA0B4"/>
                </a:solidFill>
                <a:latin typeface="Arial" pitchFamily="34" charset="0"/>
                <a:ea typeface="Arial" pitchFamily="34" charset="-122"/>
                <a:cs typeface="Arial" pitchFamily="34" charset="-120"/>
              </a:rPr>
              <a:t>Die Marge liegt nicht im Logo — sie liegt im zweiten Leben der Geräte.</a:t>
            </a:r>
            <a:endParaRPr lang="en-US" sz="1400" dirty="0"/>
          </a:p>
        </p:txBody>
      </p:sp>
      <p:sp>
        <p:nvSpPr>
          <p:cNvPr id="9" name="Shape 7"/>
          <p:cNvSpPr/>
          <p:nvPr/>
        </p:nvSpPr>
        <p:spPr>
          <a:xfrm>
            <a:off x="548640" y="3383280"/>
            <a:ext cx="128016" cy="128016"/>
          </a:xfrm>
          <a:prstGeom prst="rect">
            <a:avLst/>
          </a:prstGeom>
          <a:solidFill>
            <a:srgbClr val="C58BFF"/>
          </a:solidFill>
          <a:ln/>
        </p:spPr>
      </p:sp>
      <p:sp>
        <p:nvSpPr>
          <p:cNvPr id="10" name="Text 8"/>
          <p:cNvSpPr/>
          <p:nvPr/>
        </p:nvSpPr>
        <p:spPr>
          <a:xfrm>
            <a:off x="914400" y="3291840"/>
            <a:ext cx="10515600" cy="1005840"/>
          </a:xfrm>
          <a:prstGeom prst="rect">
            <a:avLst/>
          </a:prstGeom>
          <a:noFill/>
          <a:ln/>
        </p:spPr>
        <p:txBody>
          <a:bodyPr wrap="square" lIns="0" tIns="0" rIns="0" bIns="0" rtlCol="0" anchor="t"/>
          <a:lstStyle/>
          <a:p>
            <a:pPr indent="0" marL="0">
              <a:lnSpc>
                <a:spcPct val="115000"/>
              </a:lnSpc>
              <a:buNone/>
            </a:pPr>
            <a:r>
              <a:rPr lang="en-US" sz="1400" b="1" dirty="0">
                <a:solidFill>
                  <a:srgbClr val="EDF2F7"/>
                </a:solidFill>
                <a:latin typeface="Arial" pitchFamily="34" charset="0"/>
                <a:ea typeface="Arial" pitchFamily="34" charset="-122"/>
                <a:cs typeface="Arial" pitchFamily="34" charset="-120"/>
              </a:rPr>
              <a:t>Der Preis allein verkauft nicht. </a:t>
            </a:r>
            <a:pPr indent="0" marL="0">
              <a:lnSpc>
                <a:spcPct val="115000"/>
              </a:lnSpc>
              <a:buNone/>
            </a:pPr>
            <a:r>
              <a:rPr lang="en-US" sz="1300" dirty="0">
                <a:solidFill>
                  <a:srgbClr val="8FA0B4"/>
                </a:solidFill>
                <a:latin typeface="Arial" pitchFamily="34" charset="0"/>
                <a:ea typeface="Arial" pitchFamily="34" charset="-122"/>
                <a:cs typeface="Arial" pitchFamily="34" charset="-120"/>
              </a:rPr>
              <a:t>Vertrauen verkauft: Garantie, TWINT, eine Schweizer Adresse.</a:t>
            </a:r>
            <a:endParaRPr lang="en-US" sz="1400" dirty="0"/>
          </a:p>
        </p:txBody>
      </p:sp>
      <p:sp>
        <p:nvSpPr>
          <p:cNvPr id="11" name="Shape 9"/>
          <p:cNvSpPr/>
          <p:nvPr/>
        </p:nvSpPr>
        <p:spPr>
          <a:xfrm>
            <a:off x="548640" y="4480560"/>
            <a:ext cx="128016" cy="128016"/>
          </a:xfrm>
          <a:prstGeom prst="rect">
            <a:avLst/>
          </a:prstGeom>
          <a:solidFill>
            <a:srgbClr val="C58BFF"/>
          </a:solidFill>
          <a:ln/>
        </p:spPr>
      </p:sp>
      <p:sp>
        <p:nvSpPr>
          <p:cNvPr id="12" name="Text 10"/>
          <p:cNvSpPr/>
          <p:nvPr/>
        </p:nvSpPr>
        <p:spPr>
          <a:xfrm>
            <a:off x="914400" y="4389120"/>
            <a:ext cx="10515600" cy="1005840"/>
          </a:xfrm>
          <a:prstGeom prst="rect">
            <a:avLst/>
          </a:prstGeom>
          <a:noFill/>
          <a:ln/>
        </p:spPr>
        <p:txBody>
          <a:bodyPr wrap="square" lIns="0" tIns="0" rIns="0" bIns="0" rtlCol="0" anchor="t"/>
          <a:lstStyle/>
          <a:p>
            <a:pPr indent="0" marL="0">
              <a:lnSpc>
                <a:spcPct val="115000"/>
              </a:lnSpc>
              <a:buNone/>
            </a:pPr>
            <a:r>
              <a:rPr lang="en-US" sz="1400" b="1" dirty="0">
                <a:solidFill>
                  <a:srgbClr val="EDF2F7"/>
                </a:solidFill>
                <a:latin typeface="Arial" pitchFamily="34" charset="0"/>
                <a:ea typeface="Arial" pitchFamily="34" charset="-122"/>
                <a:cs typeface="Arial" pitchFamily="34" charset="-120"/>
              </a:rPr>
              <a:t>Wir haben noch nichts verkauft. </a:t>
            </a:r>
            <a:pPr indent="0" marL="0">
              <a:lnSpc>
                <a:spcPct val="115000"/>
              </a:lnSpc>
              <a:buNone/>
            </a:pPr>
            <a:r>
              <a:rPr lang="en-US" sz="1300" dirty="0">
                <a:solidFill>
                  <a:srgbClr val="8FA0B4"/>
                </a:solidFill>
                <a:latin typeface="Arial" pitchFamily="34" charset="0"/>
                <a:ea typeface="Arial" pitchFamily="34" charset="-122"/>
                <a:cs typeface="Arial" pitchFamily="34" charset="-120"/>
              </a:rPr>
              <a:t>Alle Zahlen sind gerechnet, nicht gemessen. Das sagen wir lieber selber.</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28" fill="hold">
                      <p:stCondLst>
                        <p:cond delay="indefinite"/>
                        <p:cond evt="onBegin" delay="0">
                          <p:tn val="2"/>
                        </p:cond>
                      </p:stCondLst>
                      <p:childTnLst>
                        <p:par>
                          <p:cTn id="27"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400"/>
                                        <p:tgtEl>
                                          <p:spTgt spid="7"/>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400"/>
                                        <p:tgtEl>
                                          <p:spTgt spid="8"/>
                                        </p:tgtEl>
                                      </p:cBhvr>
                                    </p:animEffect>
                                  </p:childTnLst>
                                </p:cTn>
                              </p:par>
                              <p:par>
                                <p:cTn id="15" presetID="10" presetClass="entr" presetSubtype="0" fill="hold" grpId="0" nodeType="afterEffect">
                                  <p:stCondLst>
                                    <p:cond delay="52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par>
                                <p:cTn id="18" presetID="10" presetClass="entr" presetSubtype="0" fill="hold" grpId="0" nodeType="afterEffect">
                                  <p:stCondLst>
                                    <p:cond delay="65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childTnLst>
                                </p:cTn>
                              </p:par>
                              <p:par>
                                <p:cTn id="21" presetID="10" presetClass="entr" presetSubtype="0" fill="hold" grpId="0" nodeType="afterEffect">
                                  <p:stCondLst>
                                    <p:cond delay="78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00"/>
                                        <p:tgtEl>
                                          <p:spTgt spid="11"/>
                                        </p:tgtEl>
                                      </p:cBhvr>
                                    </p:animEffect>
                                  </p:childTnLst>
                                </p:cTn>
                              </p:par>
                              <p:par>
                                <p:cTn id="24" presetID="10" presetClass="entr" presetSubtype="0" fill="hold" grpId="0" nodeType="afterEffect">
                                  <p:stCondLst>
                                    <p:cond delay="91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80B0F"/>
        </a:solidFill>
      </p:bgPr>
    </p:bg>
    <p:spTree>
      <p:nvGrpSpPr>
        <p:cNvPr id="1" name=""/>
        <p:cNvGrpSpPr/>
        <p:nvPr/>
      </p:nvGrpSpPr>
      <p:grpSpPr>
        <a:xfrm>
          <a:off x="0" y="0"/>
          <a:ext cx="0" cy="0"/>
          <a:chOff x="0" y="0"/>
          <a:chExt cx="0" cy="0"/>
        </a:xfrm>
      </p:grpSpPr>
      <p:sp>
        <p:nvSpPr>
          <p:cNvPr id="2" name="chrome-footer"/>
          <p:cNvSpPr/>
          <p:nvPr/>
        </p:nvSpPr>
        <p:spPr>
          <a:xfrm>
            <a:off x="502920" y="6510528"/>
            <a:ext cx="4572000" cy="237744"/>
          </a:xfrm>
          <a:prstGeom prst="rect">
            <a:avLst/>
          </a:prstGeom>
          <a:noFill/>
          <a:ln/>
        </p:spPr>
        <p:txBody>
          <a:bodyPr wrap="square" lIns="0" tIns="0" rIns="0" bIns="0" rtlCol="0" anchor="ctr"/>
          <a:lstStyle/>
          <a:p>
            <a:pPr indent="0" marL="0">
              <a:buNone/>
            </a:pPr>
            <a:r>
              <a:rPr lang="en-US" sz="850" dirty="0">
                <a:solidFill>
                  <a:srgbClr val="5C6E82"/>
                </a:solidFill>
                <a:latin typeface="Arial" pitchFamily="34" charset="0"/>
                <a:ea typeface="Arial" pitchFamily="34" charset="-122"/>
                <a:cs typeface="Arial" pitchFamily="34" charset="-120"/>
              </a:rPr>
              <a:t>Fairtech Schweiz · Projekt E-Commerce</a:t>
            </a:r>
            <a:endParaRPr lang="en-US" sz="850" dirty="0"/>
          </a:p>
        </p:txBody>
      </p:sp>
      <p:sp>
        <p:nvSpPr>
          <p:cNvPr id="3" name="chrome-page"/>
          <p:cNvSpPr/>
          <p:nvPr/>
        </p:nvSpPr>
        <p:spPr>
          <a:xfrm>
            <a:off x="11430000" y="6510528"/>
            <a:ext cx="256032" cy="237744"/>
          </a:xfrm>
          <a:prstGeom prst="rect">
            <a:avLst/>
          </a:prstGeom>
          <a:noFill/>
          <a:ln/>
        </p:spPr>
        <p:txBody>
          <a:bodyPr wrap="square" lIns="0" tIns="0" rIns="0" bIns="0" rtlCol="0" anchor="ctr"/>
          <a:lstStyle/>
          <a:p>
            <a:pPr algn="r" indent="0" marL="0">
              <a:buNone/>
            </a:pPr>
            <a:r>
              <a:rPr lang="en-US" sz="850" dirty="0">
                <a:solidFill>
                  <a:srgbClr val="5C6E82"/>
                </a:solidFill>
                <a:latin typeface="Arial" pitchFamily="34" charset="0"/>
                <a:ea typeface="Arial" pitchFamily="34" charset="-122"/>
                <a:cs typeface="Arial" pitchFamily="34" charset="-120"/>
              </a:rPr>
              <a:t>27</a:t>
            </a:r>
            <a:endParaRPr lang="en-US" sz="850" dirty="0"/>
          </a:p>
        </p:txBody>
      </p:sp>
      <p:sp>
        <p:nvSpPr>
          <p:cNvPr id="4" name="Text 2"/>
          <p:cNvSpPr/>
          <p:nvPr/>
        </p:nvSpPr>
        <p:spPr>
          <a:xfrm>
            <a:off x="1527048" y="2011680"/>
            <a:ext cx="9144000" cy="320040"/>
          </a:xfrm>
          <a:prstGeom prst="rect">
            <a:avLst/>
          </a:prstGeom>
          <a:noFill/>
          <a:ln/>
        </p:spPr>
        <p:txBody>
          <a:bodyPr wrap="square" lIns="0" tIns="0" rIns="0" bIns="0" rtlCol="0" anchor="ctr"/>
          <a:lstStyle/>
          <a:p>
            <a:pPr algn="ctr" indent="0" marL="0">
              <a:buNone/>
            </a:pPr>
            <a:r>
              <a:rPr lang="en-US" sz="1200" b="1" spc="500" kern="0" dirty="0">
                <a:solidFill>
                  <a:srgbClr val="5C6E82"/>
                </a:solidFill>
                <a:latin typeface="Arial" pitchFamily="34" charset="0"/>
                <a:ea typeface="Arial" pitchFamily="34" charset="-122"/>
                <a:cs typeface="Arial" pitchFamily="34" charset="-120"/>
              </a:rPr>
              <a:t>FAIRTECH SCHWEIZ</a:t>
            </a:r>
            <a:endParaRPr lang="en-US" sz="1200" dirty="0"/>
          </a:p>
        </p:txBody>
      </p:sp>
      <p:sp>
        <p:nvSpPr>
          <p:cNvPr id="5" name="Text 3"/>
          <p:cNvSpPr/>
          <p:nvPr/>
        </p:nvSpPr>
        <p:spPr>
          <a:xfrm>
            <a:off x="1527048" y="2468880"/>
            <a:ext cx="9144000" cy="1463040"/>
          </a:xfrm>
          <a:prstGeom prst="rect">
            <a:avLst/>
          </a:prstGeom>
          <a:noFill/>
          <a:ln/>
        </p:spPr>
        <p:txBody>
          <a:bodyPr wrap="square" lIns="0" tIns="0" rIns="0" bIns="0" rtlCol="0" anchor="ctr"/>
          <a:lstStyle/>
          <a:p>
            <a:pPr algn="ctr" indent="0" marL="0">
              <a:buNone/>
            </a:pPr>
            <a:r>
              <a:rPr lang="en-US" sz="7600" b="1" dirty="0">
                <a:solidFill>
                  <a:srgbClr val="C58BFF"/>
                </a:solidFill>
                <a:latin typeface="Arial" pitchFamily="34" charset="0"/>
                <a:ea typeface="Arial" pitchFamily="34" charset="-122"/>
                <a:cs typeface="Arial" pitchFamily="34" charset="-120"/>
              </a:rPr>
              <a:t>Danke.</a:t>
            </a:r>
            <a:endParaRPr lang="en-US" sz="7600" dirty="0"/>
          </a:p>
        </p:txBody>
      </p:sp>
      <p:sp>
        <p:nvSpPr>
          <p:cNvPr id="6" name="Text 4"/>
          <p:cNvSpPr/>
          <p:nvPr/>
        </p:nvSpPr>
        <p:spPr>
          <a:xfrm>
            <a:off x="1527048" y="4160520"/>
            <a:ext cx="9144000" cy="411480"/>
          </a:xfrm>
          <a:prstGeom prst="rect">
            <a:avLst/>
          </a:prstGeom>
          <a:noFill/>
          <a:ln/>
        </p:spPr>
        <p:txBody>
          <a:bodyPr wrap="square" lIns="0" tIns="0" rIns="0" bIns="0" rtlCol="0" anchor="ctr"/>
          <a:lstStyle/>
          <a:p>
            <a:pPr algn="ctr" indent="0" marL="0">
              <a:buNone/>
            </a:pPr>
            <a:r>
              <a:rPr lang="en-US" sz="1500" dirty="0">
                <a:solidFill>
                  <a:srgbClr val="8FA0B4"/>
                </a:solidFill>
                <a:latin typeface="Arial" pitchFamily="34" charset="0"/>
                <a:ea typeface="Arial" pitchFamily="34" charset="-122"/>
                <a:cs typeface="Arial" pitchFamily="34" charset="-120"/>
              </a:rPr>
              <a:t>Yassin · Rayaan · Fernando · Samed · Kim</a:t>
            </a:r>
            <a:endParaRPr lang="en-US" sz="1500" dirty="0"/>
          </a:p>
        </p:txBody>
      </p:sp>
      <p:sp>
        <p:nvSpPr>
          <p:cNvPr id="7" name="Text 5"/>
          <p:cNvSpPr/>
          <p:nvPr/>
        </p:nvSpPr>
        <p:spPr>
          <a:xfrm>
            <a:off x="1527048" y="4709160"/>
            <a:ext cx="9144000" cy="320040"/>
          </a:xfrm>
          <a:prstGeom prst="rect">
            <a:avLst/>
          </a:prstGeom>
          <a:noFill/>
          <a:ln/>
        </p:spPr>
        <p:txBody>
          <a:bodyPr wrap="square" lIns="0" tIns="0" rIns="0" bIns="0" rtlCol="0" anchor="ctr"/>
          <a:lstStyle/>
          <a:p>
            <a:pPr algn="ctr" indent="0" marL="0">
              <a:buNone/>
            </a:pPr>
            <a:r>
              <a:rPr lang="en-US" sz="1200" b="1" spc="400" kern="0" dirty="0">
                <a:solidFill>
                  <a:srgbClr val="5C6E82"/>
                </a:solidFill>
                <a:latin typeface="Arial" pitchFamily="34" charset="0"/>
                <a:ea typeface="Arial" pitchFamily="34" charset="-122"/>
                <a:cs typeface="Arial" pitchFamily="34" charset="-120"/>
              </a:rPr>
              <a:t>FRAGEN?</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7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16" fill="hold">
                      <p:stCondLst>
                        <p:cond delay="indefinite"/>
                        <p:cond evt="onBegin" delay="0">
                          <p:tn val="2"/>
                        </p:cond>
                      </p:stCondLst>
                      <p:childTnLst>
                        <p:par>
                          <p:cTn id="15" fill="hold">
                            <p:stCondLst>
                              <p:cond delay="0"/>
                            </p:stCondLst>
                            <p:childTnLst>
                              <p:par>
                                <p:cTn id="3" presetID="10" presetClass="entr" presetSubtype="0" fill="hold" grpId="0" nodeType="with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afterEffect">
                                  <p:stCondLst>
                                    <p:cond delay="13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afterEffect">
                                  <p:stCondLst>
                                    <p:cond delay="26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par>
                                <p:cTn id="12" presetID="10" presetClass="entr" presetSubtype="0" fill="hold" grpId="0" nodeType="afterEffect">
                                  <p:stCondLst>
                                    <p:cond delay="39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2026-08-24T13:45:55Z</dcterms:created>
  <dcterms:modified xsi:type="dcterms:W3CDTF">2026-08-24T13:45:55Z</dcterms:modified>
</cp:coreProperties>
</file>