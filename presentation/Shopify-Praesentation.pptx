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c:v>
                </c:pt>
              </c:strCache>
            </c:strRef>
          </c:tx>
          <c:spPr>
            <a:solidFill>
              <a:srgbClr val="8A93A5"/>
            </a:solidFill>
            <a:effectLst/>
          </c:spPr>
          <c:invertIfNegative val="0"/>
          <c:dLbls>
            <c:numFmt formatCode="#,##0&quot; €&quot;"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8A93A5"/>
              </a:solidFill>
              <a:effectLst/>
            </c:spPr>
          </c:dPt>
          <c:dPt>
            <c:idx val="1"/>
            <c:invertIfNegative val="0"/>
            <c:bubble3D val="0"/>
            <c:spPr>
              <a:solidFill>
                <a:srgbClr val="D96A62"/>
              </a:solidFill>
              <a:effectLst/>
            </c:spPr>
          </c:dPt>
          <c:dPt>
            <c:idx val="2"/>
            <c:invertIfNegative val="0"/>
            <c:bubble3D val="0"/>
            <c:spPr>
              <a:solidFill>
                <a:srgbClr val="95BF47"/>
              </a:solidFill>
              <a:effectLst/>
            </c:spPr>
          </c:dPt>
          <c:cat>
            <c:multiLvlStrRef>
              <c:f>Sheet1!$A$2:$A$4</c:f>
              <c:multiLvlStrCache>
                <c:ptCount val="3"/>
                <c:lvl>
                  <c:pt idx="0">
                    <c:v>Umsatz</c:v>
                  </c:pt>
                  <c:pt idx="1">
                    <c:v>Kosten</c:v>
                  </c:pt>
                  <c:pt idx="2">
                    <c:v>Gewinn</c:v>
                  </c:pt>
                </c:lvl>
              </c:multiLvlStrCache>
            </c:multiLvlStrRef>
          </c:cat>
          <c:val>
            <c:numRef>
              <c:f>Sheet1!$B$2:$B$4</c:f>
              <c:numCache>
                <c:formatCode>General</c:formatCode>
                <c:ptCount val="3"/>
                <c:pt idx="0">
                  <c:v>1900</c:v>
                </c:pt>
                <c:pt idx="1">
                  <c:v>121</c:v>
                </c:pt>
                <c:pt idx="2">
                  <c:v>1779</c:v>
                </c:pt>
              </c:numCache>
            </c:numRef>
          </c:val>
        </c:ser>
        <c:dLbls>
          <c:numFmt formatCode="#,##0&quot; €&quot;"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7CBD4"/>
                </a:solidFill>
                <a:latin typeface="Arial"/>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6350" cap="flat">
              <a:solidFill>
                <a:srgbClr val="2629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5F6B"/>
                </a:solidFill>
                <a:latin typeface="Arial"/>
              </a:defRPr>
            </a:pPr>
            <a:endParaRPr lang="en-US"/>
          </a:p>
        </c:txPr>
        <c:crossAx val="2094734554"/>
        <c:crosses val="autoZero"/>
        <c:crossBetween val="between"/>
      </c:valAx>
      <c:spPr>
        <a:solidFill>
          <a:srgbClr val="0D0E12"/>
        </a:solidFill>
        <a:ln>
          <a:noFill/>
        </a:ln>
        <a:effectLst/>
      </c:spPr>
    </c:plotArea>
    <c:plotVisOnly val="1"/>
    <c:dispBlanksAs val="span"/>
  </c:chart>
  <c:spPr>
    <a:solidFill>
      <a:srgbClr val="0D0E12"/>
    </a:solidFill>
    <a:ln w="12700" cap="flat">
      <a:solidFill>
        <a:srgbClr val="0D0E12"/>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(0:00–0:45): Guten Morgen zusammen. Stellt euch vor, ihr eröffnet ein Geschäft – aber ohne Ladenlokal, ohne Miete und ohne Personal. Es hat 24 Stunden am Tag geöffnet, und eure Kundschaft sitzt auf der ganzen Welt. Genau das ist heute möglich – und wie das geht, zeigen wir euch in den nächsten 18 Minuten. Unser Thema: Shopify – wie man einen eigenen Online-Shop aufbaut und sogar mit digitalen Produkten Geld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(0:45–1:15): Kurz zum Ablauf: Ich starte mit den Grundlagen des E-Commerce. Danach erklärt [Name 2], was Shopify ist und wie man in fünf Schritten einen Shop baut. [Name 3] zeigt, was das kostet. [Name 4] kommt zum spannendsten Teil – wie man mit digitalen Produkten Geld verdient. Und [Name 5] schliesst mit Vor- und Nachteilen und unserem Fazit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(1:15–3:00): Zuerst: Was ist E-Commerce überhaupt? E-Commerce heisst einfach: Kaufen und Verkaufen über das Internet. Vom T-Shirt bis zum Online-Kurs – gehandelt wird alles, bezahlt wird digital. Warum ist das so stark? Drei Gründe: Erstens – ein Online-Shop hat rund um die Uhr geöffnet, auch nachts und am Wochenende, ganz ohne Personal. Zweitens – ihr erreicht Menschen in über 175 Ländern, nicht nur die Leute aus eurem Dorf. Und drittens – die Startkosten sind winzig: keine Ladenmiete, kein Umbau. Ein Laptop reicht. Und genau hier kommt Shopify ins Spiel – [Name 2], übernimm!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(3:00–5:00): Danke! Shopify ist wie ein Baukasten für Online-Shops: Shop, Kasse, Zahlungen und Versand – alles aus einer Hand, ohne eine einzige Zeile Code. Ein paar Zahlen, damit ihr seht, wie gross das ist: Über 3 Millionen aktive Shops laufen auf Shopify, in über 175 Ländern. Allein im Jahr 2025 haben die Händler auf Shopify 378 Milliarden Dollar Umsatz gemacht. Und unter allen Shop-Systemen weltweit hat Shopify rund 46 Prozent Marktanteil – fast jeder zweite professionelle Online-Shop. Vielleicht kennt ihr sogar welche: Gymshark, Kylie Cosmetics, Allbirds oder Snocks – die laufen alle auf Shopify. Die haben genauso angefangen wie jeder andere: mit einem leeren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(5:00–7:00): Und so einfach geht das – in fünf Schritten: 1. Konto erstellen: Gratis-Test starten, eine E-Mail-Adresse genügt. 2. Design wählen: fertiges Theme aussuchen und Farben und Logo anpassen – wie bei Instagram ein Profil einrichten. 3. Produkte anlegen: Foto hochladen, Beschreibung schreiben, Preis festlegen. 4. Zahlungen aktivieren: Mit Shopify Payments akzeptiert man mit einem Klick Kreditkarte, PayPal und Apple Pay. 5. Domain verbinden und live gehen, zum Beispiel www.meinshop.ch. Hier rechts seht ihr, wie so eine fertige Produktseite aussieht. Ein kompletter Shop an einem Nachmittag – ohne Programmieren. Aber was kostet der Spass? [Name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(7:00–10:00): Danke! Die wichtigste Frage: Was kostet das? Shopify hat drei Haupt-Pläne. Der Basic-Plan kostet 36 Euro im Monat – das ist der richtige für den Start, darum ist er grün markiert. Der Grow-Plan für 105 Euro lohnt sich erst ab etwa 10'000 Euro Umsatz pro Monat, und Advanced für 384 Euro ist für richtig grosse Shops. Wichtig: Dazu kommen Zahlungsgebühren bei jedem Verkauf – im Basic-Plan 2,9 Prozent plus 30 Cent. Verkauft ihr etwas für 100 Euro, gehen etwa 3 Euro an Gebühren weg. Drei Spar-Tipps: Mit dem Jahresabo spart man bis zu 25 Prozent. Eine eigene Domain kostet nur etwa 15 Euro im Jahr. Und man kann Shopify gratis testen, bevor man überhaupt etwas bezahlt. Für unter 40 Euro im Monat bekommt man also, wofür man früher ein Ladenlokal brauchte. Und jetzt kommt der Teil, auf den ihr gewartet habt – Geld verdienen. [Name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(10:00–11:30): Danke! Jetzt wird's spannend. Die meisten denken bei Online-Shops an Kleider oder Elektronik. Aber es gibt eine Kategorie, die viel schlauer ist: digitale Produkte – also E-Books, Online-Kurse, Vorlagen, Musik. Der Markt dafür ist riesig: 157 Milliarden Dollar wurden 2026 weltweit für digitale Produkte ausgegeben. Warum sind sie so genial? Es gibt kein Lager und keinen Versand – die Datei liefert sich in Sekunden selbst aus. Die Marge liegt bei fast 100 Prozent, denn eine PDF kostet in der Herstellung nichts. Und ob ihr 10 oder 10'000 Stück verkauft – der Aufwand bleibt exakt gleich. Einmal erstellen, unendlich oft verkaufen. Perfekt für Leute wie uns, ohne Startkapital.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(11:30–13:00): Und so einfach ist das auf Shopify: Man installiert die App ‚Digital Downloads' – die ist von Shopify selbst und gratis. Dann hängt man die Datei ans Produkt – PDF, ZIP, MP3 oder Video. Man schaltet den Versand aus, weil es nichts zu verschicken gibt. Fertig. Der Kunde bezahlt und bekommt den Download-Link sofort automatisch per E-Mail – sogar während ihr schlaft. Was verkauft sich? E-Books für 9 bis 49 Euro. Online-Kurse für 49 bis 299 Euro. Vorlagen – Canva-Templates, Notion-Vorlagen, Lebenslauf-Designs – für 29 bis 149 Euro. Oder Presets, Musik und Fotos. Unsere Idee für die Klasse: eine gute Lernzusammenfassung als PDF für 5 Euro – jede:r von uns könnte damit morgen starten.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(13:00–14:30): Rechnen wir das konkret durch. Ihr schreibt ein E-Book, zum Beispiel einen ‚Prüfungs-Guide', und verkauft es für 19 Euro. Bei 100 Verkäufen im Monat sind das 1'900 Euro Umsatz. Davon gehen ab: 36 Euro für Shopify Basic und rund 85 Euro Zahlungsgebühren. Es bleiben etwa 1'779 Euro Gewinn – pro Monat, mit einem einzigen Produkt. Und das Beste seht ihr im Diagramm: Die Kosten sind winzig im Vergleich zum Umsatz. Bei 1'000 Verkäufen wären es rund 17'800 Euro – ohne eine Minute mehr Arbeit. Ob das alles zu schön ist, um wahr zu sein? Das klärt [Name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5 (14:30–16:00): Danke! Klingt alles perfekt – aber wir wollen ehrlich sein. Dafür spricht: Man startet an einem Tag, ohne Programmieren. Alles kommt aus einer Hand – Hosting, Kasse, Zahlung. Der Shop wächst mit, vom Hobby bis zur Weltmarke. Und es gibt Tausende Apps für jede Zusatzfunktion. Aber – und das verschweigen die YouTube-Gurus gern: Die Fixkosten laufen jeden Monat, auch wenn ihr nichts verkauft. Bei jedem Verkauf gehen Gebühren weg. Ohne eigenes Marketing – TikTok, Instagram, Google – kommt schlicht niemand in euren Shop. Und ohne Code-Kenntnisse stösst man beim Design irgendwann an Grenzen. Shopify ist ein Werkzeug – kein Geldautomat.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5 (16:00–17:00): Was nehmen wir mit? Drei Dinge. Erstens: E-Commerce ist heute für alle zugänglich – einen Shop starten kann jede und jeder von uns, noch diese Woche. Zweitens: Digitale Produkte sind der Einstieg mit dem kleinsten Risiko – kein Lager, kein Versand, fast keine Kosten. Drittens: Der Shop ist der einfache Teil – über den Erfolg entscheidet das Marketing. Oder in einem Satz: Man braucht kein Ladenlokal mehr, um ein Geschäft zu starten – nur eine gute Idee und ein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5 (17:00–17:30): Das war unsere Präsentation zu Shopify. Vielen Dank fürs Zuhören – habt ihr Fragen? (Tipp: Fragen zur Technik an Person 2, zu Kosten an Person 3, zu digitalen Produkten an Person 4 weitergeben.)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E12"/>
        </a:solidFill>
      </p:bgPr>
    </p:bg>
    <p:spTree>
      <p:nvGrpSpPr>
        <p:cNvPr id="1" name=""/>
        <p:cNvGrpSpPr/>
        <p:nvPr/>
      </p:nvGrpSpPr>
      <p:grpSpPr>
        <a:xfrm>
          <a:off x="0" y="0"/>
          <a:ext cx="0" cy="0"/>
          <a:chOff x="0" y="0"/>
          <a:chExt cx="0" cy="0"/>
        </a:xfrm>
      </p:grpSpPr>
      <p:sp>
        <p:nvSpPr>
          <p:cNvPr id="2" name="Text 0"/>
          <p:cNvSpPr/>
          <p:nvPr/>
        </p:nvSpPr>
        <p:spPr>
          <a:xfrm>
            <a:off x="5705856" y="960120"/>
            <a:ext cx="777240" cy="777240"/>
          </a:xfrm>
          <a:prstGeom prst="roundRect">
            <a:avLst>
              <a:gd name="adj" fmla="val 18824"/>
            </a:avLst>
          </a:prstGeom>
          <a:solidFill>
            <a:srgbClr val="95BF47"/>
          </a:solidFill>
          <a:ln/>
        </p:spPr>
        <p:txBody>
          <a:bodyPr wrap="square" lIns="0" tIns="0" rIns="0" bIns="0" rtlCol="0" anchor="ctr"/>
          <a:lstStyle/>
          <a:p>
            <a:pPr algn="ctr" indent="0" marL="0">
              <a:buNone/>
            </a:pPr>
            <a:r>
              <a:rPr lang="en-US" sz="3800" b="1" dirty="0">
                <a:solidFill>
                  <a:srgbClr val="0D0E12"/>
                </a:solidFill>
                <a:latin typeface="Arial" pitchFamily="34" charset="0"/>
                <a:ea typeface="Arial" pitchFamily="34" charset="-122"/>
                <a:cs typeface="Arial" pitchFamily="34" charset="-120"/>
              </a:rPr>
              <a:t>S</a:t>
            </a:r>
            <a:endParaRPr lang="en-US" sz="3800" dirty="0"/>
          </a:p>
        </p:txBody>
      </p:sp>
      <p:sp>
        <p:nvSpPr>
          <p:cNvPr id="3" name="Text 1"/>
          <p:cNvSpPr/>
          <p:nvPr/>
        </p:nvSpPr>
        <p:spPr>
          <a:xfrm>
            <a:off x="1984248" y="2011680"/>
            <a:ext cx="8229600" cy="320040"/>
          </a:xfrm>
          <a:prstGeom prst="rect">
            <a:avLst/>
          </a:prstGeom>
          <a:noFill/>
          <a:ln/>
        </p:spPr>
        <p:txBody>
          <a:bodyPr wrap="square" lIns="0" tIns="0" rIns="0" bIns="0" rtlCol="0" anchor="ctr"/>
          <a:lstStyle/>
          <a:p>
            <a:pPr algn="ctr" indent="0" marL="0">
              <a:buNone/>
            </a:pPr>
            <a:r>
              <a:rPr lang="en-US" sz="1200" b="1" spc="400" kern="0" dirty="0">
                <a:solidFill>
                  <a:srgbClr val="95BF47"/>
                </a:solidFill>
                <a:latin typeface="Arial" pitchFamily="34" charset="0"/>
                <a:ea typeface="Arial" pitchFamily="34" charset="-122"/>
                <a:cs typeface="Arial" pitchFamily="34" charset="-120"/>
              </a:rPr>
              <a:t>GRUPPENARBEIT · E-COMMERCE · 2026</a:t>
            </a:r>
            <a:endParaRPr lang="en-US" sz="1200" dirty="0"/>
          </a:p>
        </p:txBody>
      </p:sp>
      <p:sp>
        <p:nvSpPr>
          <p:cNvPr id="4" name="Text 2"/>
          <p:cNvSpPr/>
          <p:nvPr/>
        </p:nvSpPr>
        <p:spPr>
          <a:xfrm>
            <a:off x="1069848" y="2377440"/>
            <a:ext cx="10058400" cy="1417320"/>
          </a:xfrm>
          <a:prstGeom prst="rect">
            <a:avLst/>
          </a:prstGeom>
          <a:noFill/>
          <a:ln/>
        </p:spPr>
        <p:txBody>
          <a:bodyPr wrap="square" lIns="0" tIns="0" rIns="0" bIns="0" rtlCol="0" anchor="ctr"/>
          <a:lstStyle/>
          <a:p>
            <a:pPr algn="ctr" indent="0" marL="0">
              <a:buNone/>
            </a:pPr>
            <a:r>
              <a:rPr lang="en-US" sz="8800" b="1" dirty="0">
                <a:solidFill>
                  <a:srgbClr val="FFFFFF"/>
                </a:solidFill>
                <a:latin typeface="Arial" pitchFamily="34" charset="0"/>
                <a:ea typeface="Arial" pitchFamily="34" charset="-122"/>
                <a:cs typeface="Arial" pitchFamily="34" charset="-120"/>
              </a:rPr>
              <a:t>Shopify</a:t>
            </a:r>
            <a:endParaRPr lang="en-US" sz="8800" dirty="0"/>
          </a:p>
        </p:txBody>
      </p:sp>
      <p:sp>
        <p:nvSpPr>
          <p:cNvPr id="5" name="Text 3"/>
          <p:cNvSpPr/>
          <p:nvPr/>
        </p:nvSpPr>
        <p:spPr>
          <a:xfrm>
            <a:off x="2441448" y="3977640"/>
            <a:ext cx="7315200" cy="868680"/>
          </a:xfrm>
          <a:prstGeom prst="rect">
            <a:avLst/>
          </a:prstGeom>
          <a:noFill/>
          <a:ln/>
        </p:spPr>
        <p:txBody>
          <a:bodyPr wrap="square" lIns="0" tIns="0" rIns="0" bIns="0" rtlCol="0" anchor="ctr"/>
          <a:lstStyle/>
          <a:p>
            <a:pPr algn="ctr" indent="0" marL="0">
              <a:lnSpc>
                <a:spcPct val="125000"/>
              </a:lnSpc>
              <a:buNone/>
            </a:pPr>
            <a:r>
              <a:rPr lang="en-US" sz="1700" dirty="0">
                <a:solidFill>
                  <a:srgbClr val="C7CBD4"/>
                </a:solidFill>
                <a:latin typeface="Arial" pitchFamily="34" charset="0"/>
                <a:ea typeface="Arial" pitchFamily="34" charset="-122"/>
                <a:cs typeface="Arial" pitchFamily="34" charset="-120"/>
              </a:rPr>
              <a:t>Wie man einen eigenen Online-Shop aufbaut –</a:t>
            </a:r>
            <a:endParaRPr lang="en-US" sz="1700" dirty="0"/>
          </a:p>
          <a:p>
            <a:pPr algn="ctr" indent="0" marL="0">
              <a:lnSpc>
                <a:spcPct val="125000"/>
              </a:lnSpc>
              <a:buNone/>
            </a:pPr>
            <a:r>
              <a:rPr lang="en-US" sz="1700" dirty="0">
                <a:solidFill>
                  <a:srgbClr val="C7CBD4"/>
                </a:solidFill>
                <a:latin typeface="Arial" pitchFamily="34" charset="0"/>
                <a:ea typeface="Arial" pitchFamily="34" charset="-122"/>
                <a:cs typeface="Arial" pitchFamily="34" charset="-120"/>
              </a:rPr>
              <a:t>und mit digitalen Produkten Geld verdient.</a:t>
            </a:r>
            <a:endParaRPr lang="en-US" sz="1700" dirty="0"/>
          </a:p>
        </p:txBody>
      </p:sp>
      <p:sp>
        <p:nvSpPr>
          <p:cNvPr id="6" name="Text 4"/>
          <p:cNvSpPr/>
          <p:nvPr/>
        </p:nvSpPr>
        <p:spPr>
          <a:xfrm>
            <a:off x="1984248" y="5623560"/>
            <a:ext cx="8229600" cy="320040"/>
          </a:xfrm>
          <a:prstGeom prst="rect">
            <a:avLst/>
          </a:prstGeom>
          <a:noFill/>
          <a:ln/>
        </p:spPr>
        <p:txBody>
          <a:bodyPr wrap="square" lIns="0" tIns="0" rIns="0" bIns="0" rtlCol="0" anchor="ctr"/>
          <a:lstStyle/>
          <a:p>
            <a:pPr algn="ctr" indent="0" marL="0">
              <a:buNone/>
            </a:pPr>
            <a:r>
              <a:rPr lang="en-US" sz="1200" dirty="0">
                <a:solidFill>
                  <a:srgbClr val="9AA0AC"/>
                </a:solidFill>
                <a:latin typeface="Arial" pitchFamily="34" charset="0"/>
                <a:ea typeface="Arial" pitchFamily="34" charset="-122"/>
                <a:cs typeface="Arial" pitchFamily="34" charset="-120"/>
              </a:rPr>
              <a:t>Yassin  ·  Name 2  ·  Name 3  ·  Name 4  ·  Name 5</a:t>
            </a:r>
            <a:endParaRPr lang="en-US" sz="1200" dirty="0"/>
          </a:p>
        </p:txBody>
      </p:sp>
      <p:sp>
        <p:nvSpPr>
          <p:cNvPr id="7" name="Text 5"/>
          <p:cNvSpPr/>
          <p:nvPr/>
        </p:nvSpPr>
        <p:spPr>
          <a:xfrm>
            <a:off x="1984248" y="5989320"/>
            <a:ext cx="8229600" cy="274320"/>
          </a:xfrm>
          <a:prstGeom prst="rect">
            <a:avLst/>
          </a:prstGeom>
          <a:noFill/>
          <a:ln/>
        </p:spPr>
        <p:txBody>
          <a:bodyPr wrap="square" lIns="0" tIns="0" rIns="0" bIns="0" rtlCol="0" anchor="ctr"/>
          <a:lstStyle/>
          <a:p>
            <a:pPr algn="ctr" indent="0" marL="0">
              <a:buNone/>
            </a:pPr>
            <a:r>
              <a:rPr lang="en-US" sz="1050" dirty="0">
                <a:solidFill>
                  <a:srgbClr val="5A5F6B"/>
                </a:solidFill>
                <a:latin typeface="Arial" pitchFamily="34" charset="0"/>
                <a:ea typeface="Arial" pitchFamily="34" charset="-122"/>
                <a:cs typeface="Arial" pitchFamily="34" charset="-120"/>
              </a:rPr>
              <a:t>Berufsschule · ca. 18 Minuten</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21"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00"/>
                                        <p:tgtEl>
                                          <p:spTgt spid="2"/>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00"/>
                                        <p:tgtEl>
                                          <p:spTgt spid="4"/>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AGENDA</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2</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Ablauf &amp; Team</a:t>
            </a:r>
            <a:endParaRPr lang="en-US" sz="3300" dirty="0"/>
          </a:p>
        </p:txBody>
      </p:sp>
      <p:sp>
        <p:nvSpPr>
          <p:cNvPr id="7" name="Text 5"/>
          <p:cNvSpPr/>
          <p:nvPr/>
        </p:nvSpPr>
        <p:spPr>
          <a:xfrm>
            <a:off x="502920" y="1298448"/>
            <a:ext cx="9144000" cy="27432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12 Folien · 5 Sprecher:innen · ca. 17–18 Minuten</a:t>
            </a:r>
            <a:endParaRPr lang="en-US" sz="1250" dirty="0"/>
          </a:p>
        </p:txBody>
      </p:sp>
      <p:sp>
        <p:nvSpPr>
          <p:cNvPr id="8" name="Shape 6"/>
          <p:cNvSpPr/>
          <p:nvPr/>
        </p:nvSpPr>
        <p:spPr>
          <a:xfrm>
            <a:off x="502920" y="1737360"/>
            <a:ext cx="11183112" cy="749808"/>
          </a:xfrm>
          <a:prstGeom prst="roundRect">
            <a:avLst>
              <a:gd name="adj" fmla="val 10976"/>
            </a:avLst>
          </a:prstGeom>
          <a:solidFill>
            <a:srgbClr val="16181F"/>
          </a:solidFill>
          <a:ln w="9525">
            <a:solidFill>
              <a:srgbClr val="262933"/>
            </a:solidFill>
            <a:prstDash val="solid"/>
          </a:ln>
        </p:spPr>
      </p:sp>
      <p:sp>
        <p:nvSpPr>
          <p:cNvPr id="9" name="Text 7"/>
          <p:cNvSpPr/>
          <p:nvPr/>
        </p:nvSpPr>
        <p:spPr>
          <a:xfrm>
            <a:off x="777240" y="1929384"/>
            <a:ext cx="365760" cy="365760"/>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371600" y="1737360"/>
            <a:ext cx="6766560" cy="7498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Einstieg: E-Commerce heute</a:t>
            </a:r>
            <a:endParaRPr lang="en-US" sz="1450" dirty="0"/>
          </a:p>
        </p:txBody>
      </p:sp>
      <p:sp>
        <p:nvSpPr>
          <p:cNvPr id="11" name="Text 9"/>
          <p:cNvSpPr/>
          <p:nvPr/>
        </p:nvSpPr>
        <p:spPr>
          <a:xfrm>
            <a:off x="8229600" y="1737360"/>
            <a:ext cx="2194560" cy="749808"/>
          </a:xfrm>
          <a:prstGeom prst="rect">
            <a:avLst/>
          </a:prstGeom>
          <a:noFill/>
          <a:ln/>
        </p:spPr>
        <p:txBody>
          <a:bodyPr wrap="square" lIns="0" tIns="0" rIns="0" bIns="0" rtlCol="0" anchor="ctr"/>
          <a:lstStyle/>
          <a:p>
            <a:pPr algn="r" indent="0" marL="0">
              <a:buNone/>
            </a:pPr>
            <a:r>
              <a:rPr lang="en-US" sz="1100" dirty="0">
                <a:solidFill>
                  <a:srgbClr val="9AA0AC"/>
                </a:solidFill>
                <a:latin typeface="Arial" pitchFamily="34" charset="0"/>
                <a:ea typeface="Arial" pitchFamily="34" charset="-122"/>
                <a:cs typeface="Arial" pitchFamily="34" charset="-120"/>
              </a:rPr>
              <a:t>Person 1   ·   Folien 1–3</a:t>
            </a:r>
            <a:endParaRPr lang="en-US" sz="1100" dirty="0"/>
          </a:p>
        </p:txBody>
      </p:sp>
      <p:sp>
        <p:nvSpPr>
          <p:cNvPr id="12" name="Text 10"/>
          <p:cNvSpPr/>
          <p:nvPr/>
        </p:nvSpPr>
        <p:spPr>
          <a:xfrm>
            <a:off x="10515600" y="1737360"/>
            <a:ext cx="1005840" cy="749808"/>
          </a:xfrm>
          <a:prstGeom prst="rect">
            <a:avLst/>
          </a:prstGeom>
          <a:noFill/>
          <a:ln/>
        </p:spPr>
        <p:txBody>
          <a:bodyPr wrap="square" lIns="0" tIns="0" rIns="0" bIns="0" rtlCol="0" anchor="ctr"/>
          <a:lstStyle/>
          <a:p>
            <a:pPr algn="r" indent="0" marL="0">
              <a:buNone/>
            </a:pPr>
            <a:r>
              <a:rPr lang="en-US" sz="1300" b="1" dirty="0">
                <a:solidFill>
                  <a:srgbClr val="95BF47"/>
                </a:solidFill>
                <a:latin typeface="Arial" pitchFamily="34" charset="0"/>
                <a:ea typeface="Arial" pitchFamily="34" charset="-122"/>
                <a:cs typeface="Arial" pitchFamily="34" charset="-120"/>
              </a:rPr>
              <a:t>3 Min</a:t>
            </a:r>
            <a:endParaRPr lang="en-US" sz="1300" dirty="0"/>
          </a:p>
        </p:txBody>
      </p:sp>
      <p:sp>
        <p:nvSpPr>
          <p:cNvPr id="13" name="Shape 11"/>
          <p:cNvSpPr/>
          <p:nvPr/>
        </p:nvSpPr>
        <p:spPr>
          <a:xfrm>
            <a:off x="502920" y="2615184"/>
            <a:ext cx="11183112" cy="749808"/>
          </a:xfrm>
          <a:prstGeom prst="roundRect">
            <a:avLst>
              <a:gd name="adj" fmla="val 10976"/>
            </a:avLst>
          </a:prstGeom>
          <a:solidFill>
            <a:srgbClr val="16181F"/>
          </a:solidFill>
          <a:ln w="9525">
            <a:solidFill>
              <a:srgbClr val="262933"/>
            </a:solidFill>
            <a:prstDash val="solid"/>
          </a:ln>
        </p:spPr>
      </p:sp>
      <p:sp>
        <p:nvSpPr>
          <p:cNvPr id="14" name="Text 12"/>
          <p:cNvSpPr/>
          <p:nvPr/>
        </p:nvSpPr>
        <p:spPr>
          <a:xfrm>
            <a:off x="777240" y="2807208"/>
            <a:ext cx="365760" cy="365760"/>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371600" y="2615184"/>
            <a:ext cx="6766560" cy="7498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Was ist Shopify &amp; Shop bauen in 5 Schritten</a:t>
            </a:r>
            <a:endParaRPr lang="en-US" sz="1450" dirty="0"/>
          </a:p>
        </p:txBody>
      </p:sp>
      <p:sp>
        <p:nvSpPr>
          <p:cNvPr id="16" name="Text 14"/>
          <p:cNvSpPr/>
          <p:nvPr/>
        </p:nvSpPr>
        <p:spPr>
          <a:xfrm>
            <a:off x="8229600" y="2615184"/>
            <a:ext cx="2194560" cy="749808"/>
          </a:xfrm>
          <a:prstGeom prst="rect">
            <a:avLst/>
          </a:prstGeom>
          <a:noFill/>
          <a:ln/>
        </p:spPr>
        <p:txBody>
          <a:bodyPr wrap="square" lIns="0" tIns="0" rIns="0" bIns="0" rtlCol="0" anchor="ctr"/>
          <a:lstStyle/>
          <a:p>
            <a:pPr algn="r" indent="0" marL="0">
              <a:buNone/>
            </a:pPr>
            <a:r>
              <a:rPr lang="en-US" sz="1100" dirty="0">
                <a:solidFill>
                  <a:srgbClr val="9AA0AC"/>
                </a:solidFill>
                <a:latin typeface="Arial" pitchFamily="34" charset="0"/>
                <a:ea typeface="Arial" pitchFamily="34" charset="-122"/>
                <a:cs typeface="Arial" pitchFamily="34" charset="-120"/>
              </a:rPr>
              <a:t>Person 2   ·   Folien 4–5</a:t>
            </a:r>
            <a:endParaRPr lang="en-US" sz="1100" dirty="0"/>
          </a:p>
        </p:txBody>
      </p:sp>
      <p:sp>
        <p:nvSpPr>
          <p:cNvPr id="17" name="Text 15"/>
          <p:cNvSpPr/>
          <p:nvPr/>
        </p:nvSpPr>
        <p:spPr>
          <a:xfrm>
            <a:off x="10515600" y="2615184"/>
            <a:ext cx="1005840" cy="749808"/>
          </a:xfrm>
          <a:prstGeom prst="rect">
            <a:avLst/>
          </a:prstGeom>
          <a:noFill/>
          <a:ln/>
        </p:spPr>
        <p:txBody>
          <a:bodyPr wrap="square" lIns="0" tIns="0" rIns="0" bIns="0" rtlCol="0" anchor="ctr"/>
          <a:lstStyle/>
          <a:p>
            <a:pPr algn="r" indent="0" marL="0">
              <a:buNone/>
            </a:pPr>
            <a:r>
              <a:rPr lang="en-US" sz="1300" b="1" dirty="0">
                <a:solidFill>
                  <a:srgbClr val="95BF47"/>
                </a:solidFill>
                <a:latin typeface="Arial" pitchFamily="34" charset="0"/>
                <a:ea typeface="Arial" pitchFamily="34" charset="-122"/>
                <a:cs typeface="Arial" pitchFamily="34" charset="-120"/>
              </a:rPr>
              <a:t>4 Min</a:t>
            </a:r>
            <a:endParaRPr lang="en-US" sz="1300" dirty="0"/>
          </a:p>
        </p:txBody>
      </p:sp>
      <p:sp>
        <p:nvSpPr>
          <p:cNvPr id="18" name="Shape 16"/>
          <p:cNvSpPr/>
          <p:nvPr/>
        </p:nvSpPr>
        <p:spPr>
          <a:xfrm>
            <a:off x="502920" y="3493008"/>
            <a:ext cx="11183112" cy="749808"/>
          </a:xfrm>
          <a:prstGeom prst="roundRect">
            <a:avLst>
              <a:gd name="adj" fmla="val 10976"/>
            </a:avLst>
          </a:prstGeom>
          <a:solidFill>
            <a:srgbClr val="16181F"/>
          </a:solidFill>
          <a:ln w="9525">
            <a:solidFill>
              <a:srgbClr val="262933"/>
            </a:solidFill>
            <a:prstDash val="solid"/>
          </a:ln>
        </p:spPr>
      </p:sp>
      <p:sp>
        <p:nvSpPr>
          <p:cNvPr id="19" name="Text 17"/>
          <p:cNvSpPr/>
          <p:nvPr/>
        </p:nvSpPr>
        <p:spPr>
          <a:xfrm>
            <a:off x="777240" y="3685032"/>
            <a:ext cx="365760" cy="365760"/>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371600" y="3493008"/>
            <a:ext cx="6766560" cy="7498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Kosten &amp; Gebühren</a:t>
            </a:r>
            <a:endParaRPr lang="en-US" sz="1450" dirty="0"/>
          </a:p>
        </p:txBody>
      </p:sp>
      <p:sp>
        <p:nvSpPr>
          <p:cNvPr id="21" name="Text 19"/>
          <p:cNvSpPr/>
          <p:nvPr/>
        </p:nvSpPr>
        <p:spPr>
          <a:xfrm>
            <a:off x="8229600" y="3493008"/>
            <a:ext cx="2194560" cy="749808"/>
          </a:xfrm>
          <a:prstGeom prst="rect">
            <a:avLst/>
          </a:prstGeom>
          <a:noFill/>
          <a:ln/>
        </p:spPr>
        <p:txBody>
          <a:bodyPr wrap="square" lIns="0" tIns="0" rIns="0" bIns="0" rtlCol="0" anchor="ctr"/>
          <a:lstStyle/>
          <a:p>
            <a:pPr algn="r" indent="0" marL="0">
              <a:buNone/>
            </a:pPr>
            <a:r>
              <a:rPr lang="en-US" sz="1100" dirty="0">
                <a:solidFill>
                  <a:srgbClr val="9AA0AC"/>
                </a:solidFill>
                <a:latin typeface="Arial" pitchFamily="34" charset="0"/>
                <a:ea typeface="Arial" pitchFamily="34" charset="-122"/>
                <a:cs typeface="Arial" pitchFamily="34" charset="-120"/>
              </a:rPr>
              <a:t>Person 3   ·   Folie 6</a:t>
            </a:r>
            <a:endParaRPr lang="en-US" sz="1100" dirty="0"/>
          </a:p>
        </p:txBody>
      </p:sp>
      <p:sp>
        <p:nvSpPr>
          <p:cNvPr id="22" name="Text 20"/>
          <p:cNvSpPr/>
          <p:nvPr/>
        </p:nvSpPr>
        <p:spPr>
          <a:xfrm>
            <a:off x="10515600" y="3493008"/>
            <a:ext cx="1005840" cy="749808"/>
          </a:xfrm>
          <a:prstGeom prst="rect">
            <a:avLst/>
          </a:prstGeom>
          <a:noFill/>
          <a:ln/>
        </p:spPr>
        <p:txBody>
          <a:bodyPr wrap="square" lIns="0" tIns="0" rIns="0" bIns="0" rtlCol="0" anchor="ctr"/>
          <a:lstStyle/>
          <a:p>
            <a:pPr algn="r" indent="0" marL="0">
              <a:buNone/>
            </a:pPr>
            <a:r>
              <a:rPr lang="en-US" sz="1300" b="1" dirty="0">
                <a:solidFill>
                  <a:srgbClr val="95BF47"/>
                </a:solidFill>
                <a:latin typeface="Arial" pitchFamily="34" charset="0"/>
                <a:ea typeface="Arial" pitchFamily="34" charset="-122"/>
                <a:cs typeface="Arial" pitchFamily="34" charset="-120"/>
              </a:rPr>
              <a:t>3 Min</a:t>
            </a:r>
            <a:endParaRPr lang="en-US" sz="1300" dirty="0"/>
          </a:p>
        </p:txBody>
      </p:sp>
      <p:sp>
        <p:nvSpPr>
          <p:cNvPr id="23" name="Shape 21"/>
          <p:cNvSpPr/>
          <p:nvPr/>
        </p:nvSpPr>
        <p:spPr>
          <a:xfrm>
            <a:off x="502920" y="4370832"/>
            <a:ext cx="11183112" cy="749808"/>
          </a:xfrm>
          <a:prstGeom prst="roundRect">
            <a:avLst>
              <a:gd name="adj" fmla="val 10976"/>
            </a:avLst>
          </a:prstGeom>
          <a:solidFill>
            <a:srgbClr val="16181F"/>
          </a:solidFill>
          <a:ln w="9525">
            <a:solidFill>
              <a:srgbClr val="262933"/>
            </a:solidFill>
            <a:prstDash val="solid"/>
          </a:ln>
        </p:spPr>
      </p:sp>
      <p:sp>
        <p:nvSpPr>
          <p:cNvPr id="24" name="Text 22"/>
          <p:cNvSpPr/>
          <p:nvPr/>
        </p:nvSpPr>
        <p:spPr>
          <a:xfrm>
            <a:off x="777240" y="4562856"/>
            <a:ext cx="365760" cy="365760"/>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371600" y="4370832"/>
            <a:ext cx="6766560" cy="7498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Digitale Produkte verkaufen &amp; Geld verdienen</a:t>
            </a:r>
            <a:endParaRPr lang="en-US" sz="1450" dirty="0"/>
          </a:p>
        </p:txBody>
      </p:sp>
      <p:sp>
        <p:nvSpPr>
          <p:cNvPr id="26" name="Text 24"/>
          <p:cNvSpPr/>
          <p:nvPr/>
        </p:nvSpPr>
        <p:spPr>
          <a:xfrm>
            <a:off x="8229600" y="4370832"/>
            <a:ext cx="2194560" cy="749808"/>
          </a:xfrm>
          <a:prstGeom prst="rect">
            <a:avLst/>
          </a:prstGeom>
          <a:noFill/>
          <a:ln/>
        </p:spPr>
        <p:txBody>
          <a:bodyPr wrap="square" lIns="0" tIns="0" rIns="0" bIns="0" rtlCol="0" anchor="ctr"/>
          <a:lstStyle/>
          <a:p>
            <a:pPr algn="r" indent="0" marL="0">
              <a:buNone/>
            </a:pPr>
            <a:r>
              <a:rPr lang="en-US" sz="1100" dirty="0">
                <a:solidFill>
                  <a:srgbClr val="9AA0AC"/>
                </a:solidFill>
                <a:latin typeface="Arial" pitchFamily="34" charset="0"/>
                <a:ea typeface="Arial" pitchFamily="34" charset="-122"/>
                <a:cs typeface="Arial" pitchFamily="34" charset="-120"/>
              </a:rPr>
              <a:t>Person 4   ·   Folien 7–9</a:t>
            </a:r>
            <a:endParaRPr lang="en-US" sz="1100" dirty="0"/>
          </a:p>
        </p:txBody>
      </p:sp>
      <p:sp>
        <p:nvSpPr>
          <p:cNvPr id="27" name="Text 25"/>
          <p:cNvSpPr/>
          <p:nvPr/>
        </p:nvSpPr>
        <p:spPr>
          <a:xfrm>
            <a:off x="10515600" y="4370832"/>
            <a:ext cx="1005840" cy="749808"/>
          </a:xfrm>
          <a:prstGeom prst="rect">
            <a:avLst/>
          </a:prstGeom>
          <a:noFill/>
          <a:ln/>
        </p:spPr>
        <p:txBody>
          <a:bodyPr wrap="square" lIns="0" tIns="0" rIns="0" bIns="0" rtlCol="0" anchor="ctr"/>
          <a:lstStyle/>
          <a:p>
            <a:pPr algn="r" indent="0" marL="0">
              <a:buNone/>
            </a:pPr>
            <a:r>
              <a:rPr lang="en-US" sz="1300" b="1" dirty="0">
                <a:solidFill>
                  <a:srgbClr val="95BF47"/>
                </a:solidFill>
                <a:latin typeface="Arial" pitchFamily="34" charset="0"/>
                <a:ea typeface="Arial" pitchFamily="34" charset="-122"/>
                <a:cs typeface="Arial" pitchFamily="34" charset="-120"/>
              </a:rPr>
              <a:t>4,5 Min</a:t>
            </a:r>
            <a:endParaRPr lang="en-US" sz="1300" dirty="0"/>
          </a:p>
        </p:txBody>
      </p:sp>
      <p:sp>
        <p:nvSpPr>
          <p:cNvPr id="28" name="Shape 26"/>
          <p:cNvSpPr/>
          <p:nvPr/>
        </p:nvSpPr>
        <p:spPr>
          <a:xfrm>
            <a:off x="502920" y="5248656"/>
            <a:ext cx="11183112" cy="749808"/>
          </a:xfrm>
          <a:prstGeom prst="roundRect">
            <a:avLst>
              <a:gd name="adj" fmla="val 10976"/>
            </a:avLst>
          </a:prstGeom>
          <a:solidFill>
            <a:srgbClr val="16181F"/>
          </a:solidFill>
          <a:ln w="9525">
            <a:solidFill>
              <a:srgbClr val="262933"/>
            </a:solidFill>
            <a:prstDash val="solid"/>
          </a:ln>
        </p:spPr>
      </p:sp>
      <p:sp>
        <p:nvSpPr>
          <p:cNvPr id="29" name="Text 27"/>
          <p:cNvSpPr/>
          <p:nvPr/>
        </p:nvSpPr>
        <p:spPr>
          <a:xfrm>
            <a:off x="777240" y="5440680"/>
            <a:ext cx="365760" cy="365760"/>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371600" y="5248656"/>
            <a:ext cx="6766560" cy="7498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Vorteile, Nachteile &amp; Fazit</a:t>
            </a:r>
            <a:endParaRPr lang="en-US" sz="1450" dirty="0"/>
          </a:p>
        </p:txBody>
      </p:sp>
      <p:sp>
        <p:nvSpPr>
          <p:cNvPr id="31" name="Text 29"/>
          <p:cNvSpPr/>
          <p:nvPr/>
        </p:nvSpPr>
        <p:spPr>
          <a:xfrm>
            <a:off x="8229600" y="5248656"/>
            <a:ext cx="2194560" cy="749808"/>
          </a:xfrm>
          <a:prstGeom prst="rect">
            <a:avLst/>
          </a:prstGeom>
          <a:noFill/>
          <a:ln/>
        </p:spPr>
        <p:txBody>
          <a:bodyPr wrap="square" lIns="0" tIns="0" rIns="0" bIns="0" rtlCol="0" anchor="ctr"/>
          <a:lstStyle/>
          <a:p>
            <a:pPr algn="r" indent="0" marL="0">
              <a:buNone/>
            </a:pPr>
            <a:r>
              <a:rPr lang="en-US" sz="1100" dirty="0">
                <a:solidFill>
                  <a:srgbClr val="9AA0AC"/>
                </a:solidFill>
                <a:latin typeface="Arial" pitchFamily="34" charset="0"/>
                <a:ea typeface="Arial" pitchFamily="34" charset="-122"/>
                <a:cs typeface="Arial" pitchFamily="34" charset="-120"/>
              </a:rPr>
              <a:t>Person 5   ·   Folien 10–12</a:t>
            </a:r>
            <a:endParaRPr lang="en-US" sz="1100" dirty="0"/>
          </a:p>
        </p:txBody>
      </p:sp>
      <p:sp>
        <p:nvSpPr>
          <p:cNvPr id="32" name="Text 30"/>
          <p:cNvSpPr/>
          <p:nvPr/>
        </p:nvSpPr>
        <p:spPr>
          <a:xfrm>
            <a:off x="10515600" y="5248656"/>
            <a:ext cx="1005840" cy="749808"/>
          </a:xfrm>
          <a:prstGeom prst="rect">
            <a:avLst/>
          </a:prstGeom>
          <a:noFill/>
          <a:ln/>
        </p:spPr>
        <p:txBody>
          <a:bodyPr wrap="square" lIns="0" tIns="0" rIns="0" bIns="0" rtlCol="0" anchor="ctr"/>
          <a:lstStyle/>
          <a:p>
            <a:pPr algn="r" indent="0" marL="0">
              <a:buNone/>
            </a:pPr>
            <a:r>
              <a:rPr lang="en-US" sz="1300" b="1" dirty="0">
                <a:solidFill>
                  <a:srgbClr val="95BF47"/>
                </a:solidFill>
                <a:latin typeface="Arial" pitchFamily="34" charset="0"/>
                <a:ea typeface="Arial" pitchFamily="34" charset="-122"/>
                <a:cs typeface="Arial" pitchFamily="34" charset="-120"/>
              </a:rPr>
              <a:t>3,5 Min</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grpId="0" nodeType="afterEffect">
                                  <p:stCondLst>
                                    <p:cond delay="312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afterEffect">
                                  <p:stCondLst>
                                    <p:cond delay="325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grpId="0" nodeType="afterEffect">
                                  <p:stCondLst>
                                    <p:cond delay="338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1 · GRUNDLAGEN</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3</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Was ist E-Commerce?</a:t>
            </a:r>
            <a:endParaRPr lang="en-US" sz="3300" dirty="0"/>
          </a:p>
        </p:txBody>
      </p:sp>
      <p:sp>
        <p:nvSpPr>
          <p:cNvPr id="7" name="Shape 5"/>
          <p:cNvSpPr/>
          <p:nvPr/>
        </p:nvSpPr>
        <p:spPr>
          <a:xfrm>
            <a:off x="502920" y="1645920"/>
            <a:ext cx="6492240" cy="1097280"/>
          </a:xfrm>
          <a:prstGeom prst="roundRect">
            <a:avLst>
              <a:gd name="adj" fmla="val 7500"/>
            </a:avLst>
          </a:prstGeom>
          <a:solidFill>
            <a:srgbClr val="1C1F28"/>
          </a:solidFill>
          <a:ln w="9525">
            <a:solidFill>
              <a:srgbClr val="262933"/>
            </a:solidFill>
            <a:prstDash val="solid"/>
          </a:ln>
        </p:spPr>
      </p:sp>
      <p:sp>
        <p:nvSpPr>
          <p:cNvPr id="8" name="Text 6"/>
          <p:cNvSpPr/>
          <p:nvPr/>
        </p:nvSpPr>
        <p:spPr>
          <a:xfrm>
            <a:off x="777240" y="1810512"/>
            <a:ext cx="5943600" cy="822960"/>
          </a:xfrm>
          <a:prstGeom prst="rect">
            <a:avLst/>
          </a:prstGeom>
          <a:noFill/>
          <a:ln/>
        </p:spPr>
        <p:txBody>
          <a:bodyPr wrap="square" lIns="0" tIns="0" rIns="0" bIns="0" rtlCol="0" anchor="ctr"/>
          <a:lstStyle/>
          <a:p>
            <a:pPr indent="0" marL="0">
              <a:lnSpc>
                <a:spcPct val="115000"/>
              </a:lnSpc>
              <a:buNone/>
            </a:pPr>
            <a:r>
              <a:rPr lang="en-US" sz="1600" b="1" dirty="0">
                <a:solidFill>
                  <a:srgbClr val="FFFFFF"/>
                </a:solidFill>
                <a:latin typeface="Arial" pitchFamily="34" charset="0"/>
                <a:ea typeface="Arial" pitchFamily="34" charset="-122"/>
                <a:cs typeface="Arial" pitchFamily="34" charset="-120"/>
              </a:rPr>
              <a:t>E-Commerce = Kaufen und Verkaufen über das Internet.</a:t>
            </a:r>
            <a:endParaRPr lang="en-US" sz="1600" dirty="0"/>
          </a:p>
          <a:p>
            <a:pPr indent="0" marL="0">
              <a:lnSpc>
                <a:spcPct val="115000"/>
              </a:lnSpc>
              <a:buNone/>
            </a:pPr>
            <a:r>
              <a:rPr lang="en-US" sz="1200" dirty="0">
                <a:solidFill>
                  <a:srgbClr val="9AA0AC"/>
                </a:solidFill>
                <a:latin typeface="Arial" pitchFamily="34" charset="0"/>
                <a:ea typeface="Arial" pitchFamily="34" charset="-122"/>
                <a:cs typeface="Arial" pitchFamily="34" charset="-120"/>
              </a:rPr>
              <a:t>Vom T-Shirt bis zum Online-Kurs: Gehandelt wird alles – bezahlt wird digital.</a:t>
            </a:r>
            <a:endParaRPr lang="en-US" sz="1600" dirty="0"/>
          </a:p>
        </p:txBody>
      </p:sp>
      <p:sp>
        <p:nvSpPr>
          <p:cNvPr id="9" name="Shape 7"/>
          <p:cNvSpPr/>
          <p:nvPr/>
        </p:nvSpPr>
        <p:spPr>
          <a:xfrm>
            <a:off x="566928" y="3145536"/>
            <a:ext cx="146304" cy="146304"/>
          </a:xfrm>
          <a:prstGeom prst="roundRect">
            <a:avLst>
              <a:gd name="adj" fmla="val 25000"/>
            </a:avLst>
          </a:prstGeom>
          <a:solidFill>
            <a:srgbClr val="95BF47"/>
          </a:solidFill>
          <a:ln/>
        </p:spPr>
      </p:sp>
      <p:sp>
        <p:nvSpPr>
          <p:cNvPr id="10" name="Text 8"/>
          <p:cNvSpPr/>
          <p:nvPr/>
        </p:nvSpPr>
        <p:spPr>
          <a:xfrm>
            <a:off x="914400" y="3063240"/>
            <a:ext cx="6035040" cy="914400"/>
          </a:xfrm>
          <a:prstGeom prst="rect">
            <a:avLst/>
          </a:prstGeom>
          <a:noFill/>
          <a:ln/>
        </p:spPr>
        <p:txBody>
          <a:bodyPr wrap="square" lIns="0" tIns="0" rIns="0" bIns="0" rtlCol="0" anchor="t"/>
          <a:lstStyle/>
          <a:p>
            <a:pPr indent="0" marL="0">
              <a:lnSpc>
                <a:spcPct val="112000"/>
              </a:lnSpc>
              <a:buNone/>
            </a:pPr>
            <a:r>
              <a:rPr lang="en-US" sz="1400" b="1" dirty="0">
                <a:solidFill>
                  <a:srgbClr val="FFFFFF"/>
                </a:solidFill>
                <a:latin typeface="Arial" pitchFamily="34" charset="0"/>
                <a:ea typeface="Arial" pitchFamily="34" charset="-122"/>
                <a:cs typeface="Arial" pitchFamily="34" charset="-120"/>
              </a:rPr>
              <a:t>Offen rund um die Uhr</a:t>
            </a:r>
            <a:endParaRPr lang="en-US" sz="1400" dirty="0"/>
          </a:p>
          <a:p>
            <a:pPr indent="0" marL="0">
              <a:lnSpc>
                <a:spcPct val="112000"/>
              </a:lnSpc>
              <a:buNone/>
            </a:pPr>
            <a:r>
              <a:rPr lang="en-US" sz="1150" dirty="0">
                <a:solidFill>
                  <a:srgbClr val="9AA0AC"/>
                </a:solidFill>
                <a:latin typeface="Arial" pitchFamily="34" charset="0"/>
                <a:ea typeface="Arial" pitchFamily="34" charset="-122"/>
                <a:cs typeface="Arial" pitchFamily="34" charset="-120"/>
              </a:rPr>
              <a:t>Dein Shop verkauft auch nachts und am Wochenende – ganz ohne Personal.</a:t>
            </a:r>
            <a:endParaRPr lang="en-US" sz="1400" dirty="0"/>
          </a:p>
        </p:txBody>
      </p:sp>
      <p:sp>
        <p:nvSpPr>
          <p:cNvPr id="11" name="Shape 9"/>
          <p:cNvSpPr/>
          <p:nvPr/>
        </p:nvSpPr>
        <p:spPr>
          <a:xfrm>
            <a:off x="566928" y="4169664"/>
            <a:ext cx="146304" cy="146304"/>
          </a:xfrm>
          <a:prstGeom prst="roundRect">
            <a:avLst>
              <a:gd name="adj" fmla="val 25000"/>
            </a:avLst>
          </a:prstGeom>
          <a:solidFill>
            <a:srgbClr val="95BF47"/>
          </a:solidFill>
          <a:ln/>
        </p:spPr>
      </p:sp>
      <p:sp>
        <p:nvSpPr>
          <p:cNvPr id="12" name="Text 10"/>
          <p:cNvSpPr/>
          <p:nvPr/>
        </p:nvSpPr>
        <p:spPr>
          <a:xfrm>
            <a:off x="914400" y="4087368"/>
            <a:ext cx="6035040" cy="914400"/>
          </a:xfrm>
          <a:prstGeom prst="rect">
            <a:avLst/>
          </a:prstGeom>
          <a:noFill/>
          <a:ln/>
        </p:spPr>
        <p:txBody>
          <a:bodyPr wrap="square" lIns="0" tIns="0" rIns="0" bIns="0" rtlCol="0" anchor="t"/>
          <a:lstStyle/>
          <a:p>
            <a:pPr indent="0" marL="0">
              <a:lnSpc>
                <a:spcPct val="112000"/>
              </a:lnSpc>
              <a:buNone/>
            </a:pPr>
            <a:r>
              <a:rPr lang="en-US" sz="1400" b="1" dirty="0">
                <a:solidFill>
                  <a:srgbClr val="FFFFFF"/>
                </a:solidFill>
                <a:latin typeface="Arial" pitchFamily="34" charset="0"/>
                <a:ea typeface="Arial" pitchFamily="34" charset="-122"/>
                <a:cs typeface="Arial" pitchFamily="34" charset="-120"/>
              </a:rPr>
              <a:t>Weltweit erreichbar</a:t>
            </a:r>
            <a:endParaRPr lang="en-US" sz="1400" dirty="0"/>
          </a:p>
          <a:p>
            <a:pPr indent="0" marL="0">
              <a:lnSpc>
                <a:spcPct val="112000"/>
              </a:lnSpc>
              <a:buNone/>
            </a:pPr>
            <a:r>
              <a:rPr lang="en-US" sz="1150" dirty="0">
                <a:solidFill>
                  <a:srgbClr val="9AA0AC"/>
                </a:solidFill>
                <a:latin typeface="Arial" pitchFamily="34" charset="0"/>
                <a:ea typeface="Arial" pitchFamily="34" charset="-122"/>
                <a:cs typeface="Arial" pitchFamily="34" charset="-120"/>
              </a:rPr>
              <a:t>Kundschaft in über 175 Ländern statt nur im eigenen Dorf.</a:t>
            </a:r>
            <a:endParaRPr lang="en-US" sz="1400" dirty="0"/>
          </a:p>
        </p:txBody>
      </p:sp>
      <p:sp>
        <p:nvSpPr>
          <p:cNvPr id="13" name="Shape 11"/>
          <p:cNvSpPr/>
          <p:nvPr/>
        </p:nvSpPr>
        <p:spPr>
          <a:xfrm>
            <a:off x="566928" y="5193792"/>
            <a:ext cx="146304" cy="146304"/>
          </a:xfrm>
          <a:prstGeom prst="roundRect">
            <a:avLst>
              <a:gd name="adj" fmla="val 25000"/>
            </a:avLst>
          </a:prstGeom>
          <a:solidFill>
            <a:srgbClr val="95BF47"/>
          </a:solidFill>
          <a:ln/>
        </p:spPr>
      </p:sp>
      <p:sp>
        <p:nvSpPr>
          <p:cNvPr id="14" name="Text 12"/>
          <p:cNvSpPr/>
          <p:nvPr/>
        </p:nvSpPr>
        <p:spPr>
          <a:xfrm>
            <a:off x="914400" y="5111496"/>
            <a:ext cx="6035040" cy="914400"/>
          </a:xfrm>
          <a:prstGeom prst="rect">
            <a:avLst/>
          </a:prstGeom>
          <a:noFill/>
          <a:ln/>
        </p:spPr>
        <p:txBody>
          <a:bodyPr wrap="square" lIns="0" tIns="0" rIns="0" bIns="0" rtlCol="0" anchor="t"/>
          <a:lstStyle/>
          <a:p>
            <a:pPr indent="0" marL="0">
              <a:lnSpc>
                <a:spcPct val="112000"/>
              </a:lnSpc>
              <a:buNone/>
            </a:pPr>
            <a:r>
              <a:rPr lang="en-US" sz="1400" b="1" dirty="0">
                <a:solidFill>
                  <a:srgbClr val="FFFFFF"/>
                </a:solidFill>
                <a:latin typeface="Arial" pitchFamily="34" charset="0"/>
                <a:ea typeface="Arial" pitchFamily="34" charset="-122"/>
                <a:cs typeface="Arial" pitchFamily="34" charset="-120"/>
              </a:rPr>
              <a:t>Tiefe Startkosten</a:t>
            </a:r>
            <a:endParaRPr lang="en-US" sz="1400" dirty="0"/>
          </a:p>
          <a:p>
            <a:pPr indent="0" marL="0">
              <a:lnSpc>
                <a:spcPct val="112000"/>
              </a:lnSpc>
              <a:buNone/>
            </a:pPr>
            <a:r>
              <a:rPr lang="en-US" sz="1150" dirty="0">
                <a:solidFill>
                  <a:srgbClr val="9AA0AC"/>
                </a:solidFill>
                <a:latin typeface="Arial" pitchFamily="34" charset="0"/>
                <a:ea typeface="Arial" pitchFamily="34" charset="-122"/>
                <a:cs typeface="Arial" pitchFamily="34" charset="-120"/>
              </a:rPr>
              <a:t>Kein Ladenlokal, keine Miete – Start direkt vom Laptop aus.</a:t>
            </a:r>
            <a:endParaRPr lang="en-US" sz="1400" dirty="0"/>
          </a:p>
        </p:txBody>
      </p:sp>
      <p:sp>
        <p:nvSpPr>
          <p:cNvPr id="15" name="Shape 13"/>
          <p:cNvSpPr/>
          <p:nvPr/>
        </p:nvSpPr>
        <p:spPr>
          <a:xfrm>
            <a:off x="7360920" y="1645920"/>
            <a:ext cx="4325112" cy="1371600"/>
          </a:xfrm>
          <a:prstGeom prst="roundRect">
            <a:avLst>
              <a:gd name="adj" fmla="val 6000"/>
            </a:avLst>
          </a:prstGeom>
          <a:solidFill>
            <a:srgbClr val="16181F"/>
          </a:solidFill>
          <a:ln w="9525">
            <a:solidFill>
              <a:srgbClr val="262933"/>
            </a:solidFill>
            <a:prstDash val="solid"/>
          </a:ln>
        </p:spPr>
      </p:sp>
      <p:sp>
        <p:nvSpPr>
          <p:cNvPr id="16" name="Text 14"/>
          <p:cNvSpPr/>
          <p:nvPr/>
        </p:nvSpPr>
        <p:spPr>
          <a:xfrm>
            <a:off x="7680960" y="1810512"/>
            <a:ext cx="3657600" cy="640080"/>
          </a:xfrm>
          <a:prstGeom prst="rect">
            <a:avLst/>
          </a:prstGeom>
          <a:noFill/>
          <a:ln/>
        </p:spPr>
        <p:txBody>
          <a:bodyPr wrap="square" lIns="0" tIns="0" rIns="0" bIns="0" rtlCol="0" anchor="ctr"/>
          <a:lstStyle/>
          <a:p>
            <a:pPr indent="0" marL="0">
              <a:buNone/>
            </a:pPr>
            <a:r>
              <a:rPr lang="en-US" sz="3400" b="1" dirty="0">
                <a:solidFill>
                  <a:srgbClr val="95BF47"/>
                </a:solidFill>
                <a:latin typeface="Arial" pitchFamily="34" charset="0"/>
                <a:ea typeface="Arial" pitchFamily="34" charset="-122"/>
                <a:cs typeface="Arial" pitchFamily="34" charset="-120"/>
              </a:rPr>
              <a:t>24/7</a:t>
            </a:r>
            <a:endParaRPr lang="en-US" sz="3400" dirty="0"/>
          </a:p>
        </p:txBody>
      </p:sp>
      <p:sp>
        <p:nvSpPr>
          <p:cNvPr id="17" name="Text 15"/>
          <p:cNvSpPr/>
          <p:nvPr/>
        </p:nvSpPr>
        <p:spPr>
          <a:xfrm>
            <a:off x="7680960" y="2487168"/>
            <a:ext cx="3749040" cy="411480"/>
          </a:xfrm>
          <a:prstGeom prst="rect">
            <a:avLst/>
          </a:prstGeom>
          <a:noFill/>
          <a:ln/>
        </p:spPr>
        <p:txBody>
          <a:bodyPr wrap="square" lIns="0" tIns="0" rIns="0" bIns="0" rtlCol="0" anchor="ctr"/>
          <a:lstStyle/>
          <a:p>
            <a:pPr indent="0" marL="0">
              <a:buNone/>
            </a:pPr>
            <a:r>
              <a:rPr lang="en-US" sz="1100" dirty="0">
                <a:solidFill>
                  <a:srgbClr val="9AA0AC"/>
                </a:solidFill>
                <a:latin typeface="Arial" pitchFamily="34" charset="0"/>
                <a:ea typeface="Arial" pitchFamily="34" charset="-122"/>
                <a:cs typeface="Arial" pitchFamily="34" charset="-120"/>
              </a:rPr>
              <a:t>geöffnet – ohne Personal, ohne Pause</a:t>
            </a:r>
            <a:endParaRPr lang="en-US" sz="1100" dirty="0"/>
          </a:p>
        </p:txBody>
      </p:sp>
      <p:sp>
        <p:nvSpPr>
          <p:cNvPr id="18" name="Shape 16"/>
          <p:cNvSpPr/>
          <p:nvPr/>
        </p:nvSpPr>
        <p:spPr>
          <a:xfrm>
            <a:off x="7360920" y="3182112"/>
            <a:ext cx="4325112" cy="1371600"/>
          </a:xfrm>
          <a:prstGeom prst="roundRect">
            <a:avLst>
              <a:gd name="adj" fmla="val 6000"/>
            </a:avLst>
          </a:prstGeom>
          <a:solidFill>
            <a:srgbClr val="16181F"/>
          </a:solidFill>
          <a:ln w="9525">
            <a:solidFill>
              <a:srgbClr val="262933"/>
            </a:solidFill>
            <a:prstDash val="solid"/>
          </a:ln>
        </p:spPr>
      </p:sp>
      <p:sp>
        <p:nvSpPr>
          <p:cNvPr id="19" name="Text 17"/>
          <p:cNvSpPr/>
          <p:nvPr/>
        </p:nvSpPr>
        <p:spPr>
          <a:xfrm>
            <a:off x="7680960" y="3346704"/>
            <a:ext cx="3657600" cy="640080"/>
          </a:xfrm>
          <a:prstGeom prst="rect">
            <a:avLst/>
          </a:prstGeom>
          <a:noFill/>
          <a:ln/>
        </p:spPr>
        <p:txBody>
          <a:bodyPr wrap="square" lIns="0" tIns="0" rIns="0" bIns="0" rtlCol="0" anchor="ctr"/>
          <a:lstStyle/>
          <a:p>
            <a:pPr indent="0" marL="0">
              <a:buNone/>
            </a:pPr>
            <a:r>
              <a:rPr lang="en-US" sz="3400" b="1" dirty="0">
                <a:solidFill>
                  <a:srgbClr val="95BF47"/>
                </a:solidFill>
                <a:latin typeface="Arial" pitchFamily="34" charset="0"/>
                <a:ea typeface="Arial" pitchFamily="34" charset="-122"/>
                <a:cs typeface="Arial" pitchFamily="34" charset="-120"/>
              </a:rPr>
              <a:t>175+</a:t>
            </a:r>
            <a:endParaRPr lang="en-US" sz="3400" dirty="0"/>
          </a:p>
        </p:txBody>
      </p:sp>
      <p:sp>
        <p:nvSpPr>
          <p:cNvPr id="20" name="Text 18"/>
          <p:cNvSpPr/>
          <p:nvPr/>
        </p:nvSpPr>
        <p:spPr>
          <a:xfrm>
            <a:off x="7680960" y="4023360"/>
            <a:ext cx="3749040" cy="411480"/>
          </a:xfrm>
          <a:prstGeom prst="rect">
            <a:avLst/>
          </a:prstGeom>
          <a:noFill/>
          <a:ln/>
        </p:spPr>
        <p:txBody>
          <a:bodyPr wrap="square" lIns="0" tIns="0" rIns="0" bIns="0" rtlCol="0" anchor="ctr"/>
          <a:lstStyle/>
          <a:p>
            <a:pPr indent="0" marL="0">
              <a:buNone/>
            </a:pPr>
            <a:r>
              <a:rPr lang="en-US" sz="1100" dirty="0">
                <a:solidFill>
                  <a:srgbClr val="9AA0AC"/>
                </a:solidFill>
                <a:latin typeface="Arial" pitchFamily="34" charset="0"/>
                <a:ea typeface="Arial" pitchFamily="34" charset="-122"/>
                <a:cs typeface="Arial" pitchFamily="34" charset="-120"/>
              </a:rPr>
              <a:t>Länder mit einem einzigen Klick erreichbar</a:t>
            </a:r>
            <a:endParaRPr lang="en-US" sz="1100" dirty="0"/>
          </a:p>
        </p:txBody>
      </p:sp>
      <p:sp>
        <p:nvSpPr>
          <p:cNvPr id="21" name="Shape 19"/>
          <p:cNvSpPr/>
          <p:nvPr/>
        </p:nvSpPr>
        <p:spPr>
          <a:xfrm>
            <a:off x="7360920" y="4718304"/>
            <a:ext cx="4325112" cy="1371600"/>
          </a:xfrm>
          <a:prstGeom prst="roundRect">
            <a:avLst>
              <a:gd name="adj" fmla="val 6000"/>
            </a:avLst>
          </a:prstGeom>
          <a:solidFill>
            <a:srgbClr val="16181F"/>
          </a:solidFill>
          <a:ln w="9525">
            <a:solidFill>
              <a:srgbClr val="262933"/>
            </a:solidFill>
            <a:prstDash val="solid"/>
          </a:ln>
        </p:spPr>
      </p:sp>
      <p:sp>
        <p:nvSpPr>
          <p:cNvPr id="22" name="Text 20"/>
          <p:cNvSpPr/>
          <p:nvPr/>
        </p:nvSpPr>
        <p:spPr>
          <a:xfrm>
            <a:off x="7680960" y="4882896"/>
            <a:ext cx="3657600" cy="640080"/>
          </a:xfrm>
          <a:prstGeom prst="rect">
            <a:avLst/>
          </a:prstGeom>
          <a:noFill/>
          <a:ln/>
        </p:spPr>
        <p:txBody>
          <a:bodyPr wrap="square" lIns="0" tIns="0" rIns="0" bIns="0" rtlCol="0" anchor="ctr"/>
          <a:lstStyle/>
          <a:p>
            <a:pPr indent="0" marL="0">
              <a:buNone/>
            </a:pPr>
            <a:r>
              <a:rPr lang="en-US" sz="3400" b="1" dirty="0">
                <a:solidFill>
                  <a:srgbClr val="95BF47"/>
                </a:solidFill>
                <a:latin typeface="Arial" pitchFamily="34" charset="0"/>
                <a:ea typeface="Arial" pitchFamily="34" charset="-122"/>
                <a:cs typeface="Arial" pitchFamily="34" charset="-120"/>
              </a:rPr>
              <a:t>0 €</a:t>
            </a:r>
            <a:endParaRPr lang="en-US" sz="3400" dirty="0"/>
          </a:p>
        </p:txBody>
      </p:sp>
      <p:sp>
        <p:nvSpPr>
          <p:cNvPr id="23" name="Text 21"/>
          <p:cNvSpPr/>
          <p:nvPr/>
        </p:nvSpPr>
        <p:spPr>
          <a:xfrm>
            <a:off x="7680960" y="5559552"/>
            <a:ext cx="3749040" cy="411480"/>
          </a:xfrm>
          <a:prstGeom prst="rect">
            <a:avLst/>
          </a:prstGeom>
          <a:noFill/>
          <a:ln/>
        </p:spPr>
        <p:txBody>
          <a:bodyPr wrap="square" lIns="0" tIns="0" rIns="0" bIns="0" rtlCol="0" anchor="ctr"/>
          <a:lstStyle/>
          <a:p>
            <a:pPr indent="0" marL="0">
              <a:buNone/>
            </a:pPr>
            <a:r>
              <a:rPr lang="en-US" sz="1100" dirty="0">
                <a:solidFill>
                  <a:srgbClr val="9AA0AC"/>
                </a:solidFill>
                <a:latin typeface="Arial" pitchFamily="34" charset="0"/>
                <a:ea typeface="Arial" pitchFamily="34" charset="-122"/>
                <a:cs typeface="Arial" pitchFamily="34" charset="-120"/>
              </a:rPr>
              <a:t>Ladenmiete – der Shop wohnt im Internet</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5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2 · DIE PLATTFORM</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4</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Was ist Shopify?</a:t>
            </a:r>
            <a:endParaRPr lang="en-US" sz="3300" dirty="0"/>
          </a:p>
        </p:txBody>
      </p:sp>
      <p:sp>
        <p:nvSpPr>
          <p:cNvPr id="7" name="Text 5"/>
          <p:cNvSpPr/>
          <p:nvPr/>
        </p:nvSpPr>
        <p:spPr>
          <a:xfrm>
            <a:off x="502920" y="1298448"/>
            <a:ext cx="10515600" cy="320040"/>
          </a:xfrm>
          <a:prstGeom prst="rect">
            <a:avLst/>
          </a:prstGeom>
          <a:noFill/>
          <a:ln/>
        </p:spPr>
        <p:txBody>
          <a:bodyPr wrap="square" lIns="0" tIns="0" rIns="0" bIns="0" rtlCol="0" anchor="ctr"/>
          <a:lstStyle/>
          <a:p>
            <a:pPr indent="0" marL="0">
              <a:buNone/>
            </a:pPr>
            <a:r>
              <a:rPr lang="en-US" sz="1350" dirty="0">
                <a:solidFill>
                  <a:srgbClr val="C7CBD4"/>
                </a:solidFill>
                <a:latin typeface="Arial" pitchFamily="34" charset="0"/>
                <a:ea typeface="Arial" pitchFamily="34" charset="-122"/>
                <a:cs typeface="Arial" pitchFamily="34" charset="-120"/>
              </a:rPr>
              <a:t>Der Baukasten für Online-Shops: Shop, Design, Kasse, Zahlungen und Versand – ohne eine Zeile Code.</a:t>
            </a:r>
            <a:endParaRPr lang="en-US" sz="1350" dirty="0"/>
          </a:p>
        </p:txBody>
      </p:sp>
      <p:sp>
        <p:nvSpPr>
          <p:cNvPr id="8" name="Shape 6"/>
          <p:cNvSpPr/>
          <p:nvPr/>
        </p:nvSpPr>
        <p:spPr>
          <a:xfrm>
            <a:off x="502920" y="1828800"/>
            <a:ext cx="5486400" cy="1691640"/>
          </a:xfrm>
          <a:prstGeom prst="roundRect">
            <a:avLst>
              <a:gd name="adj" fmla="val 4865"/>
            </a:avLst>
          </a:prstGeom>
          <a:solidFill>
            <a:srgbClr val="16181F"/>
          </a:solidFill>
          <a:ln w="9525">
            <a:solidFill>
              <a:srgbClr val="262933"/>
            </a:solidFill>
            <a:prstDash val="solid"/>
          </a:ln>
        </p:spPr>
      </p:sp>
      <p:sp>
        <p:nvSpPr>
          <p:cNvPr id="9" name="Text 7"/>
          <p:cNvSpPr/>
          <p:nvPr/>
        </p:nvSpPr>
        <p:spPr>
          <a:xfrm>
            <a:off x="822960" y="2084832"/>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3 Mio.+</a:t>
            </a:r>
            <a:endParaRPr lang="en-US" sz="3600" dirty="0"/>
          </a:p>
        </p:txBody>
      </p:sp>
      <p:sp>
        <p:nvSpPr>
          <p:cNvPr id="10" name="Text 8"/>
          <p:cNvSpPr/>
          <p:nvPr/>
        </p:nvSpPr>
        <p:spPr>
          <a:xfrm>
            <a:off x="822960" y="2834640"/>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aktive Shops weltweit laufen auf Shopify</a:t>
            </a:r>
            <a:endParaRPr lang="en-US" sz="1200" dirty="0"/>
          </a:p>
        </p:txBody>
      </p:sp>
      <p:sp>
        <p:nvSpPr>
          <p:cNvPr id="11" name="Shape 9"/>
          <p:cNvSpPr/>
          <p:nvPr/>
        </p:nvSpPr>
        <p:spPr>
          <a:xfrm>
            <a:off x="6190488" y="1828800"/>
            <a:ext cx="5486400" cy="1691640"/>
          </a:xfrm>
          <a:prstGeom prst="roundRect">
            <a:avLst>
              <a:gd name="adj" fmla="val 4865"/>
            </a:avLst>
          </a:prstGeom>
          <a:solidFill>
            <a:srgbClr val="16181F"/>
          </a:solidFill>
          <a:ln w="9525">
            <a:solidFill>
              <a:srgbClr val="262933"/>
            </a:solidFill>
            <a:prstDash val="solid"/>
          </a:ln>
        </p:spPr>
      </p:sp>
      <p:sp>
        <p:nvSpPr>
          <p:cNvPr id="12" name="Text 10"/>
          <p:cNvSpPr/>
          <p:nvPr/>
        </p:nvSpPr>
        <p:spPr>
          <a:xfrm>
            <a:off x="6510528" y="2084832"/>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175+</a:t>
            </a:r>
            <a:endParaRPr lang="en-US" sz="3600" dirty="0"/>
          </a:p>
        </p:txBody>
      </p:sp>
      <p:sp>
        <p:nvSpPr>
          <p:cNvPr id="13" name="Text 11"/>
          <p:cNvSpPr/>
          <p:nvPr/>
        </p:nvSpPr>
        <p:spPr>
          <a:xfrm>
            <a:off x="6510528" y="2834640"/>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Länder – vom Kleinstshop bis zur Weltmarke</a:t>
            </a:r>
            <a:endParaRPr lang="en-US" sz="1200" dirty="0"/>
          </a:p>
        </p:txBody>
      </p:sp>
      <p:sp>
        <p:nvSpPr>
          <p:cNvPr id="14" name="Shape 12"/>
          <p:cNvSpPr/>
          <p:nvPr/>
        </p:nvSpPr>
        <p:spPr>
          <a:xfrm>
            <a:off x="502920" y="3721608"/>
            <a:ext cx="5486400" cy="1691640"/>
          </a:xfrm>
          <a:prstGeom prst="roundRect">
            <a:avLst>
              <a:gd name="adj" fmla="val 4865"/>
            </a:avLst>
          </a:prstGeom>
          <a:solidFill>
            <a:srgbClr val="16181F"/>
          </a:solidFill>
          <a:ln w="9525">
            <a:solidFill>
              <a:srgbClr val="262933"/>
            </a:solidFill>
            <a:prstDash val="solid"/>
          </a:ln>
        </p:spPr>
      </p:sp>
      <p:sp>
        <p:nvSpPr>
          <p:cNvPr id="15" name="Text 13"/>
          <p:cNvSpPr/>
          <p:nvPr/>
        </p:nvSpPr>
        <p:spPr>
          <a:xfrm>
            <a:off x="822960" y="3977640"/>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378 Mrd. $</a:t>
            </a:r>
            <a:endParaRPr lang="en-US" sz="3600" dirty="0"/>
          </a:p>
        </p:txBody>
      </p:sp>
      <p:sp>
        <p:nvSpPr>
          <p:cNvPr id="16" name="Text 14"/>
          <p:cNvSpPr/>
          <p:nvPr/>
        </p:nvSpPr>
        <p:spPr>
          <a:xfrm>
            <a:off x="822960" y="4727448"/>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Umsatz machten die Shopify-Händler im Jahr 2025</a:t>
            </a:r>
            <a:endParaRPr lang="en-US" sz="1200" dirty="0"/>
          </a:p>
        </p:txBody>
      </p:sp>
      <p:sp>
        <p:nvSpPr>
          <p:cNvPr id="17" name="Shape 15"/>
          <p:cNvSpPr/>
          <p:nvPr/>
        </p:nvSpPr>
        <p:spPr>
          <a:xfrm>
            <a:off x="6190488" y="3721608"/>
            <a:ext cx="5486400" cy="1691640"/>
          </a:xfrm>
          <a:prstGeom prst="roundRect">
            <a:avLst>
              <a:gd name="adj" fmla="val 4865"/>
            </a:avLst>
          </a:prstGeom>
          <a:solidFill>
            <a:srgbClr val="16181F"/>
          </a:solidFill>
          <a:ln w="9525">
            <a:solidFill>
              <a:srgbClr val="262933"/>
            </a:solidFill>
            <a:prstDash val="solid"/>
          </a:ln>
        </p:spPr>
      </p:sp>
      <p:sp>
        <p:nvSpPr>
          <p:cNvPr id="18" name="Text 16"/>
          <p:cNvSpPr/>
          <p:nvPr/>
        </p:nvSpPr>
        <p:spPr>
          <a:xfrm>
            <a:off x="6510528" y="3977640"/>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~46 %</a:t>
            </a:r>
            <a:endParaRPr lang="en-US" sz="3600" dirty="0"/>
          </a:p>
        </p:txBody>
      </p:sp>
      <p:sp>
        <p:nvSpPr>
          <p:cNvPr id="19" name="Text 17"/>
          <p:cNvSpPr/>
          <p:nvPr/>
        </p:nvSpPr>
        <p:spPr>
          <a:xfrm>
            <a:off x="6510528" y="4727448"/>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Marktanteil unter allen Shop-Systemen weltweit</a:t>
            </a:r>
            <a:endParaRPr lang="en-US" sz="1200" dirty="0"/>
          </a:p>
        </p:txBody>
      </p:sp>
      <p:sp>
        <p:nvSpPr>
          <p:cNvPr id="20" name="Text 18"/>
          <p:cNvSpPr/>
          <p:nvPr/>
        </p:nvSpPr>
        <p:spPr>
          <a:xfrm>
            <a:off x="502920" y="5715000"/>
            <a:ext cx="11183112" cy="365760"/>
          </a:xfrm>
          <a:prstGeom prst="rect">
            <a:avLst/>
          </a:prstGeom>
          <a:noFill/>
          <a:ln/>
        </p:spPr>
        <p:txBody>
          <a:bodyPr wrap="square" lIns="0" tIns="0" rIns="0" bIns="0" rtlCol="0" anchor="ctr"/>
          <a:lstStyle/>
          <a:p>
            <a:pPr algn="ctr" indent="0" marL="0">
              <a:buNone/>
            </a:pPr>
            <a:r>
              <a:rPr lang="en-US" sz="1200" i="1" dirty="0">
                <a:solidFill>
                  <a:srgbClr val="9AA0AC"/>
                </a:solidFill>
                <a:latin typeface="Arial" pitchFamily="34" charset="0"/>
                <a:ea typeface="Arial" pitchFamily="34" charset="-122"/>
                <a:cs typeface="Arial" pitchFamily="34" charset="-120"/>
              </a:rPr>
              <a:t>Bekannt aus:  Gymshark  ·  Kylie Cosmetics  ·  Allbirds  ·  Snocks  —  alle laufen auf Shopify.</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2 · SO GEHT'S</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5</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In 5 Schritten zum eigenen Shop</a:t>
            </a:r>
            <a:endParaRPr lang="en-US" sz="3300" dirty="0"/>
          </a:p>
        </p:txBody>
      </p:sp>
      <p:sp>
        <p:nvSpPr>
          <p:cNvPr id="7" name="Text 5"/>
          <p:cNvSpPr/>
          <p:nvPr/>
        </p:nvSpPr>
        <p:spPr>
          <a:xfrm>
            <a:off x="502920" y="1737360"/>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24128" y="1691640"/>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Konto erstellen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Gratis-Test starten – eine E-Mail-Adresse genügt.</a:t>
            </a:r>
            <a:endParaRPr lang="en-US" sz="1350" dirty="0"/>
          </a:p>
        </p:txBody>
      </p:sp>
      <p:sp>
        <p:nvSpPr>
          <p:cNvPr id="9" name="Text 7"/>
          <p:cNvSpPr/>
          <p:nvPr/>
        </p:nvSpPr>
        <p:spPr>
          <a:xfrm>
            <a:off x="502920" y="2633472"/>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024128" y="2587752"/>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Design wählen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Fertiges Theme aussuchen, Farben und Logo anpassen.</a:t>
            </a:r>
            <a:endParaRPr lang="en-US" sz="1350" dirty="0"/>
          </a:p>
        </p:txBody>
      </p:sp>
      <p:sp>
        <p:nvSpPr>
          <p:cNvPr id="11" name="Text 9"/>
          <p:cNvSpPr/>
          <p:nvPr/>
        </p:nvSpPr>
        <p:spPr>
          <a:xfrm>
            <a:off x="502920" y="3529584"/>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1024128" y="3483864"/>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Produkte anlegen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Fotos hochladen, Beschreibung schreiben, Preis festlegen.</a:t>
            </a:r>
            <a:endParaRPr lang="en-US" sz="1350" dirty="0"/>
          </a:p>
        </p:txBody>
      </p:sp>
      <p:sp>
        <p:nvSpPr>
          <p:cNvPr id="13" name="Text 11"/>
          <p:cNvSpPr/>
          <p:nvPr/>
        </p:nvSpPr>
        <p:spPr>
          <a:xfrm>
            <a:off x="502920" y="4425696"/>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4</a:t>
            </a:r>
            <a:endParaRPr lang="en-US" sz="1200" dirty="0"/>
          </a:p>
        </p:txBody>
      </p:sp>
      <p:sp>
        <p:nvSpPr>
          <p:cNvPr id="14" name="Text 12"/>
          <p:cNvSpPr/>
          <p:nvPr/>
        </p:nvSpPr>
        <p:spPr>
          <a:xfrm>
            <a:off x="1024128" y="4379976"/>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Zahlungen aktivieren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Karte, PayPal, Apple Pay – 1 Klick mit Shopify Payments.</a:t>
            </a:r>
            <a:endParaRPr lang="en-US" sz="1350" dirty="0"/>
          </a:p>
        </p:txBody>
      </p:sp>
      <p:sp>
        <p:nvSpPr>
          <p:cNvPr id="15" name="Text 13"/>
          <p:cNvSpPr/>
          <p:nvPr/>
        </p:nvSpPr>
        <p:spPr>
          <a:xfrm>
            <a:off x="502920" y="5321808"/>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5</a:t>
            </a:r>
            <a:endParaRPr lang="en-US" sz="1200" dirty="0"/>
          </a:p>
        </p:txBody>
      </p:sp>
      <p:sp>
        <p:nvSpPr>
          <p:cNvPr id="16" name="Text 14"/>
          <p:cNvSpPr/>
          <p:nvPr/>
        </p:nvSpPr>
        <p:spPr>
          <a:xfrm>
            <a:off x="1024128" y="5276088"/>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Domain verbinden &amp; live gehen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Zum Beispiel www.meinshop.ch – fertig!</a:t>
            </a:r>
            <a:endParaRPr lang="en-US" sz="1350" dirty="0"/>
          </a:p>
        </p:txBody>
      </p:sp>
      <p:sp>
        <p:nvSpPr>
          <p:cNvPr id="17" name="Shape 15"/>
          <p:cNvSpPr/>
          <p:nvPr/>
        </p:nvSpPr>
        <p:spPr>
          <a:xfrm>
            <a:off x="6812280" y="1645920"/>
            <a:ext cx="4892040" cy="4572000"/>
          </a:xfrm>
          <a:prstGeom prst="roundRect">
            <a:avLst>
              <a:gd name="adj" fmla="val 1800"/>
            </a:avLst>
          </a:prstGeom>
          <a:solidFill>
            <a:srgbClr val="16181F"/>
          </a:solidFill>
          <a:ln w="12700">
            <a:solidFill>
              <a:srgbClr val="262933"/>
            </a:solidFill>
            <a:prstDash val="solid"/>
          </a:ln>
        </p:spPr>
      </p:sp>
      <p:sp>
        <p:nvSpPr>
          <p:cNvPr id="18" name="Shape 16"/>
          <p:cNvSpPr/>
          <p:nvPr/>
        </p:nvSpPr>
        <p:spPr>
          <a:xfrm>
            <a:off x="6976872" y="1810512"/>
            <a:ext cx="4562856" cy="365760"/>
          </a:xfrm>
          <a:prstGeom prst="roundRect">
            <a:avLst>
              <a:gd name="adj" fmla="val 15000"/>
            </a:avLst>
          </a:prstGeom>
          <a:solidFill>
            <a:srgbClr val="1F222B"/>
          </a:solidFill>
          <a:ln/>
        </p:spPr>
      </p:sp>
      <p:sp>
        <p:nvSpPr>
          <p:cNvPr id="19" name="Shape 17"/>
          <p:cNvSpPr/>
          <p:nvPr/>
        </p:nvSpPr>
        <p:spPr>
          <a:xfrm>
            <a:off x="7123176" y="1938528"/>
            <a:ext cx="109728" cy="109728"/>
          </a:xfrm>
          <a:prstGeom prst="ellipse">
            <a:avLst/>
          </a:prstGeom>
          <a:solidFill>
            <a:srgbClr val="3A3E49"/>
          </a:solidFill>
          <a:ln/>
        </p:spPr>
      </p:sp>
      <p:sp>
        <p:nvSpPr>
          <p:cNvPr id="20" name="Shape 18"/>
          <p:cNvSpPr/>
          <p:nvPr/>
        </p:nvSpPr>
        <p:spPr>
          <a:xfrm>
            <a:off x="7306056" y="1938528"/>
            <a:ext cx="109728" cy="109728"/>
          </a:xfrm>
          <a:prstGeom prst="ellipse">
            <a:avLst/>
          </a:prstGeom>
          <a:solidFill>
            <a:srgbClr val="3A3E49"/>
          </a:solidFill>
          <a:ln/>
        </p:spPr>
      </p:sp>
      <p:sp>
        <p:nvSpPr>
          <p:cNvPr id="21" name="Shape 19"/>
          <p:cNvSpPr/>
          <p:nvPr/>
        </p:nvSpPr>
        <p:spPr>
          <a:xfrm>
            <a:off x="7488936" y="1938528"/>
            <a:ext cx="109728" cy="109728"/>
          </a:xfrm>
          <a:prstGeom prst="ellipse">
            <a:avLst/>
          </a:prstGeom>
          <a:solidFill>
            <a:srgbClr val="3A3E49"/>
          </a:solidFill>
          <a:ln/>
        </p:spPr>
      </p:sp>
      <p:sp>
        <p:nvSpPr>
          <p:cNvPr id="22" name="Text 20"/>
          <p:cNvSpPr/>
          <p:nvPr/>
        </p:nvSpPr>
        <p:spPr>
          <a:xfrm>
            <a:off x="7909560" y="1810512"/>
            <a:ext cx="3063240" cy="365760"/>
          </a:xfrm>
          <a:prstGeom prst="rect">
            <a:avLst/>
          </a:prstGeom>
          <a:noFill/>
          <a:ln/>
        </p:spPr>
        <p:txBody>
          <a:bodyPr wrap="square" lIns="0" tIns="0" rIns="0" bIns="0" rtlCol="0" anchor="ctr"/>
          <a:lstStyle/>
          <a:p>
            <a:pPr algn="ctr" indent="0" marL="0">
              <a:buNone/>
            </a:pPr>
            <a:r>
              <a:rPr lang="en-US" sz="950" dirty="0">
                <a:solidFill>
                  <a:srgbClr val="9AA0AC"/>
                </a:solidFill>
                <a:latin typeface="Arial" pitchFamily="34" charset="0"/>
                <a:ea typeface="Arial" pitchFamily="34" charset="-122"/>
                <a:cs typeface="Arial" pitchFamily="34" charset="-120"/>
              </a:rPr>
              <a:t>meinshop.ch</a:t>
            </a:r>
            <a:endParaRPr lang="en-US" sz="950" dirty="0"/>
          </a:p>
        </p:txBody>
      </p:sp>
      <p:sp>
        <p:nvSpPr>
          <p:cNvPr id="23" name="Shape 21"/>
          <p:cNvSpPr/>
          <p:nvPr/>
        </p:nvSpPr>
        <p:spPr>
          <a:xfrm>
            <a:off x="7132320" y="2377440"/>
            <a:ext cx="4251960" cy="1828800"/>
          </a:xfrm>
          <a:prstGeom prst="roundRect">
            <a:avLst>
              <a:gd name="adj" fmla="val 4000"/>
            </a:avLst>
          </a:prstGeom>
          <a:solidFill>
            <a:srgbClr val="222733"/>
          </a:solidFill>
          <a:ln/>
        </p:spPr>
      </p:sp>
      <p:sp>
        <p:nvSpPr>
          <p:cNvPr id="24" name="Text 22"/>
          <p:cNvSpPr/>
          <p:nvPr/>
        </p:nvSpPr>
        <p:spPr>
          <a:xfrm>
            <a:off x="8956548" y="2971800"/>
            <a:ext cx="603504" cy="603504"/>
          </a:xfrm>
          <a:prstGeom prst="roundRect">
            <a:avLst>
              <a:gd name="adj" fmla="val 18182"/>
            </a:avLst>
          </a:prstGeom>
          <a:solidFill>
            <a:srgbClr val="95BF47"/>
          </a:solidFill>
          <a:ln/>
        </p:spPr>
        <p:txBody>
          <a:bodyPr wrap="square" lIns="0" tIns="0" rIns="0" bIns="0" rtlCol="0" anchor="ctr"/>
          <a:lstStyle/>
          <a:p>
            <a:pPr algn="ctr" indent="0" marL="0">
              <a:buNone/>
            </a:pPr>
            <a:r>
              <a:rPr lang="en-US" sz="2800" b="1" dirty="0">
                <a:solidFill>
                  <a:srgbClr val="0D0E12"/>
                </a:solidFill>
                <a:latin typeface="Arial" pitchFamily="34" charset="0"/>
                <a:ea typeface="Arial" pitchFamily="34" charset="-122"/>
                <a:cs typeface="Arial" pitchFamily="34" charset="-120"/>
              </a:rPr>
              <a:t>S</a:t>
            </a:r>
            <a:endParaRPr lang="en-US" sz="2800" dirty="0"/>
          </a:p>
        </p:txBody>
      </p:sp>
      <p:sp>
        <p:nvSpPr>
          <p:cNvPr id="25" name="Text 23"/>
          <p:cNvSpPr/>
          <p:nvPr/>
        </p:nvSpPr>
        <p:spPr>
          <a:xfrm>
            <a:off x="7132320" y="4343400"/>
            <a:ext cx="425196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Prüfungs-Guide (E-Book)</a:t>
            </a:r>
            <a:endParaRPr lang="en-US" sz="1400" dirty="0"/>
          </a:p>
        </p:txBody>
      </p:sp>
      <p:sp>
        <p:nvSpPr>
          <p:cNvPr id="26" name="Text 24"/>
          <p:cNvSpPr/>
          <p:nvPr/>
        </p:nvSpPr>
        <p:spPr>
          <a:xfrm>
            <a:off x="7132320" y="4663440"/>
            <a:ext cx="4251960" cy="274320"/>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PDF · 45 Seiten · Sofort-Download</a:t>
            </a:r>
            <a:endParaRPr lang="en-US" sz="1050" dirty="0"/>
          </a:p>
        </p:txBody>
      </p:sp>
      <p:sp>
        <p:nvSpPr>
          <p:cNvPr id="27" name="Text 25"/>
          <p:cNvSpPr/>
          <p:nvPr/>
        </p:nvSpPr>
        <p:spPr>
          <a:xfrm>
            <a:off x="7132320" y="5010912"/>
            <a:ext cx="1828800" cy="365760"/>
          </a:xfrm>
          <a:prstGeom prst="rect">
            <a:avLst/>
          </a:prstGeom>
          <a:noFill/>
          <a:ln/>
        </p:spPr>
        <p:txBody>
          <a:bodyPr wrap="square" lIns="0" tIns="0" rIns="0" bIns="0" rtlCol="0" anchor="ctr"/>
          <a:lstStyle/>
          <a:p>
            <a:pPr indent="0" marL="0">
              <a:buNone/>
            </a:pPr>
            <a:r>
              <a:rPr lang="en-US" sz="1700" b="1" dirty="0">
                <a:solidFill>
                  <a:srgbClr val="95BF47"/>
                </a:solidFill>
                <a:latin typeface="Arial" pitchFamily="34" charset="0"/>
                <a:ea typeface="Arial" pitchFamily="34" charset="-122"/>
                <a:cs typeface="Arial" pitchFamily="34" charset="-120"/>
              </a:rPr>
              <a:t>19.00 €</a:t>
            </a:r>
            <a:endParaRPr lang="en-US" sz="1700" dirty="0"/>
          </a:p>
        </p:txBody>
      </p:sp>
      <p:sp>
        <p:nvSpPr>
          <p:cNvPr id="28" name="Text 26"/>
          <p:cNvSpPr/>
          <p:nvPr/>
        </p:nvSpPr>
        <p:spPr>
          <a:xfrm>
            <a:off x="7132320" y="5486400"/>
            <a:ext cx="4251960" cy="475488"/>
          </a:xfrm>
          <a:prstGeom prst="roundRect">
            <a:avLst>
              <a:gd name="adj" fmla="val 15385"/>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Jetzt kaufen</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3 · KOSTEN</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6</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Was kostet Shopify?</a:t>
            </a:r>
            <a:endParaRPr lang="en-US" sz="3300" dirty="0"/>
          </a:p>
        </p:txBody>
      </p:sp>
      <p:sp>
        <p:nvSpPr>
          <p:cNvPr id="7" name="Shape 5"/>
          <p:cNvSpPr/>
          <p:nvPr/>
        </p:nvSpPr>
        <p:spPr>
          <a:xfrm>
            <a:off x="502920" y="1783080"/>
            <a:ext cx="3602736" cy="3246120"/>
          </a:xfrm>
          <a:prstGeom prst="roundRect">
            <a:avLst>
              <a:gd name="adj" fmla="val 2535"/>
            </a:avLst>
          </a:prstGeom>
          <a:solidFill>
            <a:srgbClr val="16181F"/>
          </a:solidFill>
          <a:ln w="19050">
            <a:solidFill>
              <a:srgbClr val="95BF47"/>
            </a:solidFill>
            <a:prstDash val="solid"/>
          </a:ln>
        </p:spPr>
      </p:sp>
      <p:sp>
        <p:nvSpPr>
          <p:cNvPr id="8" name="Text 6"/>
          <p:cNvSpPr/>
          <p:nvPr/>
        </p:nvSpPr>
        <p:spPr>
          <a:xfrm>
            <a:off x="777240" y="1984248"/>
            <a:ext cx="3054096" cy="228600"/>
          </a:xfrm>
          <a:prstGeom prst="rect">
            <a:avLst/>
          </a:prstGeom>
          <a:noFill/>
          <a:ln/>
        </p:spPr>
        <p:txBody>
          <a:bodyPr wrap="square" lIns="0" tIns="0" rIns="0" bIns="0" rtlCol="0" anchor="ctr"/>
          <a:lstStyle/>
          <a:p>
            <a:pPr indent="0" marL="0">
              <a:buNone/>
            </a:pPr>
            <a:r>
              <a:rPr lang="en-US" sz="900" b="1" spc="200" kern="0" dirty="0">
                <a:solidFill>
                  <a:srgbClr val="95BF47"/>
                </a:solidFill>
                <a:latin typeface="Arial" pitchFamily="34" charset="0"/>
                <a:ea typeface="Arial" pitchFamily="34" charset="-122"/>
                <a:cs typeface="Arial" pitchFamily="34" charset="-120"/>
              </a:rPr>
              <a:t>UNSERE EMPFEHLUNG</a:t>
            </a:r>
            <a:endParaRPr lang="en-US" sz="900" dirty="0"/>
          </a:p>
        </p:txBody>
      </p:sp>
      <p:sp>
        <p:nvSpPr>
          <p:cNvPr id="9" name="Text 7"/>
          <p:cNvSpPr/>
          <p:nvPr/>
        </p:nvSpPr>
        <p:spPr>
          <a:xfrm>
            <a:off x="777240"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Basic</a:t>
            </a:r>
            <a:endParaRPr lang="en-US" sz="1600" dirty="0"/>
          </a:p>
        </p:txBody>
      </p:sp>
      <p:sp>
        <p:nvSpPr>
          <p:cNvPr id="10" name="Text 8"/>
          <p:cNvSpPr/>
          <p:nvPr/>
        </p:nvSpPr>
        <p:spPr>
          <a:xfrm>
            <a:off x="777240" y="2651760"/>
            <a:ext cx="3054096" cy="640080"/>
          </a:xfrm>
          <a:prstGeom prst="rect">
            <a:avLst/>
          </a:prstGeom>
          <a:noFill/>
          <a:ln/>
        </p:spPr>
        <p:txBody>
          <a:bodyPr wrap="square" lIns="0" tIns="0" rIns="0" bIns="0" rtlCol="0" anchor="ctr"/>
          <a:lstStyle/>
          <a:p>
            <a:pPr indent="0" marL="0">
              <a:buNone/>
            </a:pPr>
            <a:r>
              <a:rPr lang="en-US" sz="3400" b="1" dirty="0">
                <a:solidFill>
                  <a:srgbClr val="95BF47"/>
                </a:solidFill>
                <a:latin typeface="Arial" pitchFamily="34" charset="0"/>
                <a:ea typeface="Arial" pitchFamily="34" charset="-122"/>
                <a:cs typeface="Arial" pitchFamily="34" charset="-120"/>
              </a:rPr>
              <a:t>36 €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11" name="Shape 9"/>
          <p:cNvSpPr/>
          <p:nvPr/>
        </p:nvSpPr>
        <p:spPr>
          <a:xfrm>
            <a:off x="777240" y="3474720"/>
            <a:ext cx="3054096" cy="0"/>
          </a:xfrm>
          <a:prstGeom prst="line">
            <a:avLst/>
          </a:prstGeom>
          <a:noFill/>
          <a:ln w="9525">
            <a:solidFill>
              <a:srgbClr val="262933"/>
            </a:solidFill>
            <a:prstDash val="solid"/>
          </a:ln>
        </p:spPr>
      </p:sp>
      <p:sp>
        <p:nvSpPr>
          <p:cNvPr id="12" name="Text 10"/>
          <p:cNvSpPr/>
          <p:nvPr/>
        </p:nvSpPr>
        <p:spPr>
          <a:xfrm>
            <a:off x="777240"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Der richtige Plan für den Start</a:t>
            </a:r>
            <a:endParaRPr lang="en-US" sz="1050" dirty="0"/>
          </a:p>
        </p:txBody>
      </p:sp>
      <p:sp>
        <p:nvSpPr>
          <p:cNvPr id="13" name="Text 11"/>
          <p:cNvSpPr/>
          <p:nvPr/>
        </p:nvSpPr>
        <p:spPr>
          <a:xfrm>
            <a:off x="777240"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2,9 % + 0,30 €</a:t>
            </a:r>
            <a:endParaRPr lang="en-US" sz="1050" dirty="0"/>
          </a:p>
        </p:txBody>
      </p:sp>
      <p:sp>
        <p:nvSpPr>
          <p:cNvPr id="14" name="Text 12"/>
          <p:cNvSpPr/>
          <p:nvPr/>
        </p:nvSpPr>
        <p:spPr>
          <a:xfrm>
            <a:off x="777240"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Alles Wichtige ist dabei</a:t>
            </a:r>
            <a:endParaRPr lang="en-US" sz="1050" dirty="0"/>
          </a:p>
        </p:txBody>
      </p:sp>
      <p:sp>
        <p:nvSpPr>
          <p:cNvPr id="15" name="Shape 13"/>
          <p:cNvSpPr/>
          <p:nvPr/>
        </p:nvSpPr>
        <p:spPr>
          <a:xfrm>
            <a:off x="4293108" y="1783080"/>
            <a:ext cx="3602736" cy="3246120"/>
          </a:xfrm>
          <a:prstGeom prst="roundRect">
            <a:avLst>
              <a:gd name="adj" fmla="val 2535"/>
            </a:avLst>
          </a:prstGeom>
          <a:solidFill>
            <a:srgbClr val="16181F"/>
          </a:solidFill>
          <a:ln w="9525">
            <a:solidFill>
              <a:srgbClr val="262933"/>
            </a:solidFill>
            <a:prstDash val="solid"/>
          </a:ln>
        </p:spPr>
      </p:sp>
      <p:sp>
        <p:nvSpPr>
          <p:cNvPr id="16" name="Text 14"/>
          <p:cNvSpPr/>
          <p:nvPr/>
        </p:nvSpPr>
        <p:spPr>
          <a:xfrm>
            <a:off x="4567428"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Grow</a:t>
            </a:r>
            <a:endParaRPr lang="en-US" sz="1600" dirty="0"/>
          </a:p>
        </p:txBody>
      </p:sp>
      <p:sp>
        <p:nvSpPr>
          <p:cNvPr id="17" name="Text 15"/>
          <p:cNvSpPr/>
          <p:nvPr/>
        </p:nvSpPr>
        <p:spPr>
          <a:xfrm>
            <a:off x="4567428" y="2651760"/>
            <a:ext cx="3054096" cy="640080"/>
          </a:xfrm>
          <a:prstGeom prst="rect">
            <a:avLst/>
          </a:prstGeom>
          <a:noFill/>
          <a:ln/>
        </p:spPr>
        <p:txBody>
          <a:bodyPr wrap="square" lIns="0" tIns="0" rIns="0" bIns="0" rtlCol="0" anchor="ctr"/>
          <a:lstStyle/>
          <a:p>
            <a:pPr indent="0" marL="0">
              <a:buNone/>
            </a:pPr>
            <a:r>
              <a:rPr lang="en-US" sz="3400" b="1" dirty="0">
                <a:solidFill>
                  <a:srgbClr val="C7CBD4"/>
                </a:solidFill>
                <a:latin typeface="Arial" pitchFamily="34" charset="0"/>
                <a:ea typeface="Arial" pitchFamily="34" charset="-122"/>
                <a:cs typeface="Arial" pitchFamily="34" charset="-120"/>
              </a:rPr>
              <a:t>105 €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18" name="Shape 16"/>
          <p:cNvSpPr/>
          <p:nvPr/>
        </p:nvSpPr>
        <p:spPr>
          <a:xfrm>
            <a:off x="4567428" y="3474720"/>
            <a:ext cx="3054096" cy="0"/>
          </a:xfrm>
          <a:prstGeom prst="line">
            <a:avLst/>
          </a:prstGeom>
          <a:noFill/>
          <a:ln w="9525">
            <a:solidFill>
              <a:srgbClr val="262933"/>
            </a:solidFill>
            <a:prstDash val="solid"/>
          </a:ln>
        </p:spPr>
      </p:sp>
      <p:sp>
        <p:nvSpPr>
          <p:cNvPr id="19" name="Text 17"/>
          <p:cNvSpPr/>
          <p:nvPr/>
        </p:nvSpPr>
        <p:spPr>
          <a:xfrm>
            <a:off x="4567428"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Lohnt sich ab ca. 10'000 € Umsatz/Monat</a:t>
            </a:r>
            <a:endParaRPr lang="en-US" sz="1050" dirty="0"/>
          </a:p>
        </p:txBody>
      </p:sp>
      <p:sp>
        <p:nvSpPr>
          <p:cNvPr id="20" name="Text 18"/>
          <p:cNvSpPr/>
          <p:nvPr/>
        </p:nvSpPr>
        <p:spPr>
          <a:xfrm>
            <a:off x="4567428"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2,7 % + 0,30 €</a:t>
            </a:r>
            <a:endParaRPr lang="en-US" sz="1050" dirty="0"/>
          </a:p>
        </p:txBody>
      </p:sp>
      <p:sp>
        <p:nvSpPr>
          <p:cNvPr id="21" name="Text 19"/>
          <p:cNvSpPr/>
          <p:nvPr/>
        </p:nvSpPr>
        <p:spPr>
          <a:xfrm>
            <a:off x="4567428"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Mehr Mitarbeiter-Konten &amp; Berichte</a:t>
            </a:r>
            <a:endParaRPr lang="en-US" sz="1050" dirty="0"/>
          </a:p>
        </p:txBody>
      </p:sp>
      <p:sp>
        <p:nvSpPr>
          <p:cNvPr id="22" name="Shape 20"/>
          <p:cNvSpPr/>
          <p:nvPr/>
        </p:nvSpPr>
        <p:spPr>
          <a:xfrm>
            <a:off x="8083296" y="1783080"/>
            <a:ext cx="3602736" cy="3246120"/>
          </a:xfrm>
          <a:prstGeom prst="roundRect">
            <a:avLst>
              <a:gd name="adj" fmla="val 2535"/>
            </a:avLst>
          </a:prstGeom>
          <a:solidFill>
            <a:srgbClr val="16181F"/>
          </a:solidFill>
          <a:ln w="9525">
            <a:solidFill>
              <a:srgbClr val="262933"/>
            </a:solidFill>
            <a:prstDash val="solid"/>
          </a:ln>
        </p:spPr>
      </p:sp>
      <p:sp>
        <p:nvSpPr>
          <p:cNvPr id="23" name="Text 21"/>
          <p:cNvSpPr/>
          <p:nvPr/>
        </p:nvSpPr>
        <p:spPr>
          <a:xfrm>
            <a:off x="8357616"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Advanced</a:t>
            </a:r>
            <a:endParaRPr lang="en-US" sz="1600" dirty="0"/>
          </a:p>
        </p:txBody>
      </p:sp>
      <p:sp>
        <p:nvSpPr>
          <p:cNvPr id="24" name="Text 22"/>
          <p:cNvSpPr/>
          <p:nvPr/>
        </p:nvSpPr>
        <p:spPr>
          <a:xfrm>
            <a:off x="8357616" y="2651760"/>
            <a:ext cx="3054096" cy="640080"/>
          </a:xfrm>
          <a:prstGeom prst="rect">
            <a:avLst/>
          </a:prstGeom>
          <a:noFill/>
          <a:ln/>
        </p:spPr>
        <p:txBody>
          <a:bodyPr wrap="square" lIns="0" tIns="0" rIns="0" bIns="0" rtlCol="0" anchor="ctr"/>
          <a:lstStyle/>
          <a:p>
            <a:pPr indent="0" marL="0">
              <a:buNone/>
            </a:pPr>
            <a:r>
              <a:rPr lang="en-US" sz="3400" b="1" dirty="0">
                <a:solidFill>
                  <a:srgbClr val="C7CBD4"/>
                </a:solidFill>
                <a:latin typeface="Arial" pitchFamily="34" charset="0"/>
                <a:ea typeface="Arial" pitchFamily="34" charset="-122"/>
                <a:cs typeface="Arial" pitchFamily="34" charset="-120"/>
              </a:rPr>
              <a:t>384 €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25" name="Shape 23"/>
          <p:cNvSpPr/>
          <p:nvPr/>
        </p:nvSpPr>
        <p:spPr>
          <a:xfrm>
            <a:off x="8357616" y="3474720"/>
            <a:ext cx="3054096" cy="0"/>
          </a:xfrm>
          <a:prstGeom prst="line">
            <a:avLst/>
          </a:prstGeom>
          <a:noFill/>
          <a:ln w="9525">
            <a:solidFill>
              <a:srgbClr val="262933"/>
            </a:solidFill>
            <a:prstDash val="solid"/>
          </a:ln>
        </p:spPr>
      </p:sp>
      <p:sp>
        <p:nvSpPr>
          <p:cNvPr id="26" name="Text 24"/>
          <p:cNvSpPr/>
          <p:nvPr/>
        </p:nvSpPr>
        <p:spPr>
          <a:xfrm>
            <a:off x="8357616"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Für grosse Shops ab ca. 50'000 €/Monat</a:t>
            </a:r>
            <a:endParaRPr lang="en-US" sz="1050" dirty="0"/>
          </a:p>
        </p:txBody>
      </p:sp>
      <p:sp>
        <p:nvSpPr>
          <p:cNvPr id="27" name="Text 25"/>
          <p:cNvSpPr/>
          <p:nvPr/>
        </p:nvSpPr>
        <p:spPr>
          <a:xfrm>
            <a:off x="8357616"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2,5 % + 0,30 €</a:t>
            </a:r>
            <a:endParaRPr lang="en-US" sz="1050" dirty="0"/>
          </a:p>
        </p:txBody>
      </p:sp>
      <p:sp>
        <p:nvSpPr>
          <p:cNvPr id="28" name="Text 26"/>
          <p:cNvSpPr/>
          <p:nvPr/>
        </p:nvSpPr>
        <p:spPr>
          <a:xfrm>
            <a:off x="8357616"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Tiefste Gebühren, alle Funktionen</a:t>
            </a:r>
            <a:endParaRPr lang="en-US" sz="1050" dirty="0"/>
          </a:p>
        </p:txBody>
      </p:sp>
      <p:sp>
        <p:nvSpPr>
          <p:cNvPr id="29" name="Text 27"/>
          <p:cNvSpPr/>
          <p:nvPr/>
        </p:nvSpPr>
        <p:spPr>
          <a:xfrm>
            <a:off x="502920" y="5349240"/>
            <a:ext cx="11183112"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Gut zu wissen:  </a:t>
            </a:r>
            <a:pPr indent="0" marL="0">
              <a:buNone/>
            </a:pPr>
            <a:r>
              <a:rPr lang="en-US" sz="1150" dirty="0">
                <a:solidFill>
                  <a:srgbClr val="9AA0AC"/>
                </a:solidFill>
                <a:latin typeface="Arial" pitchFamily="34" charset="0"/>
                <a:ea typeface="Arial" pitchFamily="34" charset="-122"/>
                <a:cs typeface="Arial" pitchFamily="34" charset="-120"/>
              </a:rPr>
              <a:t>Jahresabo bis 25 % günstiger · eigene Domain ca. 15 €/Jahr · Gratis-Testphase zum Ausprobieren, bevor man etwas bezahlt.</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4 · DIGITALE PRODUKTE</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7</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Digitale Produkte: Geld verdienen ohne Lager</a:t>
            </a:r>
            <a:endParaRPr lang="en-US" sz="3300" dirty="0"/>
          </a:p>
        </p:txBody>
      </p:sp>
      <p:sp>
        <p:nvSpPr>
          <p:cNvPr id="7" name="Shape 5"/>
          <p:cNvSpPr/>
          <p:nvPr/>
        </p:nvSpPr>
        <p:spPr>
          <a:xfrm>
            <a:off x="502920" y="1645920"/>
            <a:ext cx="4206240" cy="4526280"/>
          </a:xfrm>
          <a:prstGeom prst="roundRect">
            <a:avLst>
              <a:gd name="adj" fmla="val 1957"/>
            </a:avLst>
          </a:prstGeom>
          <a:solidFill>
            <a:srgbClr val="1C1F28"/>
          </a:solidFill>
          <a:ln w="9525">
            <a:solidFill>
              <a:srgbClr val="262933"/>
            </a:solidFill>
            <a:prstDash val="solid"/>
          </a:ln>
        </p:spPr>
      </p:sp>
      <p:sp>
        <p:nvSpPr>
          <p:cNvPr id="8" name="Text 6"/>
          <p:cNvSpPr/>
          <p:nvPr/>
        </p:nvSpPr>
        <p:spPr>
          <a:xfrm>
            <a:off x="822960" y="2103120"/>
            <a:ext cx="3657600" cy="822960"/>
          </a:xfrm>
          <a:prstGeom prst="rect">
            <a:avLst/>
          </a:prstGeom>
          <a:noFill/>
          <a:ln/>
        </p:spPr>
        <p:txBody>
          <a:bodyPr wrap="square" lIns="0" tIns="0" rIns="0" bIns="0" rtlCol="0" anchor="ctr"/>
          <a:lstStyle/>
          <a:p>
            <a:pPr indent="0" marL="0">
              <a:buNone/>
            </a:pPr>
            <a:r>
              <a:rPr lang="en-US" sz="4400" b="1" dirty="0">
                <a:solidFill>
                  <a:srgbClr val="95BF47"/>
                </a:solidFill>
                <a:latin typeface="Arial" pitchFamily="34" charset="0"/>
                <a:ea typeface="Arial" pitchFamily="34" charset="-122"/>
                <a:cs typeface="Arial" pitchFamily="34" charset="-120"/>
              </a:rPr>
              <a:t>157 Mrd. $</a:t>
            </a:r>
            <a:endParaRPr lang="en-US" sz="4400" dirty="0"/>
          </a:p>
        </p:txBody>
      </p:sp>
      <p:sp>
        <p:nvSpPr>
          <p:cNvPr id="9" name="Text 7"/>
          <p:cNvSpPr/>
          <p:nvPr/>
        </p:nvSpPr>
        <p:spPr>
          <a:xfrm>
            <a:off x="822960" y="3017520"/>
            <a:ext cx="3566160" cy="914400"/>
          </a:xfrm>
          <a:prstGeom prst="rect">
            <a:avLst/>
          </a:prstGeom>
          <a:noFill/>
          <a:ln/>
        </p:spPr>
        <p:txBody>
          <a:bodyPr wrap="square" lIns="0" tIns="0" rIns="0" bIns="0" rtlCol="0" anchor="ctr"/>
          <a:lstStyle/>
          <a:p>
            <a:pPr indent="0" marL="0">
              <a:lnSpc>
                <a:spcPct val="120000"/>
              </a:lnSpc>
              <a:buNone/>
            </a:pPr>
            <a:r>
              <a:rPr lang="en-US" sz="1250" dirty="0">
                <a:solidFill>
                  <a:srgbClr val="C7CBD4"/>
                </a:solidFill>
                <a:latin typeface="Arial" pitchFamily="34" charset="0"/>
                <a:ea typeface="Arial" pitchFamily="34" charset="-122"/>
                <a:cs typeface="Arial" pitchFamily="34" charset="-120"/>
              </a:rPr>
              <a:t>gaben Menschen 2026 weltweit für digitale Produkte aus – E-Books, Kurse, Vorlagen, Musik.</a:t>
            </a:r>
            <a:endParaRPr lang="en-US" sz="1250" dirty="0"/>
          </a:p>
        </p:txBody>
      </p:sp>
      <p:sp>
        <p:nvSpPr>
          <p:cNvPr id="10" name="Text 8"/>
          <p:cNvSpPr/>
          <p:nvPr/>
        </p:nvSpPr>
        <p:spPr>
          <a:xfrm>
            <a:off x="822960" y="4846320"/>
            <a:ext cx="3566160" cy="1005840"/>
          </a:xfrm>
          <a:prstGeom prst="rect">
            <a:avLst/>
          </a:prstGeom>
          <a:noFill/>
          <a:ln/>
        </p:spPr>
        <p:txBody>
          <a:bodyPr wrap="square" lIns="0" tIns="0" rIns="0" bIns="0" rtlCol="0" anchor="ctr"/>
          <a:lstStyle/>
          <a:p>
            <a:pPr indent="0" marL="0">
              <a:lnSpc>
                <a:spcPct val="120000"/>
              </a:lnSpc>
              <a:buNone/>
            </a:pPr>
            <a:r>
              <a:rPr lang="en-US" sz="1500" b="1" i="1" dirty="0">
                <a:solidFill>
                  <a:srgbClr val="FFFFFF"/>
                </a:solidFill>
                <a:latin typeface="Arial" pitchFamily="34" charset="0"/>
                <a:ea typeface="Arial" pitchFamily="34" charset="-122"/>
                <a:cs typeface="Arial" pitchFamily="34" charset="-120"/>
              </a:rPr>
              <a:t>„Einmal erstellen –</a:t>
            </a:r>
            <a:endParaRPr lang="en-US" sz="1500" dirty="0"/>
          </a:p>
          <a:p>
            <a:pPr indent="0" marL="0">
              <a:lnSpc>
                <a:spcPct val="120000"/>
              </a:lnSpc>
              <a:buNone/>
            </a:pPr>
            <a:r>
              <a:rPr lang="en-US" sz="1500" b="1" i="1" dirty="0">
                <a:solidFill>
                  <a:srgbClr val="FFFFFF"/>
                </a:solidFill>
                <a:latin typeface="Arial" pitchFamily="34" charset="0"/>
                <a:ea typeface="Arial" pitchFamily="34" charset="-122"/>
                <a:cs typeface="Arial" pitchFamily="34" charset="-120"/>
              </a:rPr>
              <a:t>unendlich oft verkaufen.“</a:t>
            </a:r>
            <a:endParaRPr lang="en-US" sz="1500" dirty="0"/>
          </a:p>
        </p:txBody>
      </p:sp>
      <p:sp>
        <p:nvSpPr>
          <p:cNvPr id="11" name="Shape 9"/>
          <p:cNvSpPr/>
          <p:nvPr/>
        </p:nvSpPr>
        <p:spPr>
          <a:xfrm>
            <a:off x="4983480" y="1645920"/>
            <a:ext cx="6702552" cy="1024128"/>
          </a:xfrm>
          <a:prstGeom prst="roundRect">
            <a:avLst>
              <a:gd name="adj" fmla="val 8036"/>
            </a:avLst>
          </a:prstGeom>
          <a:solidFill>
            <a:srgbClr val="16181F"/>
          </a:solidFill>
          <a:ln w="9525">
            <a:solidFill>
              <a:srgbClr val="262933"/>
            </a:solidFill>
            <a:prstDash val="solid"/>
          </a:ln>
        </p:spPr>
      </p:sp>
      <p:sp>
        <p:nvSpPr>
          <p:cNvPr id="12" name="Shape 10"/>
          <p:cNvSpPr/>
          <p:nvPr/>
        </p:nvSpPr>
        <p:spPr>
          <a:xfrm>
            <a:off x="5257800" y="2075688"/>
            <a:ext cx="146304" cy="146304"/>
          </a:xfrm>
          <a:prstGeom prst="roundRect">
            <a:avLst>
              <a:gd name="adj" fmla="val 25000"/>
            </a:avLst>
          </a:prstGeom>
          <a:solidFill>
            <a:srgbClr val="95BF47"/>
          </a:solidFill>
          <a:ln/>
        </p:spPr>
      </p:sp>
      <p:sp>
        <p:nvSpPr>
          <p:cNvPr id="13" name="Text 11"/>
          <p:cNvSpPr/>
          <p:nvPr/>
        </p:nvSpPr>
        <p:spPr>
          <a:xfrm>
            <a:off x="5577840" y="1847088"/>
            <a:ext cx="5852160" cy="7315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Kein Lager, kein Versand</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Die Datei liefert sich in Sekunden von selbst aus – vollautomatisch.</a:t>
            </a:r>
            <a:endParaRPr lang="en-US" sz="1350" dirty="0"/>
          </a:p>
        </p:txBody>
      </p:sp>
      <p:sp>
        <p:nvSpPr>
          <p:cNvPr id="14" name="Shape 12"/>
          <p:cNvSpPr/>
          <p:nvPr/>
        </p:nvSpPr>
        <p:spPr>
          <a:xfrm>
            <a:off x="4983480" y="2816352"/>
            <a:ext cx="6702552" cy="1024128"/>
          </a:xfrm>
          <a:prstGeom prst="roundRect">
            <a:avLst>
              <a:gd name="adj" fmla="val 8036"/>
            </a:avLst>
          </a:prstGeom>
          <a:solidFill>
            <a:srgbClr val="16181F"/>
          </a:solidFill>
          <a:ln w="9525">
            <a:solidFill>
              <a:srgbClr val="262933"/>
            </a:solidFill>
            <a:prstDash val="solid"/>
          </a:ln>
        </p:spPr>
      </p:sp>
      <p:sp>
        <p:nvSpPr>
          <p:cNvPr id="15" name="Shape 13"/>
          <p:cNvSpPr/>
          <p:nvPr/>
        </p:nvSpPr>
        <p:spPr>
          <a:xfrm>
            <a:off x="5257800" y="3246120"/>
            <a:ext cx="146304" cy="146304"/>
          </a:xfrm>
          <a:prstGeom prst="roundRect">
            <a:avLst>
              <a:gd name="adj" fmla="val 25000"/>
            </a:avLst>
          </a:prstGeom>
          <a:solidFill>
            <a:srgbClr val="95BF47"/>
          </a:solidFill>
          <a:ln/>
        </p:spPr>
      </p:sp>
      <p:sp>
        <p:nvSpPr>
          <p:cNvPr id="16" name="Text 14"/>
          <p:cNvSpPr/>
          <p:nvPr/>
        </p:nvSpPr>
        <p:spPr>
          <a:xfrm>
            <a:off x="5577840" y="3017520"/>
            <a:ext cx="5852160" cy="7315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Fast 100 % Marge</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Eine PDF kostet in der Herstellung: nichts. Fast alles ist Gewinn.</a:t>
            </a:r>
            <a:endParaRPr lang="en-US" sz="1350" dirty="0"/>
          </a:p>
        </p:txBody>
      </p:sp>
      <p:sp>
        <p:nvSpPr>
          <p:cNvPr id="17" name="Shape 15"/>
          <p:cNvSpPr/>
          <p:nvPr/>
        </p:nvSpPr>
        <p:spPr>
          <a:xfrm>
            <a:off x="4983480" y="3986784"/>
            <a:ext cx="6702552" cy="1024128"/>
          </a:xfrm>
          <a:prstGeom prst="roundRect">
            <a:avLst>
              <a:gd name="adj" fmla="val 8036"/>
            </a:avLst>
          </a:prstGeom>
          <a:solidFill>
            <a:srgbClr val="16181F"/>
          </a:solidFill>
          <a:ln w="9525">
            <a:solidFill>
              <a:srgbClr val="262933"/>
            </a:solidFill>
            <a:prstDash val="solid"/>
          </a:ln>
        </p:spPr>
      </p:sp>
      <p:sp>
        <p:nvSpPr>
          <p:cNvPr id="18" name="Shape 16"/>
          <p:cNvSpPr/>
          <p:nvPr/>
        </p:nvSpPr>
        <p:spPr>
          <a:xfrm>
            <a:off x="5257800" y="4416552"/>
            <a:ext cx="146304" cy="146304"/>
          </a:xfrm>
          <a:prstGeom prst="roundRect">
            <a:avLst>
              <a:gd name="adj" fmla="val 25000"/>
            </a:avLst>
          </a:prstGeom>
          <a:solidFill>
            <a:srgbClr val="95BF47"/>
          </a:solidFill>
          <a:ln/>
        </p:spPr>
      </p:sp>
      <p:sp>
        <p:nvSpPr>
          <p:cNvPr id="19" name="Text 17"/>
          <p:cNvSpPr/>
          <p:nvPr/>
        </p:nvSpPr>
        <p:spPr>
          <a:xfrm>
            <a:off x="5577840" y="4187952"/>
            <a:ext cx="5852160" cy="7315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Unbegrenzt skalierbar</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10 oder 10'000 Verkäufe – der Aufwand bleibt exakt gleich.</a:t>
            </a:r>
            <a:endParaRPr lang="en-US" sz="1350" dirty="0"/>
          </a:p>
        </p:txBody>
      </p:sp>
      <p:sp>
        <p:nvSpPr>
          <p:cNvPr id="20" name="Shape 18"/>
          <p:cNvSpPr/>
          <p:nvPr/>
        </p:nvSpPr>
        <p:spPr>
          <a:xfrm>
            <a:off x="4983480" y="5157216"/>
            <a:ext cx="6702552" cy="1024128"/>
          </a:xfrm>
          <a:prstGeom prst="roundRect">
            <a:avLst>
              <a:gd name="adj" fmla="val 8036"/>
            </a:avLst>
          </a:prstGeom>
          <a:solidFill>
            <a:srgbClr val="16181F"/>
          </a:solidFill>
          <a:ln w="9525">
            <a:solidFill>
              <a:srgbClr val="262933"/>
            </a:solidFill>
            <a:prstDash val="solid"/>
          </a:ln>
        </p:spPr>
      </p:sp>
      <p:sp>
        <p:nvSpPr>
          <p:cNvPr id="21" name="Shape 19"/>
          <p:cNvSpPr/>
          <p:nvPr/>
        </p:nvSpPr>
        <p:spPr>
          <a:xfrm>
            <a:off x="5257800" y="5586984"/>
            <a:ext cx="146304" cy="146304"/>
          </a:xfrm>
          <a:prstGeom prst="roundRect">
            <a:avLst>
              <a:gd name="adj" fmla="val 25000"/>
            </a:avLst>
          </a:prstGeom>
          <a:solidFill>
            <a:srgbClr val="95BF47"/>
          </a:solidFill>
          <a:ln/>
        </p:spPr>
      </p:sp>
      <p:sp>
        <p:nvSpPr>
          <p:cNvPr id="22" name="Text 20"/>
          <p:cNvSpPr/>
          <p:nvPr/>
        </p:nvSpPr>
        <p:spPr>
          <a:xfrm>
            <a:off x="5577840" y="5358384"/>
            <a:ext cx="5852160" cy="7315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Perfekt für den Einstieg</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Ohne Startkapital machbar – auch neben der Schule.</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5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4 · DIGITALE PRODUKTE</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8</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So verkaufst du digitale Produkte auf Shopify</a:t>
            </a:r>
            <a:endParaRPr lang="en-US" sz="3300" dirty="0"/>
          </a:p>
        </p:txBody>
      </p:sp>
      <p:sp>
        <p:nvSpPr>
          <p:cNvPr id="7" name="Text 5"/>
          <p:cNvSpPr/>
          <p:nvPr/>
        </p:nvSpPr>
        <p:spPr>
          <a:xfrm>
            <a:off x="502920" y="1764792"/>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24128" y="1691640"/>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App installieren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„Digital Downloads“ – die offizielle App von Shopify, gratis.</a:t>
            </a:r>
            <a:endParaRPr lang="en-US" sz="1350" dirty="0"/>
          </a:p>
        </p:txBody>
      </p:sp>
      <p:sp>
        <p:nvSpPr>
          <p:cNvPr id="9" name="Text 7"/>
          <p:cNvSpPr/>
          <p:nvPr/>
        </p:nvSpPr>
        <p:spPr>
          <a:xfrm>
            <a:off x="502920" y="2880360"/>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024128" y="2807208"/>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Datei hochladen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PDF, ZIP, MP3 oder Video einfach ans Produkt anhängen.</a:t>
            </a:r>
            <a:endParaRPr lang="en-US" sz="1350" dirty="0"/>
          </a:p>
        </p:txBody>
      </p:sp>
      <p:sp>
        <p:nvSpPr>
          <p:cNvPr id="11" name="Text 9"/>
          <p:cNvSpPr/>
          <p:nvPr/>
        </p:nvSpPr>
        <p:spPr>
          <a:xfrm>
            <a:off x="502920" y="3995928"/>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1024128" y="3922776"/>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Versand ausschalten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Haken setzen bei „kein physisches Produkt“ – nichts zu verschicken.</a:t>
            </a:r>
            <a:endParaRPr lang="en-US" sz="1350" dirty="0"/>
          </a:p>
        </p:txBody>
      </p:sp>
      <p:sp>
        <p:nvSpPr>
          <p:cNvPr id="13" name="Text 11"/>
          <p:cNvSpPr/>
          <p:nvPr/>
        </p:nvSpPr>
        <p:spPr>
          <a:xfrm>
            <a:off x="502920" y="5111496"/>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4</a:t>
            </a:r>
            <a:endParaRPr lang="en-US" sz="1200" dirty="0"/>
          </a:p>
        </p:txBody>
      </p:sp>
      <p:sp>
        <p:nvSpPr>
          <p:cNvPr id="14" name="Text 12"/>
          <p:cNvSpPr/>
          <p:nvPr/>
        </p:nvSpPr>
        <p:spPr>
          <a:xfrm>
            <a:off x="1024128" y="5038344"/>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Fertig – alles automatisch</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Kunde zahlt und erhält den Download-Link sofort per E-Mail.</a:t>
            </a:r>
            <a:endParaRPr lang="en-US" sz="1350" dirty="0"/>
          </a:p>
        </p:txBody>
      </p:sp>
      <p:sp>
        <p:nvSpPr>
          <p:cNvPr id="15" name="Text 13"/>
          <p:cNvSpPr/>
          <p:nvPr/>
        </p:nvSpPr>
        <p:spPr>
          <a:xfrm>
            <a:off x="6537960" y="1645920"/>
            <a:ext cx="5120640" cy="274320"/>
          </a:xfrm>
          <a:prstGeom prst="rect">
            <a:avLst/>
          </a:prstGeom>
          <a:noFill/>
          <a:ln/>
        </p:spPr>
        <p:txBody>
          <a:bodyPr wrap="square" lIns="0" tIns="0" rIns="0" bIns="0" rtlCol="0" anchor="ctr"/>
          <a:lstStyle/>
          <a:p>
            <a:pPr indent="0" marL="0">
              <a:buNone/>
            </a:pPr>
            <a:r>
              <a:rPr lang="en-US" sz="1200" b="1" dirty="0">
                <a:solidFill>
                  <a:srgbClr val="C7CBD4"/>
                </a:solidFill>
                <a:latin typeface="Arial" pitchFamily="34" charset="0"/>
                <a:ea typeface="Arial" pitchFamily="34" charset="-122"/>
                <a:cs typeface="Arial" pitchFamily="34" charset="-120"/>
              </a:rPr>
              <a:t>Was sich verkauft (typische Preise):</a:t>
            </a:r>
            <a:endParaRPr lang="en-US" sz="1200" dirty="0"/>
          </a:p>
        </p:txBody>
      </p:sp>
      <p:sp>
        <p:nvSpPr>
          <p:cNvPr id="16" name="Shape 14"/>
          <p:cNvSpPr/>
          <p:nvPr/>
        </p:nvSpPr>
        <p:spPr>
          <a:xfrm>
            <a:off x="6537960" y="2057400"/>
            <a:ext cx="2478024" cy="1371600"/>
          </a:xfrm>
          <a:prstGeom prst="roundRect">
            <a:avLst>
              <a:gd name="adj" fmla="val 6000"/>
            </a:avLst>
          </a:prstGeom>
          <a:solidFill>
            <a:srgbClr val="16181F"/>
          </a:solidFill>
          <a:ln w="9525">
            <a:solidFill>
              <a:srgbClr val="262933"/>
            </a:solidFill>
            <a:prstDash val="solid"/>
          </a:ln>
        </p:spPr>
      </p:sp>
      <p:sp>
        <p:nvSpPr>
          <p:cNvPr id="17" name="Text 15"/>
          <p:cNvSpPr/>
          <p:nvPr/>
        </p:nvSpPr>
        <p:spPr>
          <a:xfrm>
            <a:off x="6739128" y="2240280"/>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E-Books &amp; Guides</a:t>
            </a:r>
            <a:endParaRPr lang="en-US" sz="1200" dirty="0"/>
          </a:p>
        </p:txBody>
      </p:sp>
      <p:sp>
        <p:nvSpPr>
          <p:cNvPr id="18" name="Text 16"/>
          <p:cNvSpPr/>
          <p:nvPr/>
        </p:nvSpPr>
        <p:spPr>
          <a:xfrm>
            <a:off x="6739128" y="2990088"/>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9 – 49 €</a:t>
            </a:r>
            <a:endParaRPr lang="en-US" sz="1300" dirty="0"/>
          </a:p>
        </p:txBody>
      </p:sp>
      <p:sp>
        <p:nvSpPr>
          <p:cNvPr id="19" name="Shape 17"/>
          <p:cNvSpPr/>
          <p:nvPr/>
        </p:nvSpPr>
        <p:spPr>
          <a:xfrm>
            <a:off x="9180576" y="2057400"/>
            <a:ext cx="2478024" cy="1371600"/>
          </a:xfrm>
          <a:prstGeom prst="roundRect">
            <a:avLst>
              <a:gd name="adj" fmla="val 6000"/>
            </a:avLst>
          </a:prstGeom>
          <a:solidFill>
            <a:srgbClr val="16181F"/>
          </a:solidFill>
          <a:ln w="9525">
            <a:solidFill>
              <a:srgbClr val="262933"/>
            </a:solidFill>
            <a:prstDash val="solid"/>
          </a:ln>
        </p:spPr>
      </p:sp>
      <p:sp>
        <p:nvSpPr>
          <p:cNvPr id="20" name="Text 18"/>
          <p:cNvSpPr/>
          <p:nvPr/>
        </p:nvSpPr>
        <p:spPr>
          <a:xfrm>
            <a:off x="9381744" y="2240280"/>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Online-Kurse</a:t>
            </a:r>
            <a:endParaRPr lang="en-US" sz="1200" dirty="0"/>
          </a:p>
        </p:txBody>
      </p:sp>
      <p:sp>
        <p:nvSpPr>
          <p:cNvPr id="21" name="Text 19"/>
          <p:cNvSpPr/>
          <p:nvPr/>
        </p:nvSpPr>
        <p:spPr>
          <a:xfrm>
            <a:off x="9381744" y="2990088"/>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49 – 299 €</a:t>
            </a:r>
            <a:endParaRPr lang="en-US" sz="1300" dirty="0"/>
          </a:p>
        </p:txBody>
      </p:sp>
      <p:sp>
        <p:nvSpPr>
          <p:cNvPr id="22" name="Shape 20"/>
          <p:cNvSpPr/>
          <p:nvPr/>
        </p:nvSpPr>
        <p:spPr>
          <a:xfrm>
            <a:off x="6537960" y="3593592"/>
            <a:ext cx="2478024" cy="1371600"/>
          </a:xfrm>
          <a:prstGeom prst="roundRect">
            <a:avLst>
              <a:gd name="adj" fmla="val 6000"/>
            </a:avLst>
          </a:prstGeom>
          <a:solidFill>
            <a:srgbClr val="16181F"/>
          </a:solidFill>
          <a:ln w="9525">
            <a:solidFill>
              <a:srgbClr val="262933"/>
            </a:solidFill>
            <a:prstDash val="solid"/>
          </a:ln>
        </p:spPr>
      </p:sp>
      <p:sp>
        <p:nvSpPr>
          <p:cNvPr id="23" name="Text 21"/>
          <p:cNvSpPr/>
          <p:nvPr/>
        </p:nvSpPr>
        <p:spPr>
          <a:xfrm>
            <a:off x="6739128" y="3776472"/>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Templates (Canva, Notion, CV)</a:t>
            </a:r>
            <a:endParaRPr lang="en-US" sz="1200" dirty="0"/>
          </a:p>
        </p:txBody>
      </p:sp>
      <p:sp>
        <p:nvSpPr>
          <p:cNvPr id="24" name="Text 22"/>
          <p:cNvSpPr/>
          <p:nvPr/>
        </p:nvSpPr>
        <p:spPr>
          <a:xfrm>
            <a:off x="6739128" y="4526280"/>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29 – 149 €</a:t>
            </a:r>
            <a:endParaRPr lang="en-US" sz="1300" dirty="0"/>
          </a:p>
        </p:txBody>
      </p:sp>
      <p:sp>
        <p:nvSpPr>
          <p:cNvPr id="25" name="Shape 23"/>
          <p:cNvSpPr/>
          <p:nvPr/>
        </p:nvSpPr>
        <p:spPr>
          <a:xfrm>
            <a:off x="9180576" y="3593592"/>
            <a:ext cx="2478024" cy="1371600"/>
          </a:xfrm>
          <a:prstGeom prst="roundRect">
            <a:avLst>
              <a:gd name="adj" fmla="val 6000"/>
            </a:avLst>
          </a:prstGeom>
          <a:solidFill>
            <a:srgbClr val="16181F"/>
          </a:solidFill>
          <a:ln w="9525">
            <a:solidFill>
              <a:srgbClr val="262933"/>
            </a:solidFill>
            <a:prstDash val="solid"/>
          </a:ln>
        </p:spPr>
      </p:sp>
      <p:sp>
        <p:nvSpPr>
          <p:cNvPr id="26" name="Text 24"/>
          <p:cNvSpPr/>
          <p:nvPr/>
        </p:nvSpPr>
        <p:spPr>
          <a:xfrm>
            <a:off x="9381744" y="3776472"/>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Presets, Musik &amp; Fotos</a:t>
            </a:r>
            <a:endParaRPr lang="en-US" sz="1200" dirty="0"/>
          </a:p>
        </p:txBody>
      </p:sp>
      <p:sp>
        <p:nvSpPr>
          <p:cNvPr id="27" name="Text 25"/>
          <p:cNvSpPr/>
          <p:nvPr/>
        </p:nvSpPr>
        <p:spPr>
          <a:xfrm>
            <a:off x="9381744" y="4526280"/>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5 – 99 €</a:t>
            </a:r>
            <a:endParaRPr lang="en-US" sz="1300" dirty="0"/>
          </a:p>
        </p:txBody>
      </p:sp>
      <p:sp>
        <p:nvSpPr>
          <p:cNvPr id="28" name="Shape 26"/>
          <p:cNvSpPr/>
          <p:nvPr/>
        </p:nvSpPr>
        <p:spPr>
          <a:xfrm>
            <a:off x="6537960" y="5257800"/>
            <a:ext cx="5120640" cy="914400"/>
          </a:xfrm>
          <a:prstGeom prst="roundRect">
            <a:avLst>
              <a:gd name="adj" fmla="val 9000"/>
            </a:avLst>
          </a:prstGeom>
          <a:solidFill>
            <a:srgbClr val="1C1F28"/>
          </a:solidFill>
          <a:ln w="12700">
            <a:solidFill>
              <a:srgbClr val="5E8E3E"/>
            </a:solidFill>
            <a:prstDash val="solid"/>
          </a:ln>
        </p:spPr>
      </p:sp>
      <p:sp>
        <p:nvSpPr>
          <p:cNvPr id="29" name="Text 27"/>
          <p:cNvSpPr/>
          <p:nvPr/>
        </p:nvSpPr>
        <p:spPr>
          <a:xfrm>
            <a:off x="6766560" y="5349240"/>
            <a:ext cx="4663440" cy="731520"/>
          </a:xfrm>
          <a:prstGeom prst="rect">
            <a:avLst/>
          </a:prstGeom>
          <a:noFill/>
          <a:ln/>
        </p:spPr>
        <p:txBody>
          <a:bodyPr wrap="square" lIns="0" tIns="0" rIns="0" bIns="0" rtlCol="0" anchor="ctr"/>
          <a:lstStyle/>
          <a:p>
            <a:pPr indent="0" marL="0">
              <a:lnSpc>
                <a:spcPct val="115000"/>
              </a:lnSpc>
              <a:buNone/>
            </a:pPr>
            <a:r>
              <a:rPr lang="en-US" sz="1150" b="1" dirty="0">
                <a:solidFill>
                  <a:srgbClr val="95BF47"/>
                </a:solidFill>
                <a:latin typeface="Arial" pitchFamily="34" charset="0"/>
                <a:ea typeface="Arial" pitchFamily="34" charset="-122"/>
                <a:cs typeface="Arial" pitchFamily="34" charset="-120"/>
              </a:rPr>
              <a:t>Unsere Idee: </a:t>
            </a:r>
            <a:pPr indent="0" marL="0">
              <a:lnSpc>
                <a:spcPct val="115000"/>
              </a:lnSpc>
              <a:buNone/>
            </a:pPr>
            <a:r>
              <a:rPr lang="en-US" sz="1150" i="1" dirty="0">
                <a:solidFill>
                  <a:srgbClr val="C7CBD4"/>
                </a:solidFill>
                <a:latin typeface="Arial" pitchFamily="34" charset="0"/>
                <a:ea typeface="Arial" pitchFamily="34" charset="-122"/>
                <a:cs typeface="Arial" pitchFamily="34" charset="-120"/>
              </a:rPr>
              <a:t>eine Lernzusammenfassung als PDF für 5 € – jede:r von uns könnte damit morgen starten.</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4 · RECHENBEISPIEL</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9</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Rechenbeispiel: Ein E-Book, ein Monat</a:t>
            </a:r>
            <a:endParaRPr lang="en-US" sz="3300" dirty="0"/>
          </a:p>
        </p:txBody>
      </p:sp>
      <p:sp>
        <p:nvSpPr>
          <p:cNvPr id="7" name="Shape 5"/>
          <p:cNvSpPr/>
          <p:nvPr/>
        </p:nvSpPr>
        <p:spPr>
          <a:xfrm>
            <a:off x="502920" y="1645920"/>
            <a:ext cx="4846320" cy="4526280"/>
          </a:xfrm>
          <a:prstGeom prst="roundRect">
            <a:avLst>
              <a:gd name="adj" fmla="val 1818"/>
            </a:avLst>
          </a:prstGeom>
          <a:solidFill>
            <a:srgbClr val="1C1F28"/>
          </a:solidFill>
          <a:ln w="9525">
            <a:solidFill>
              <a:srgbClr val="262933"/>
            </a:solidFill>
            <a:prstDash val="solid"/>
          </a:ln>
        </p:spPr>
      </p:sp>
      <p:sp>
        <p:nvSpPr>
          <p:cNvPr id="8" name="Text 6"/>
          <p:cNvSpPr/>
          <p:nvPr/>
        </p:nvSpPr>
        <p:spPr>
          <a:xfrm>
            <a:off x="822960" y="1874520"/>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E-Book „Prüfungs-Guide“</a:t>
            </a:r>
            <a:endParaRPr lang="en-US" sz="1500" dirty="0"/>
          </a:p>
        </p:txBody>
      </p:sp>
      <p:sp>
        <p:nvSpPr>
          <p:cNvPr id="9" name="Text 7"/>
          <p:cNvSpPr/>
          <p:nvPr/>
        </p:nvSpPr>
        <p:spPr>
          <a:xfrm>
            <a:off x="822960" y="2240280"/>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19 € × 100 Verkäufe im Monat</a:t>
            </a:r>
            <a:endParaRPr lang="en-US" sz="1250" dirty="0"/>
          </a:p>
        </p:txBody>
      </p:sp>
      <p:sp>
        <p:nvSpPr>
          <p:cNvPr id="10" name="Text 8"/>
          <p:cNvSpPr/>
          <p:nvPr/>
        </p:nvSpPr>
        <p:spPr>
          <a:xfrm>
            <a:off x="822960" y="2606040"/>
            <a:ext cx="4206240" cy="502920"/>
          </a:xfrm>
          <a:prstGeom prst="rect">
            <a:avLst/>
          </a:prstGeom>
          <a:noFill/>
          <a:ln/>
        </p:spPr>
        <p:txBody>
          <a:bodyPr wrap="square" lIns="0" tIns="0" rIns="0" bIns="0" rtlCol="0" anchor="ctr"/>
          <a:lstStyle/>
          <a:p>
            <a:pPr indent="0" marL="0">
              <a:buNone/>
            </a:pPr>
            <a:r>
              <a:rPr lang="en-US" sz="2200" b="1" dirty="0">
                <a:solidFill>
                  <a:srgbClr val="C7CBD4"/>
                </a:solidFill>
                <a:latin typeface="Arial" pitchFamily="34" charset="0"/>
                <a:ea typeface="Arial" pitchFamily="34" charset="-122"/>
                <a:cs typeface="Arial" pitchFamily="34" charset="-120"/>
              </a:rPr>
              <a:t>= 1'900 € Umsatz</a:t>
            </a:r>
            <a:endParaRPr lang="en-US" sz="2200" dirty="0"/>
          </a:p>
        </p:txBody>
      </p:sp>
      <p:sp>
        <p:nvSpPr>
          <p:cNvPr id="11" name="Shape 9"/>
          <p:cNvSpPr/>
          <p:nvPr/>
        </p:nvSpPr>
        <p:spPr>
          <a:xfrm>
            <a:off x="822960" y="3246120"/>
            <a:ext cx="4206240" cy="0"/>
          </a:xfrm>
          <a:prstGeom prst="line">
            <a:avLst/>
          </a:prstGeom>
          <a:noFill/>
          <a:ln w="9525">
            <a:solidFill>
              <a:srgbClr val="262933"/>
            </a:solidFill>
            <a:prstDash val="solid"/>
          </a:ln>
        </p:spPr>
      </p:sp>
      <p:sp>
        <p:nvSpPr>
          <p:cNvPr id="12" name="Text 10"/>
          <p:cNvSpPr/>
          <p:nvPr/>
        </p:nvSpPr>
        <p:spPr>
          <a:xfrm>
            <a:off x="822960" y="3383280"/>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   36 €  Shopify Basic</a:t>
            </a:r>
            <a:endParaRPr lang="en-US" sz="1250" dirty="0"/>
          </a:p>
        </p:txBody>
      </p:sp>
      <p:sp>
        <p:nvSpPr>
          <p:cNvPr id="13" name="Text 11"/>
          <p:cNvSpPr/>
          <p:nvPr/>
        </p:nvSpPr>
        <p:spPr>
          <a:xfrm>
            <a:off x="822960" y="3730752"/>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   85 €  Zahlungsgebühren (2,9 % + 0,30 €)</a:t>
            </a:r>
            <a:endParaRPr lang="en-US" sz="1250" dirty="0"/>
          </a:p>
        </p:txBody>
      </p:sp>
      <p:sp>
        <p:nvSpPr>
          <p:cNvPr id="14" name="Shape 12"/>
          <p:cNvSpPr/>
          <p:nvPr/>
        </p:nvSpPr>
        <p:spPr>
          <a:xfrm>
            <a:off x="822960" y="4206240"/>
            <a:ext cx="4206240" cy="0"/>
          </a:xfrm>
          <a:prstGeom prst="line">
            <a:avLst/>
          </a:prstGeom>
          <a:noFill/>
          <a:ln w="9525">
            <a:solidFill>
              <a:srgbClr val="262933"/>
            </a:solidFill>
            <a:prstDash val="solid"/>
          </a:ln>
        </p:spPr>
      </p:sp>
      <p:sp>
        <p:nvSpPr>
          <p:cNvPr id="15" name="Text 13"/>
          <p:cNvSpPr/>
          <p:nvPr/>
        </p:nvSpPr>
        <p:spPr>
          <a:xfrm>
            <a:off x="822960" y="4343400"/>
            <a:ext cx="4206240" cy="548640"/>
          </a:xfrm>
          <a:prstGeom prst="rect">
            <a:avLst/>
          </a:prstGeom>
          <a:noFill/>
          <a:ln/>
        </p:spPr>
        <p:txBody>
          <a:bodyPr wrap="square" lIns="0" tIns="0" rIns="0" bIns="0" rtlCol="0" anchor="ctr"/>
          <a:lstStyle/>
          <a:p>
            <a:pPr indent="0" marL="0">
              <a:buNone/>
            </a:pPr>
            <a:r>
              <a:rPr lang="en-US" sz="2100" b="1" dirty="0">
                <a:solidFill>
                  <a:srgbClr val="95BF47"/>
                </a:solidFill>
                <a:latin typeface="Arial" pitchFamily="34" charset="0"/>
                <a:ea typeface="Arial" pitchFamily="34" charset="-122"/>
                <a:cs typeface="Arial" pitchFamily="34" charset="-120"/>
              </a:rPr>
              <a:t>≈ 1'779 € Gewinn / Monat</a:t>
            </a:r>
            <a:endParaRPr lang="en-US" sz="2100" dirty="0"/>
          </a:p>
        </p:txBody>
      </p:sp>
      <p:sp>
        <p:nvSpPr>
          <p:cNvPr id="16" name="Text 14"/>
          <p:cNvSpPr/>
          <p:nvPr/>
        </p:nvSpPr>
        <p:spPr>
          <a:xfrm>
            <a:off x="822960" y="5029200"/>
            <a:ext cx="4206240" cy="822960"/>
          </a:xfrm>
          <a:prstGeom prst="rect">
            <a:avLst/>
          </a:prstGeom>
          <a:noFill/>
          <a:ln/>
        </p:spPr>
        <p:txBody>
          <a:bodyPr wrap="square" lIns="0" tIns="0" rIns="0" bIns="0" rtlCol="0" anchor="ctr"/>
          <a:lstStyle/>
          <a:p>
            <a:pPr indent="0" marL="0">
              <a:lnSpc>
                <a:spcPct val="120000"/>
              </a:lnSpc>
              <a:buNone/>
            </a:pPr>
            <a:r>
              <a:rPr lang="en-US" sz="1100" i="1" dirty="0">
                <a:solidFill>
                  <a:srgbClr val="9AA0AC"/>
                </a:solidFill>
                <a:latin typeface="Arial" pitchFamily="34" charset="0"/>
                <a:ea typeface="Arial" pitchFamily="34" charset="-122"/>
                <a:cs typeface="Arial" pitchFamily="34" charset="-120"/>
              </a:rPr>
              <a:t>Bei 1'000 Verkäufen: ≈ 17'800 € – der Aufwand bleibt gleich.</a:t>
            </a:r>
            <a:endParaRPr lang="en-US" sz="1100" dirty="0"/>
          </a:p>
        </p:txBody>
      </p:sp>
      <p:graphicFrame>
        <p:nvGraphicFramePr>
          <p:cNvPr id="17" name="Chart 0" descr=""/>
          <p:cNvGraphicFramePr/>
          <p:nvPr/>
        </p:nvGraphicFramePr>
        <p:xfrm>
          <a:off x="5806440" y="173736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806440" y="5989320"/>
            <a:ext cx="5852160" cy="274320"/>
          </a:xfrm>
          <a:prstGeom prst="rect">
            <a:avLst/>
          </a:prstGeom>
          <a:noFill/>
          <a:ln/>
        </p:spPr>
        <p:txBody>
          <a:bodyPr wrap="square" lIns="0" tIns="0" rIns="0" bIns="0" rtlCol="0" anchor="ctr"/>
          <a:lstStyle/>
          <a:p>
            <a:pPr algn="ctr" indent="0" marL="0">
              <a:buNone/>
            </a:pPr>
            <a:r>
              <a:rPr lang="en-US" sz="1000" dirty="0">
                <a:solidFill>
                  <a:srgbClr val="5A5F6B"/>
                </a:solidFill>
                <a:latin typeface="Arial" pitchFamily="34" charset="0"/>
                <a:ea typeface="Arial" pitchFamily="34" charset="-122"/>
                <a:cs typeface="Arial" pitchFamily="34" charset="-120"/>
              </a:rPr>
              <a:t>Umsatz vs. Kosten vs. Gewinn – ein Produkt, ein Monat</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4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5 · EHRLICH BETRACHTET</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10</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Vorteile &amp; Nachteile</a:t>
            </a:r>
            <a:endParaRPr lang="en-US" sz="3300" dirty="0"/>
          </a:p>
        </p:txBody>
      </p:sp>
      <p:sp>
        <p:nvSpPr>
          <p:cNvPr id="7" name="Shape 5"/>
          <p:cNvSpPr/>
          <p:nvPr/>
        </p:nvSpPr>
        <p:spPr>
          <a:xfrm>
            <a:off x="502920" y="1645920"/>
            <a:ext cx="5486400" cy="4572000"/>
          </a:xfrm>
          <a:prstGeom prst="roundRect">
            <a:avLst>
              <a:gd name="adj" fmla="val 1800"/>
            </a:avLst>
          </a:prstGeom>
          <a:solidFill>
            <a:srgbClr val="16181F"/>
          </a:solidFill>
          <a:ln w="9525">
            <a:solidFill>
              <a:srgbClr val="262933"/>
            </a:solidFill>
            <a:prstDash val="solid"/>
          </a:ln>
        </p:spPr>
      </p:sp>
      <p:sp>
        <p:nvSpPr>
          <p:cNvPr id="8" name="Shape 6"/>
          <p:cNvSpPr/>
          <p:nvPr/>
        </p:nvSpPr>
        <p:spPr>
          <a:xfrm>
            <a:off x="822960" y="1947672"/>
            <a:ext cx="164592" cy="164592"/>
          </a:xfrm>
          <a:prstGeom prst="ellipse">
            <a:avLst/>
          </a:prstGeom>
          <a:solidFill>
            <a:srgbClr val="95BF47"/>
          </a:solidFill>
          <a:ln/>
        </p:spPr>
      </p:sp>
      <p:sp>
        <p:nvSpPr>
          <p:cNvPr id="9" name="Text 7"/>
          <p:cNvSpPr/>
          <p:nvPr/>
        </p:nvSpPr>
        <p:spPr>
          <a:xfrm>
            <a:off x="1124712" y="1828800"/>
            <a:ext cx="4572000" cy="41148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Das spricht dafür</a:t>
            </a:r>
            <a:endParaRPr lang="en-US" sz="1550" dirty="0"/>
          </a:p>
        </p:txBody>
      </p:sp>
      <p:sp>
        <p:nvSpPr>
          <p:cNvPr id="10" name="Text 8"/>
          <p:cNvSpPr/>
          <p:nvPr/>
        </p:nvSpPr>
        <p:spPr>
          <a:xfrm>
            <a:off x="1124712" y="24231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Start in einem Tag</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Ohne Programmieren, ohne Vorwissen.</a:t>
            </a:r>
            <a:endParaRPr lang="en-US" sz="1250" dirty="0"/>
          </a:p>
        </p:txBody>
      </p:sp>
      <p:sp>
        <p:nvSpPr>
          <p:cNvPr id="11" name="Text 9"/>
          <p:cNvSpPr/>
          <p:nvPr/>
        </p:nvSpPr>
        <p:spPr>
          <a:xfrm>
            <a:off x="1124712" y="33375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Alles aus einer Hand</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Hosting, Kasse, Zahlungen, Versand – inklusive.</a:t>
            </a:r>
            <a:endParaRPr lang="en-US" sz="1250" dirty="0"/>
          </a:p>
        </p:txBody>
      </p:sp>
      <p:sp>
        <p:nvSpPr>
          <p:cNvPr id="12" name="Text 10"/>
          <p:cNvSpPr/>
          <p:nvPr/>
        </p:nvSpPr>
        <p:spPr>
          <a:xfrm>
            <a:off x="1124712" y="42519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Wächst mit</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Vom Hobby-Shop bis zur Weltmarke wie Gymshark.</a:t>
            </a:r>
            <a:endParaRPr lang="en-US" sz="1250" dirty="0"/>
          </a:p>
        </p:txBody>
      </p:sp>
      <p:sp>
        <p:nvSpPr>
          <p:cNvPr id="13" name="Text 11"/>
          <p:cNvSpPr/>
          <p:nvPr/>
        </p:nvSpPr>
        <p:spPr>
          <a:xfrm>
            <a:off x="1124712" y="51663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Tausende Apps</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Für jede Zusatzfunktion gibt es eine App.</a:t>
            </a:r>
            <a:endParaRPr lang="en-US" sz="1250" dirty="0"/>
          </a:p>
        </p:txBody>
      </p:sp>
      <p:sp>
        <p:nvSpPr>
          <p:cNvPr id="14" name="Shape 12"/>
          <p:cNvSpPr/>
          <p:nvPr/>
        </p:nvSpPr>
        <p:spPr>
          <a:xfrm>
            <a:off x="6199632" y="1645920"/>
            <a:ext cx="5486400" cy="4572000"/>
          </a:xfrm>
          <a:prstGeom prst="roundRect">
            <a:avLst>
              <a:gd name="adj" fmla="val 1800"/>
            </a:avLst>
          </a:prstGeom>
          <a:solidFill>
            <a:srgbClr val="16181F"/>
          </a:solidFill>
          <a:ln w="9525">
            <a:solidFill>
              <a:srgbClr val="262933"/>
            </a:solidFill>
            <a:prstDash val="solid"/>
          </a:ln>
        </p:spPr>
      </p:sp>
      <p:sp>
        <p:nvSpPr>
          <p:cNvPr id="15" name="Shape 13"/>
          <p:cNvSpPr/>
          <p:nvPr/>
        </p:nvSpPr>
        <p:spPr>
          <a:xfrm>
            <a:off x="6519672" y="1947672"/>
            <a:ext cx="164592" cy="164592"/>
          </a:xfrm>
          <a:prstGeom prst="ellipse">
            <a:avLst/>
          </a:prstGeom>
          <a:solidFill>
            <a:srgbClr val="D96A62"/>
          </a:solidFill>
          <a:ln/>
        </p:spPr>
      </p:sp>
      <p:sp>
        <p:nvSpPr>
          <p:cNvPr id="16" name="Text 14"/>
          <p:cNvSpPr/>
          <p:nvPr/>
        </p:nvSpPr>
        <p:spPr>
          <a:xfrm>
            <a:off x="6821424" y="1828800"/>
            <a:ext cx="4572000" cy="41148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Das muss man wissen</a:t>
            </a:r>
            <a:endParaRPr lang="en-US" sz="1550" dirty="0"/>
          </a:p>
        </p:txBody>
      </p:sp>
      <p:sp>
        <p:nvSpPr>
          <p:cNvPr id="17" name="Text 15"/>
          <p:cNvSpPr/>
          <p:nvPr/>
        </p:nvSpPr>
        <p:spPr>
          <a:xfrm>
            <a:off x="6821424" y="24231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Monatliche Fixkosten</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Laufen weiter – auch wenn man nichts verkauft.</a:t>
            </a:r>
            <a:endParaRPr lang="en-US" sz="1250" dirty="0"/>
          </a:p>
        </p:txBody>
      </p:sp>
      <p:sp>
        <p:nvSpPr>
          <p:cNvPr id="18" name="Text 16"/>
          <p:cNvSpPr/>
          <p:nvPr/>
        </p:nvSpPr>
        <p:spPr>
          <a:xfrm>
            <a:off x="6821424" y="33375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Gebühren pro Verkauf</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Bei jedem Verkauf geht ein kleiner Teil weg.</a:t>
            </a:r>
            <a:endParaRPr lang="en-US" sz="1250" dirty="0"/>
          </a:p>
        </p:txBody>
      </p:sp>
      <p:sp>
        <p:nvSpPr>
          <p:cNvPr id="19" name="Text 17"/>
          <p:cNvSpPr/>
          <p:nvPr/>
        </p:nvSpPr>
        <p:spPr>
          <a:xfrm>
            <a:off x="6821424" y="42519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Marketing ist Pflicht</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Ohne TikTok, Instagram oder Google kommt niemand vorbei.</a:t>
            </a:r>
            <a:endParaRPr lang="en-US" sz="1250" dirty="0"/>
          </a:p>
        </p:txBody>
      </p:sp>
      <p:sp>
        <p:nvSpPr>
          <p:cNvPr id="20" name="Text 18"/>
          <p:cNvSpPr/>
          <p:nvPr/>
        </p:nvSpPr>
        <p:spPr>
          <a:xfrm>
            <a:off x="6821424" y="5166360"/>
            <a:ext cx="4572000" cy="86868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Arial" pitchFamily="34" charset="0"/>
                <a:ea typeface="Arial" pitchFamily="34" charset="-122"/>
                <a:cs typeface="Arial" pitchFamily="34" charset="-120"/>
              </a:rPr>
              <a:t>Design-Grenzen</a:t>
            </a:r>
            <a:endParaRPr lang="en-US" sz="1250" dirty="0"/>
          </a:p>
          <a:p>
            <a:pPr indent="0" marL="0">
              <a:lnSpc>
                <a:spcPct val="112000"/>
              </a:lnSpc>
              <a:buNone/>
            </a:pPr>
            <a:r>
              <a:rPr lang="en-US" sz="1050" dirty="0">
                <a:solidFill>
                  <a:srgbClr val="9AA0AC"/>
                </a:solidFill>
                <a:latin typeface="Arial" pitchFamily="34" charset="0"/>
                <a:ea typeface="Arial" pitchFamily="34" charset="-122"/>
                <a:cs typeface="Arial" pitchFamily="34" charset="-120"/>
              </a:rPr>
              <a:t>Ohne Code-Kenntnisse ist irgendwann Schluss.</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5 · FAZIT</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11</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Das nehmen wir mit</a:t>
            </a:r>
            <a:endParaRPr lang="en-US" sz="3300" dirty="0"/>
          </a:p>
        </p:txBody>
      </p:sp>
      <p:sp>
        <p:nvSpPr>
          <p:cNvPr id="7" name="Shape 5"/>
          <p:cNvSpPr/>
          <p:nvPr/>
        </p:nvSpPr>
        <p:spPr>
          <a:xfrm>
            <a:off x="502920" y="1737360"/>
            <a:ext cx="3602736" cy="2148840"/>
          </a:xfrm>
          <a:prstGeom prst="roundRect">
            <a:avLst>
              <a:gd name="adj" fmla="val 3830"/>
            </a:avLst>
          </a:prstGeom>
          <a:solidFill>
            <a:srgbClr val="16181F"/>
          </a:solidFill>
          <a:ln w="9525">
            <a:solidFill>
              <a:srgbClr val="262933"/>
            </a:solidFill>
            <a:prstDash val="solid"/>
          </a:ln>
        </p:spPr>
      </p:sp>
      <p:sp>
        <p:nvSpPr>
          <p:cNvPr id="8" name="Text 6"/>
          <p:cNvSpPr/>
          <p:nvPr/>
        </p:nvSpPr>
        <p:spPr>
          <a:xfrm>
            <a:off x="777240"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777240"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E-Commerce ist zugänglich</a:t>
            </a:r>
            <a:endParaRPr lang="en-US" sz="1450" dirty="0"/>
          </a:p>
        </p:txBody>
      </p:sp>
      <p:sp>
        <p:nvSpPr>
          <p:cNvPr id="10" name="Text 8"/>
          <p:cNvSpPr/>
          <p:nvPr/>
        </p:nvSpPr>
        <p:spPr>
          <a:xfrm>
            <a:off x="777240"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Einen Shop starten kann heute jede:r von uns – noch diese Woche.</a:t>
            </a:r>
            <a:endParaRPr lang="en-US" sz="1100" dirty="0"/>
          </a:p>
        </p:txBody>
      </p:sp>
      <p:sp>
        <p:nvSpPr>
          <p:cNvPr id="11" name="Shape 9"/>
          <p:cNvSpPr/>
          <p:nvPr/>
        </p:nvSpPr>
        <p:spPr>
          <a:xfrm>
            <a:off x="4293108" y="1737360"/>
            <a:ext cx="3602736" cy="2148840"/>
          </a:xfrm>
          <a:prstGeom prst="roundRect">
            <a:avLst>
              <a:gd name="adj" fmla="val 3830"/>
            </a:avLst>
          </a:prstGeom>
          <a:solidFill>
            <a:srgbClr val="16181F"/>
          </a:solidFill>
          <a:ln w="9525">
            <a:solidFill>
              <a:srgbClr val="262933"/>
            </a:solidFill>
            <a:prstDash val="solid"/>
          </a:ln>
        </p:spPr>
      </p:sp>
      <p:sp>
        <p:nvSpPr>
          <p:cNvPr id="12" name="Text 10"/>
          <p:cNvSpPr/>
          <p:nvPr/>
        </p:nvSpPr>
        <p:spPr>
          <a:xfrm>
            <a:off x="4567428"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4567428"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Digitale Produkte = kleinstes Risiko</a:t>
            </a:r>
            <a:endParaRPr lang="en-US" sz="1450" dirty="0"/>
          </a:p>
        </p:txBody>
      </p:sp>
      <p:sp>
        <p:nvSpPr>
          <p:cNvPr id="14" name="Text 12"/>
          <p:cNvSpPr/>
          <p:nvPr/>
        </p:nvSpPr>
        <p:spPr>
          <a:xfrm>
            <a:off x="4567428"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Kein Lager, kein Versand, fast keine Kosten – ideal zum Anfangen.</a:t>
            </a:r>
            <a:endParaRPr lang="en-US" sz="1100" dirty="0"/>
          </a:p>
        </p:txBody>
      </p:sp>
      <p:sp>
        <p:nvSpPr>
          <p:cNvPr id="15" name="Shape 13"/>
          <p:cNvSpPr/>
          <p:nvPr/>
        </p:nvSpPr>
        <p:spPr>
          <a:xfrm>
            <a:off x="8083296" y="1737360"/>
            <a:ext cx="3602736" cy="2148840"/>
          </a:xfrm>
          <a:prstGeom prst="roundRect">
            <a:avLst>
              <a:gd name="adj" fmla="val 3830"/>
            </a:avLst>
          </a:prstGeom>
          <a:solidFill>
            <a:srgbClr val="16181F"/>
          </a:solidFill>
          <a:ln w="9525">
            <a:solidFill>
              <a:srgbClr val="262933"/>
            </a:solidFill>
            <a:prstDash val="solid"/>
          </a:ln>
        </p:spPr>
      </p:sp>
      <p:sp>
        <p:nvSpPr>
          <p:cNvPr id="16" name="Text 14"/>
          <p:cNvSpPr/>
          <p:nvPr/>
        </p:nvSpPr>
        <p:spPr>
          <a:xfrm>
            <a:off x="8357616"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357616"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Der Shop ist der einfache Teil</a:t>
            </a:r>
            <a:endParaRPr lang="en-US" sz="1450" dirty="0"/>
          </a:p>
        </p:txBody>
      </p:sp>
      <p:sp>
        <p:nvSpPr>
          <p:cNvPr id="18" name="Text 16"/>
          <p:cNvSpPr/>
          <p:nvPr/>
        </p:nvSpPr>
        <p:spPr>
          <a:xfrm>
            <a:off x="8357616"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Über den Erfolg entscheidet am Ende das Marketing.</a:t>
            </a:r>
            <a:endParaRPr lang="en-US" sz="1100" dirty="0"/>
          </a:p>
        </p:txBody>
      </p:sp>
      <p:sp>
        <p:nvSpPr>
          <p:cNvPr id="19" name="Text 17"/>
          <p:cNvSpPr/>
          <p:nvPr/>
        </p:nvSpPr>
        <p:spPr>
          <a:xfrm>
            <a:off x="1069848" y="4434840"/>
            <a:ext cx="10058400" cy="1280160"/>
          </a:xfrm>
          <a:prstGeom prst="rect">
            <a:avLst/>
          </a:prstGeom>
          <a:noFill/>
          <a:ln/>
        </p:spPr>
        <p:txBody>
          <a:bodyPr wrap="square" lIns="0" tIns="0" rIns="0" bIns="0" rtlCol="0" anchor="ctr"/>
          <a:lstStyle/>
          <a:p>
            <a:pPr algn="ctr" indent="0" marL="0">
              <a:lnSpc>
                <a:spcPct val="130000"/>
              </a:lnSpc>
              <a:buNone/>
            </a:pPr>
            <a:r>
              <a:rPr lang="en-US" sz="1900" i="1" dirty="0">
                <a:solidFill>
                  <a:srgbClr val="C7CBD4"/>
                </a:solidFill>
                <a:latin typeface="Arial" pitchFamily="34" charset="0"/>
                <a:ea typeface="Arial" pitchFamily="34" charset="-122"/>
                <a:cs typeface="Arial" pitchFamily="34" charset="-120"/>
              </a:rPr>
              <a:t>„Man braucht kein Ladenlokal mehr, um ein Geschäft zu starten –</a:t>
            </a:r>
            <a:endParaRPr lang="en-US" sz="1900" dirty="0"/>
          </a:p>
          <a:p>
            <a:pPr algn="ctr" indent="0" marL="0">
              <a:lnSpc>
                <a:spcPct val="130000"/>
              </a:lnSpc>
              <a:buNone/>
            </a:pPr>
            <a:r>
              <a:rPr lang="en-US" sz="1900" i="1" dirty="0">
                <a:solidFill>
                  <a:srgbClr val="C7CBD4"/>
                </a:solidFill>
                <a:latin typeface="Arial" pitchFamily="34" charset="0"/>
                <a:ea typeface="Arial" pitchFamily="34" charset="-122"/>
                <a:cs typeface="Arial" pitchFamily="34" charset="-120"/>
              </a:rPr>
              <a:t>nur eine gute Idee und ein Handy.“</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E12"/>
        </a:solidFill>
      </p:bgPr>
    </p:bg>
    <p:spTree>
      <p:nvGrpSpPr>
        <p:cNvPr id="1" name=""/>
        <p:cNvGrpSpPr/>
        <p:nvPr/>
      </p:nvGrpSpPr>
      <p:grpSpPr>
        <a:xfrm>
          <a:off x="0" y="0"/>
          <a:ext cx="0" cy="0"/>
          <a:chOff x="0" y="0"/>
          <a:chExt cx="0" cy="0"/>
        </a:xfrm>
      </p:grpSpPr>
      <p:sp>
        <p:nvSpPr>
          <p:cNvPr id="2" name="Text 0"/>
          <p:cNvSpPr/>
          <p:nvPr/>
        </p:nvSpPr>
        <p:spPr>
          <a:xfrm>
            <a:off x="5779008" y="1417320"/>
            <a:ext cx="640080" cy="640080"/>
          </a:xfrm>
          <a:prstGeom prst="roundRect">
            <a:avLst>
              <a:gd name="adj" fmla="val 18571"/>
            </a:avLst>
          </a:prstGeom>
          <a:solidFill>
            <a:srgbClr val="95BF47"/>
          </a:solidFill>
          <a:ln/>
        </p:spPr>
        <p:txBody>
          <a:bodyPr wrap="square" lIns="0" tIns="0" rIns="0" bIns="0" rtlCol="0" anchor="ctr"/>
          <a:lstStyle/>
          <a:p>
            <a:pPr algn="ctr" indent="0" marL="0">
              <a:buNone/>
            </a:pPr>
            <a:r>
              <a:rPr lang="en-US" sz="3000" b="1" dirty="0">
                <a:solidFill>
                  <a:srgbClr val="0D0E12"/>
                </a:solidFill>
                <a:latin typeface="Arial" pitchFamily="34" charset="0"/>
                <a:ea typeface="Arial" pitchFamily="34" charset="-122"/>
                <a:cs typeface="Arial" pitchFamily="34" charset="-120"/>
              </a:rPr>
              <a:t>S</a:t>
            </a:r>
            <a:endParaRPr lang="en-US" sz="3000" dirty="0"/>
          </a:p>
        </p:txBody>
      </p:sp>
      <p:sp>
        <p:nvSpPr>
          <p:cNvPr id="3" name="Text 1"/>
          <p:cNvSpPr/>
          <p:nvPr/>
        </p:nvSpPr>
        <p:spPr>
          <a:xfrm>
            <a:off x="1984248" y="2331720"/>
            <a:ext cx="822960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Danke!</a:t>
            </a:r>
            <a:endParaRPr lang="en-US" sz="6000" dirty="0"/>
          </a:p>
        </p:txBody>
      </p:sp>
      <p:sp>
        <p:nvSpPr>
          <p:cNvPr id="4" name="Text 2"/>
          <p:cNvSpPr/>
          <p:nvPr/>
        </p:nvSpPr>
        <p:spPr>
          <a:xfrm>
            <a:off x="1984248" y="3566160"/>
            <a:ext cx="8229600" cy="548640"/>
          </a:xfrm>
          <a:prstGeom prst="rect">
            <a:avLst/>
          </a:prstGeom>
          <a:noFill/>
          <a:ln/>
        </p:spPr>
        <p:txBody>
          <a:bodyPr wrap="square" lIns="0" tIns="0" rIns="0" bIns="0" rtlCol="0" anchor="ctr"/>
          <a:lstStyle/>
          <a:p>
            <a:pPr algn="ctr" indent="0" marL="0">
              <a:buNone/>
            </a:pPr>
            <a:r>
              <a:rPr lang="en-US" sz="2600" b="1" dirty="0">
                <a:solidFill>
                  <a:srgbClr val="95BF47"/>
                </a:solidFill>
                <a:latin typeface="Arial" pitchFamily="34" charset="0"/>
                <a:ea typeface="Arial" pitchFamily="34" charset="-122"/>
                <a:cs typeface="Arial" pitchFamily="34" charset="-120"/>
              </a:rPr>
              <a:t>Fragen?</a:t>
            </a:r>
            <a:endParaRPr lang="en-US" sz="2600" dirty="0"/>
          </a:p>
        </p:txBody>
      </p:sp>
      <p:sp>
        <p:nvSpPr>
          <p:cNvPr id="5" name="Text 3"/>
          <p:cNvSpPr/>
          <p:nvPr/>
        </p:nvSpPr>
        <p:spPr>
          <a:xfrm>
            <a:off x="1069848" y="5760720"/>
            <a:ext cx="10058400" cy="548640"/>
          </a:xfrm>
          <a:prstGeom prst="rect">
            <a:avLst/>
          </a:prstGeom>
          <a:noFill/>
          <a:ln/>
        </p:spPr>
        <p:txBody>
          <a:bodyPr wrap="square" lIns="0" tIns="0" rIns="0" bIns="0" rtlCol="0" anchor="ctr"/>
          <a:lstStyle/>
          <a:p>
            <a:pPr algn="ctr" indent="0" marL="0">
              <a:lnSpc>
                <a:spcPct val="130000"/>
              </a:lnSpc>
              <a:buNone/>
            </a:pPr>
            <a:r>
              <a:rPr lang="en-US" sz="850" dirty="0">
                <a:solidFill>
                  <a:srgbClr val="5A5F6B"/>
                </a:solidFill>
                <a:latin typeface="Arial" pitchFamily="34" charset="0"/>
                <a:ea typeface="Arial" pitchFamily="34" charset="-122"/>
                <a:cs typeface="Arial" pitchFamily="34" charset="-120"/>
              </a:rPr>
              <a:t>Quellen: shopify.com · Shopify Investor Report Q2 2026 · shopify.com/blog/digital-products ·</a:t>
            </a:r>
            <a:endParaRPr lang="en-US" sz="850" dirty="0"/>
          </a:p>
          <a:p>
            <a:pPr algn="ctr" indent="0" marL="0">
              <a:lnSpc>
                <a:spcPct val="130000"/>
              </a:lnSpc>
              <a:buNone/>
            </a:pPr>
            <a:r>
              <a:rPr lang="en-US" sz="850" dirty="0">
                <a:solidFill>
                  <a:srgbClr val="5A5F6B"/>
                </a:solidFill>
                <a:latin typeface="Arial" pitchFamily="34" charset="0"/>
                <a:ea typeface="Arial" pitchFamily="34" charset="-122"/>
                <a:cs typeface="Arial" pitchFamily="34" charset="-120"/>
              </a:rPr>
              <a:t>kosten.org &amp; we-site.de (Shopify-Preise 2026) · chargeflow.io (Shopify-Statistiken)</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00"/>
                                        <p:tgtEl>
                                          <p:spTgt spid="2"/>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00"/>
                                        <p:tgtEl>
                                          <p:spTgt spid="4"/>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2026-08-24T12:37:39Z</dcterms:created>
  <dcterms:modified xsi:type="dcterms:W3CDTF">2026-08-24T12:37:39Z</dcterms:modified>
</cp:coreProperties>
</file>